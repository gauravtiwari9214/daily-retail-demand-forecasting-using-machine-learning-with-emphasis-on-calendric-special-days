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rav Tiwari" userId="02929ec7b81f6f79" providerId="LiveId" clId="{9CAB70AC-525F-4BFA-A704-D598D84A4E06}"/>
    <pc:docChg chg="undo redo custSel modSld">
      <pc:chgData name="Gaurav Tiwari" userId="02929ec7b81f6f79" providerId="LiveId" clId="{9CAB70AC-525F-4BFA-A704-D598D84A4E06}" dt="2026-04-12T08:20:49.346" v="124" actId="1076"/>
      <pc:docMkLst>
        <pc:docMk/>
      </pc:docMkLst>
      <pc:sldChg chg="modSp mod">
        <pc:chgData name="Gaurav Tiwari" userId="02929ec7b81f6f79" providerId="LiveId" clId="{9CAB70AC-525F-4BFA-A704-D598D84A4E06}" dt="2026-04-11T04:04:37.516" v="67" actId="1036"/>
        <pc:sldMkLst>
          <pc:docMk/>
          <pc:sldMk cId="0" sldId="258"/>
        </pc:sldMkLst>
        <pc:spChg chg="mod">
          <ac:chgData name="Gaurav Tiwari" userId="02929ec7b81f6f79" providerId="LiveId" clId="{9CAB70AC-525F-4BFA-A704-D598D84A4E06}" dt="2026-04-11T04:04:09.965" v="54" actId="1076"/>
          <ac:spMkLst>
            <pc:docMk/>
            <pc:sldMk cId="0" sldId="258"/>
            <ac:spMk id="29" creationId="{00000000-0000-0000-0000-000000000000}"/>
          </ac:spMkLst>
        </pc:spChg>
        <pc:spChg chg="mod">
          <ac:chgData name="Gaurav Tiwari" userId="02929ec7b81f6f79" providerId="LiveId" clId="{9CAB70AC-525F-4BFA-A704-D598D84A4E06}" dt="2026-04-11T04:04:37.516" v="67" actId="1036"/>
          <ac:spMkLst>
            <pc:docMk/>
            <pc:sldMk cId="0" sldId="258"/>
            <ac:spMk id="33" creationId="{00000000-0000-0000-0000-000000000000}"/>
          </ac:spMkLst>
        </pc:spChg>
        <pc:spChg chg="mod">
          <ac:chgData name="Gaurav Tiwari" userId="02929ec7b81f6f79" providerId="LiveId" clId="{9CAB70AC-525F-4BFA-A704-D598D84A4E06}" dt="2026-04-11T04:04:27.946" v="59" actId="1076"/>
          <ac:spMkLst>
            <pc:docMk/>
            <pc:sldMk cId="0" sldId="258"/>
            <ac:spMk id="34" creationId="{00000000-0000-0000-0000-000000000000}"/>
          </ac:spMkLst>
        </pc:spChg>
      </pc:sldChg>
      <pc:sldChg chg="modSp mod">
        <pc:chgData name="Gaurav Tiwari" userId="02929ec7b81f6f79" providerId="LiveId" clId="{9CAB70AC-525F-4BFA-A704-D598D84A4E06}" dt="2026-04-11T04:06:21.070" v="87" actId="207"/>
        <pc:sldMkLst>
          <pc:docMk/>
          <pc:sldMk cId="0" sldId="259"/>
        </pc:sldMkLst>
        <pc:spChg chg="mod">
          <ac:chgData name="Gaurav Tiwari" userId="02929ec7b81f6f79" providerId="LiveId" clId="{9CAB70AC-525F-4BFA-A704-D598D84A4E06}" dt="2026-04-11T04:04:59.070" v="70" actId="20577"/>
          <ac:spMkLst>
            <pc:docMk/>
            <pc:sldMk cId="0" sldId="259"/>
            <ac:spMk id="8" creationId="{00000000-0000-0000-0000-000000000000}"/>
          </ac:spMkLst>
        </pc:spChg>
        <pc:spChg chg="mod">
          <ac:chgData name="Gaurav Tiwari" userId="02929ec7b81f6f79" providerId="LiveId" clId="{9CAB70AC-525F-4BFA-A704-D598D84A4E06}" dt="2026-04-11T04:05:24.381" v="74" actId="255"/>
          <ac:spMkLst>
            <pc:docMk/>
            <pc:sldMk cId="0" sldId="259"/>
            <ac:spMk id="9" creationId="{00000000-0000-0000-0000-000000000000}"/>
          </ac:spMkLst>
        </pc:spChg>
        <pc:spChg chg="mod">
          <ac:chgData name="Gaurav Tiwari" userId="02929ec7b81f6f79" providerId="LiveId" clId="{9CAB70AC-525F-4BFA-A704-D598D84A4E06}" dt="2026-04-11T04:05:44.700" v="78" actId="255"/>
          <ac:spMkLst>
            <pc:docMk/>
            <pc:sldMk cId="0" sldId="259"/>
            <ac:spMk id="14" creationId="{00000000-0000-0000-0000-000000000000}"/>
          </ac:spMkLst>
        </pc:spChg>
        <pc:spChg chg="mod">
          <ac:chgData name="Gaurav Tiwari" userId="02929ec7b81f6f79" providerId="LiveId" clId="{9CAB70AC-525F-4BFA-A704-D598D84A4E06}" dt="2026-04-11T04:05:56.599" v="81" actId="113"/>
          <ac:spMkLst>
            <pc:docMk/>
            <pc:sldMk cId="0" sldId="259"/>
            <ac:spMk id="19" creationId="{00000000-0000-0000-0000-000000000000}"/>
          </ac:spMkLst>
        </pc:spChg>
        <pc:spChg chg="mod">
          <ac:chgData name="Gaurav Tiwari" userId="02929ec7b81f6f79" providerId="LiveId" clId="{9CAB70AC-525F-4BFA-A704-D598D84A4E06}" dt="2026-04-11T04:06:10.077" v="84" actId="113"/>
          <ac:spMkLst>
            <pc:docMk/>
            <pc:sldMk cId="0" sldId="259"/>
            <ac:spMk id="24" creationId="{00000000-0000-0000-0000-000000000000}"/>
          </ac:spMkLst>
        </pc:spChg>
        <pc:spChg chg="mod">
          <ac:chgData name="Gaurav Tiwari" userId="02929ec7b81f6f79" providerId="LiveId" clId="{9CAB70AC-525F-4BFA-A704-D598D84A4E06}" dt="2026-04-11T04:06:21.070" v="87" actId="207"/>
          <ac:spMkLst>
            <pc:docMk/>
            <pc:sldMk cId="0" sldId="259"/>
            <ac:spMk id="29" creationId="{00000000-0000-0000-0000-000000000000}"/>
          </ac:spMkLst>
        </pc:spChg>
      </pc:sldChg>
      <pc:sldChg chg="modSp mod">
        <pc:chgData name="Gaurav Tiwari" userId="02929ec7b81f6f79" providerId="LiveId" clId="{9CAB70AC-525F-4BFA-A704-D598D84A4E06}" dt="2026-04-11T04:09:13.628" v="119" actId="113"/>
        <pc:sldMkLst>
          <pc:docMk/>
          <pc:sldMk cId="0" sldId="260"/>
        </pc:sldMkLst>
        <pc:spChg chg="mod">
          <ac:chgData name="Gaurav Tiwari" userId="02929ec7b81f6f79" providerId="LiveId" clId="{9CAB70AC-525F-4BFA-A704-D598D84A4E06}" dt="2026-04-11T04:07:57.880" v="89" actId="113"/>
          <ac:spMkLst>
            <pc:docMk/>
            <pc:sldMk cId="0" sldId="260"/>
            <ac:spMk id="9" creationId="{00000000-0000-0000-0000-000000000000}"/>
          </ac:spMkLst>
        </pc:spChg>
        <pc:spChg chg="mod">
          <ac:chgData name="Gaurav Tiwari" userId="02929ec7b81f6f79" providerId="LiveId" clId="{9CAB70AC-525F-4BFA-A704-D598D84A4E06}" dt="2026-04-11T04:08:05.140" v="91" actId="207"/>
          <ac:spMkLst>
            <pc:docMk/>
            <pc:sldMk cId="0" sldId="260"/>
            <ac:spMk id="10" creationId="{00000000-0000-0000-0000-000000000000}"/>
          </ac:spMkLst>
        </pc:spChg>
        <pc:spChg chg="mod">
          <ac:chgData name="Gaurav Tiwari" userId="02929ec7b81f6f79" providerId="LiveId" clId="{9CAB70AC-525F-4BFA-A704-D598D84A4E06}" dt="2026-04-11T04:08:11.848" v="93" actId="113"/>
          <ac:spMkLst>
            <pc:docMk/>
            <pc:sldMk cId="0" sldId="260"/>
            <ac:spMk id="11" creationId="{00000000-0000-0000-0000-000000000000}"/>
          </ac:spMkLst>
        </pc:spChg>
        <pc:spChg chg="mod">
          <ac:chgData name="Gaurav Tiwari" userId="02929ec7b81f6f79" providerId="LiveId" clId="{9CAB70AC-525F-4BFA-A704-D598D84A4E06}" dt="2026-04-11T04:08:19.305" v="95" actId="207"/>
          <ac:spMkLst>
            <pc:docMk/>
            <pc:sldMk cId="0" sldId="260"/>
            <ac:spMk id="15" creationId="{00000000-0000-0000-0000-000000000000}"/>
          </ac:spMkLst>
        </pc:spChg>
        <pc:spChg chg="mod">
          <ac:chgData name="Gaurav Tiwari" userId="02929ec7b81f6f79" providerId="LiveId" clId="{9CAB70AC-525F-4BFA-A704-D598D84A4E06}" dt="2026-04-11T04:08:23.860" v="97" actId="113"/>
          <ac:spMkLst>
            <pc:docMk/>
            <pc:sldMk cId="0" sldId="260"/>
            <ac:spMk id="16" creationId="{00000000-0000-0000-0000-000000000000}"/>
          </ac:spMkLst>
        </pc:spChg>
        <pc:spChg chg="mod">
          <ac:chgData name="Gaurav Tiwari" userId="02929ec7b81f6f79" providerId="LiveId" clId="{9CAB70AC-525F-4BFA-A704-D598D84A4E06}" dt="2026-04-11T04:08:38.773" v="103" actId="113"/>
          <ac:spMkLst>
            <pc:docMk/>
            <pc:sldMk cId="0" sldId="260"/>
            <ac:spMk id="20" creationId="{00000000-0000-0000-0000-000000000000}"/>
          </ac:spMkLst>
        </pc:spChg>
        <pc:spChg chg="mod">
          <ac:chgData name="Gaurav Tiwari" userId="02929ec7b81f6f79" providerId="LiveId" clId="{9CAB70AC-525F-4BFA-A704-D598D84A4E06}" dt="2026-04-11T04:08:42.722" v="105" actId="113"/>
          <ac:spMkLst>
            <pc:docMk/>
            <pc:sldMk cId="0" sldId="260"/>
            <ac:spMk id="21" creationId="{00000000-0000-0000-0000-000000000000}"/>
          </ac:spMkLst>
        </pc:spChg>
        <pc:spChg chg="mod">
          <ac:chgData name="Gaurav Tiwari" userId="02929ec7b81f6f79" providerId="LiveId" clId="{9CAB70AC-525F-4BFA-A704-D598D84A4E06}" dt="2026-04-11T04:08:46.831" v="107" actId="113"/>
          <ac:spMkLst>
            <pc:docMk/>
            <pc:sldMk cId="0" sldId="260"/>
            <ac:spMk id="22" creationId="{00000000-0000-0000-0000-000000000000}"/>
          </ac:spMkLst>
        </pc:spChg>
        <pc:spChg chg="mod">
          <ac:chgData name="Gaurav Tiwari" userId="02929ec7b81f6f79" providerId="LiveId" clId="{9CAB70AC-525F-4BFA-A704-D598D84A4E06}" dt="2026-04-11T04:08:30.186" v="99" actId="113"/>
          <ac:spMkLst>
            <pc:docMk/>
            <pc:sldMk cId="0" sldId="260"/>
            <ac:spMk id="26" creationId="{00000000-0000-0000-0000-000000000000}"/>
          </ac:spMkLst>
        </pc:spChg>
        <pc:spChg chg="mod">
          <ac:chgData name="Gaurav Tiwari" userId="02929ec7b81f6f79" providerId="LiveId" clId="{9CAB70AC-525F-4BFA-A704-D598D84A4E06}" dt="2026-04-11T04:08:34.544" v="101" actId="113"/>
          <ac:spMkLst>
            <pc:docMk/>
            <pc:sldMk cId="0" sldId="260"/>
            <ac:spMk id="27" creationId="{00000000-0000-0000-0000-000000000000}"/>
          </ac:spMkLst>
        </pc:spChg>
        <pc:spChg chg="mod">
          <ac:chgData name="Gaurav Tiwari" userId="02929ec7b81f6f79" providerId="LiveId" clId="{9CAB70AC-525F-4BFA-A704-D598D84A4E06}" dt="2026-04-11T04:08:51.090" v="109" actId="113"/>
          <ac:spMkLst>
            <pc:docMk/>
            <pc:sldMk cId="0" sldId="260"/>
            <ac:spMk id="31" creationId="{00000000-0000-0000-0000-000000000000}"/>
          </ac:spMkLst>
        </pc:spChg>
        <pc:spChg chg="mod">
          <ac:chgData name="Gaurav Tiwari" userId="02929ec7b81f6f79" providerId="LiveId" clId="{9CAB70AC-525F-4BFA-A704-D598D84A4E06}" dt="2026-04-11T04:08:55.617" v="111" actId="113"/>
          <ac:spMkLst>
            <pc:docMk/>
            <pc:sldMk cId="0" sldId="260"/>
            <ac:spMk id="35" creationId="{00000000-0000-0000-0000-000000000000}"/>
          </ac:spMkLst>
        </pc:spChg>
        <pc:spChg chg="mod">
          <ac:chgData name="Gaurav Tiwari" userId="02929ec7b81f6f79" providerId="LiveId" clId="{9CAB70AC-525F-4BFA-A704-D598D84A4E06}" dt="2026-04-11T04:09:00.807" v="113" actId="113"/>
          <ac:spMkLst>
            <pc:docMk/>
            <pc:sldMk cId="0" sldId="260"/>
            <ac:spMk id="36" creationId="{00000000-0000-0000-0000-000000000000}"/>
          </ac:spMkLst>
        </pc:spChg>
        <pc:spChg chg="mod">
          <ac:chgData name="Gaurav Tiwari" userId="02929ec7b81f6f79" providerId="LiveId" clId="{9CAB70AC-525F-4BFA-A704-D598D84A4E06}" dt="2026-04-11T04:09:04.943" v="115" actId="113"/>
          <ac:spMkLst>
            <pc:docMk/>
            <pc:sldMk cId="0" sldId="260"/>
            <ac:spMk id="37" creationId="{00000000-0000-0000-0000-000000000000}"/>
          </ac:spMkLst>
        </pc:spChg>
        <pc:spChg chg="mod">
          <ac:chgData name="Gaurav Tiwari" userId="02929ec7b81f6f79" providerId="LiveId" clId="{9CAB70AC-525F-4BFA-A704-D598D84A4E06}" dt="2026-04-11T04:09:09.433" v="117" actId="113"/>
          <ac:spMkLst>
            <pc:docMk/>
            <pc:sldMk cId="0" sldId="260"/>
            <ac:spMk id="38" creationId="{00000000-0000-0000-0000-000000000000}"/>
          </ac:spMkLst>
        </pc:spChg>
        <pc:spChg chg="mod">
          <ac:chgData name="Gaurav Tiwari" userId="02929ec7b81f6f79" providerId="LiveId" clId="{9CAB70AC-525F-4BFA-A704-D598D84A4E06}" dt="2026-04-11T04:09:13.628" v="119" actId="113"/>
          <ac:spMkLst>
            <pc:docMk/>
            <pc:sldMk cId="0" sldId="260"/>
            <ac:spMk id="39" creationId="{00000000-0000-0000-0000-000000000000}"/>
          </ac:spMkLst>
        </pc:spChg>
      </pc:sldChg>
      <pc:sldChg chg="modSp mod">
        <pc:chgData name="Gaurav Tiwari" userId="02929ec7b81f6f79" providerId="LiveId" clId="{9CAB70AC-525F-4BFA-A704-D598D84A4E06}" dt="2026-04-12T08:20:49.346" v="124" actId="1076"/>
        <pc:sldMkLst>
          <pc:docMk/>
          <pc:sldMk cId="0" sldId="261"/>
        </pc:sldMkLst>
        <pc:spChg chg="mod">
          <ac:chgData name="Gaurav Tiwari" userId="02929ec7b81f6f79" providerId="LiveId" clId="{9CAB70AC-525F-4BFA-A704-D598D84A4E06}" dt="2026-04-12T08:20:49.346" v="124" actId="1076"/>
          <ac:spMkLst>
            <pc:docMk/>
            <pc:sldMk cId="0" sldId="261"/>
            <ac:spMk id="35" creationId="{00000000-0000-0000-0000-000000000000}"/>
          </ac:spMkLst>
        </pc:spChg>
      </pc:sldChg>
      <pc:sldChg chg="modSp mod">
        <pc:chgData name="Gaurav Tiwari" userId="02929ec7b81f6f79" providerId="LiveId" clId="{9CAB70AC-525F-4BFA-A704-D598D84A4E06}" dt="2026-04-12T05:27:05.911" v="122" actId="20577"/>
        <pc:sldMkLst>
          <pc:docMk/>
          <pc:sldMk cId="0" sldId="263"/>
        </pc:sldMkLst>
        <pc:spChg chg="mod">
          <ac:chgData name="Gaurav Tiwari" userId="02929ec7b81f6f79" providerId="LiveId" clId="{9CAB70AC-525F-4BFA-A704-D598D84A4E06}" dt="2026-04-12T05:27:05.911" v="122" actId="20577"/>
          <ac:spMkLst>
            <pc:docMk/>
            <pc:sldMk cId="0" sldId="263"/>
            <ac:spMk id="1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8764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377"/>
          </a:solidFill>
          <a:ln w="12700">
            <a:solidFill>
              <a:srgbClr val="0D7377"/>
            </a:solidFill>
            <a:prstDash val="solid"/>
          </a:ln>
        </p:spPr>
      </p:sp>
      <p:sp>
        <p:nvSpPr>
          <p:cNvPr id="3" name="Shape 1"/>
          <p:cNvSpPr/>
          <p:nvPr/>
        </p:nvSpPr>
        <p:spPr>
          <a:xfrm>
            <a:off x="164592" y="0"/>
            <a:ext cx="45720" cy="5143500"/>
          </a:xfrm>
          <a:prstGeom prst="rect">
            <a:avLst/>
          </a:prstGeom>
          <a:solidFill>
            <a:srgbClr val="F0A500"/>
          </a:solidFill>
          <a:ln w="12700">
            <a:solidFill>
              <a:srgbClr val="F0A500"/>
            </a:solidFill>
            <a:prstDash val="solid"/>
          </a:ln>
        </p:spPr>
      </p:sp>
      <p:sp>
        <p:nvSpPr>
          <p:cNvPr id="4" name="Shape 2"/>
          <p:cNvSpPr/>
          <p:nvPr/>
        </p:nvSpPr>
        <p:spPr>
          <a:xfrm>
            <a:off x="502920" y="457200"/>
            <a:ext cx="5029200" cy="365760"/>
          </a:xfrm>
          <a:prstGeom prst="rect">
            <a:avLst/>
          </a:prstGeom>
          <a:solidFill>
            <a:srgbClr val="0D7377"/>
          </a:solidFill>
          <a:ln w="12700">
            <a:solidFill>
              <a:srgbClr val="0D7377"/>
            </a:solidFill>
            <a:prstDash val="solid"/>
          </a:ln>
        </p:spPr>
      </p:sp>
      <p:sp>
        <p:nvSpPr>
          <p:cNvPr id="5" name="Text 3"/>
          <p:cNvSpPr/>
          <p:nvPr/>
        </p:nvSpPr>
        <p:spPr>
          <a:xfrm>
            <a:off x="502920" y="457200"/>
            <a:ext cx="50292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Statistical Foundation for Machine Learning</a:t>
            </a:r>
            <a:endParaRPr lang="en-US" sz="1100" dirty="0"/>
          </a:p>
        </p:txBody>
      </p:sp>
      <p:sp>
        <p:nvSpPr>
          <p:cNvPr id="6" name="Text 4"/>
          <p:cNvSpPr/>
          <p:nvPr/>
        </p:nvSpPr>
        <p:spPr>
          <a:xfrm>
            <a:off x="502920" y="1051560"/>
            <a:ext cx="8321040" cy="77724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Daily Retail Demand Forecasting</a:t>
            </a:r>
            <a:endParaRPr lang="en-US" sz="3200" dirty="0"/>
          </a:p>
        </p:txBody>
      </p:sp>
      <p:sp>
        <p:nvSpPr>
          <p:cNvPr id="7" name="Text 5"/>
          <p:cNvSpPr/>
          <p:nvPr/>
        </p:nvSpPr>
        <p:spPr>
          <a:xfrm>
            <a:off x="502920" y="1783080"/>
            <a:ext cx="8321040" cy="502920"/>
          </a:xfrm>
          <a:prstGeom prst="rect">
            <a:avLst/>
          </a:prstGeom>
          <a:noFill/>
          <a:ln/>
        </p:spPr>
        <p:txBody>
          <a:bodyPr wrap="square" lIns="0" tIns="0" rIns="0" bIns="0" rtlCol="0" anchor="ctr"/>
          <a:lstStyle/>
          <a:p>
            <a:pPr marL="0" indent="0">
              <a:buNone/>
            </a:pPr>
            <a:r>
              <a:rPr lang="en-US" sz="2200" i="1" dirty="0">
                <a:solidFill>
                  <a:srgbClr val="14A9AE"/>
                </a:solidFill>
                <a:latin typeface="Calibri" pitchFamily="34" charset="0"/>
                <a:ea typeface="Calibri" pitchFamily="34" charset="-122"/>
                <a:cs typeface="Calibri" pitchFamily="34" charset="-120"/>
              </a:rPr>
              <a:t>with Emphasis on Calendric Special Days</a:t>
            </a:r>
            <a:endParaRPr lang="en-US" sz="2200" dirty="0"/>
          </a:p>
        </p:txBody>
      </p:sp>
      <p:sp>
        <p:nvSpPr>
          <p:cNvPr id="8" name="Shape 6"/>
          <p:cNvSpPr/>
          <p:nvPr/>
        </p:nvSpPr>
        <p:spPr>
          <a:xfrm>
            <a:off x="502920" y="2423160"/>
            <a:ext cx="5486400" cy="36576"/>
          </a:xfrm>
          <a:prstGeom prst="rect">
            <a:avLst/>
          </a:prstGeom>
          <a:solidFill>
            <a:srgbClr val="F0A500"/>
          </a:solidFill>
          <a:ln w="12700">
            <a:solidFill>
              <a:srgbClr val="F0A500"/>
            </a:solidFill>
            <a:prstDash val="solid"/>
          </a:ln>
        </p:spPr>
      </p:sp>
      <p:sp>
        <p:nvSpPr>
          <p:cNvPr id="9" name="Text 7"/>
          <p:cNvSpPr/>
          <p:nvPr/>
        </p:nvSpPr>
        <p:spPr>
          <a:xfrm>
            <a:off x="502920" y="2606040"/>
            <a:ext cx="8321040" cy="292608"/>
          </a:xfrm>
          <a:prstGeom prst="rect">
            <a:avLst/>
          </a:prstGeom>
          <a:noFill/>
          <a:ln/>
        </p:spPr>
        <p:txBody>
          <a:bodyPr wrap="square" lIns="0" tIns="0" rIns="0" bIns="0" rtlCol="0" anchor="ctr"/>
          <a:lstStyle/>
          <a:p>
            <a:pPr marL="0" indent="0">
              <a:buNone/>
            </a:pPr>
            <a:r>
              <a:rPr lang="en-US" sz="1300" dirty="0">
                <a:solidFill>
                  <a:srgbClr val="8896A5"/>
                </a:solidFill>
                <a:latin typeface="Calibri" pitchFamily="34" charset="0"/>
                <a:ea typeface="Calibri" pitchFamily="34" charset="-122"/>
                <a:cs typeface="Calibri" pitchFamily="34" charset="-120"/>
              </a:rPr>
              <a:t>Research Paper Implementation Project</a:t>
            </a:r>
            <a:endParaRPr lang="en-US" sz="1300" dirty="0"/>
          </a:p>
        </p:txBody>
      </p:sp>
      <p:sp>
        <p:nvSpPr>
          <p:cNvPr id="10" name="Text 8"/>
          <p:cNvSpPr/>
          <p:nvPr/>
        </p:nvSpPr>
        <p:spPr>
          <a:xfrm>
            <a:off x="502920" y="2880360"/>
            <a:ext cx="8321040" cy="256032"/>
          </a:xfrm>
          <a:prstGeom prst="rect">
            <a:avLst/>
          </a:prstGeom>
          <a:noFill/>
          <a:ln/>
        </p:spPr>
        <p:txBody>
          <a:bodyPr wrap="square" lIns="0" tIns="0" rIns="0" bIns="0" rtlCol="0" anchor="ctr"/>
          <a:lstStyle/>
          <a:p>
            <a:pPr marL="0" indent="0">
              <a:buNone/>
            </a:pPr>
            <a:r>
              <a:rPr lang="en-US" sz="1000" i="1" dirty="0">
                <a:solidFill>
                  <a:srgbClr val="8896A5"/>
                </a:solidFill>
                <a:latin typeface="Calibri" pitchFamily="34" charset="0"/>
                <a:ea typeface="Calibri" pitchFamily="34" charset="-122"/>
                <a:cs typeface="Calibri" pitchFamily="34" charset="-120"/>
              </a:rPr>
              <a:t>Huber &amp; Stuckenschmidt (2020)  ·  International Journal of Forecasting</a:t>
            </a:r>
            <a:endParaRPr lang="en-US" sz="1000" dirty="0"/>
          </a:p>
        </p:txBody>
      </p:sp>
      <p:sp>
        <p:nvSpPr>
          <p:cNvPr id="11" name="Shape 9"/>
          <p:cNvSpPr/>
          <p:nvPr/>
        </p:nvSpPr>
        <p:spPr>
          <a:xfrm>
            <a:off x="502920" y="3383280"/>
            <a:ext cx="4114800" cy="1188720"/>
          </a:xfrm>
          <a:prstGeom prst="rect">
            <a:avLst/>
          </a:prstGeom>
          <a:solidFill>
            <a:srgbClr val="1E3A5F"/>
          </a:solidFill>
          <a:ln w="12700">
            <a:solidFill>
              <a:srgbClr val="0D7377"/>
            </a:solidFill>
            <a:prstDash val="solid"/>
          </a:ln>
        </p:spPr>
      </p:sp>
      <p:sp>
        <p:nvSpPr>
          <p:cNvPr id="12" name="Text 10"/>
          <p:cNvSpPr/>
          <p:nvPr/>
        </p:nvSpPr>
        <p:spPr>
          <a:xfrm>
            <a:off x="685800" y="3456432"/>
            <a:ext cx="3749040" cy="1051560"/>
          </a:xfrm>
          <a:prstGeom prst="rect">
            <a:avLst/>
          </a:prstGeom>
          <a:noFill/>
          <a:ln/>
        </p:spPr>
        <p:txBody>
          <a:bodyPr wrap="square" lIns="0" tIns="0" rIns="0" bIns="0" rtlCol="0" anchor="ctr"/>
          <a:lstStyle/>
          <a:p>
            <a:pPr marL="0" indent="0">
              <a:buNone/>
            </a:pPr>
            <a:r>
              <a:rPr lang="en-US" sz="1000" dirty="0">
                <a:solidFill>
                  <a:srgbClr val="8896A5"/>
                </a:solidFill>
                <a:latin typeface="Calibri" pitchFamily="34" charset="0"/>
                <a:ea typeface="Calibri" pitchFamily="34" charset="-122"/>
                <a:cs typeface="Calibri" pitchFamily="34" charset="-120"/>
              </a:rPr>
              <a:t>Presented by:  </a:t>
            </a:r>
            <a:r>
              <a:rPr lang="en-US" sz="1200" b="1" dirty="0">
                <a:solidFill>
                  <a:srgbClr val="FFFFFF"/>
                </a:solidFill>
                <a:latin typeface="Calibri" pitchFamily="34" charset="0"/>
                <a:ea typeface="Calibri" pitchFamily="34" charset="-122"/>
                <a:cs typeface="Calibri" pitchFamily="34" charset="-120"/>
              </a:rPr>
              <a:t>Gaurav Tiwari</a:t>
            </a:r>
            <a:endParaRPr lang="en-US" sz="1000" dirty="0"/>
          </a:p>
          <a:p>
            <a:pPr marL="0" indent="0">
              <a:buNone/>
            </a:pPr>
            <a:r>
              <a:rPr lang="en-US" sz="1000" dirty="0">
                <a:solidFill>
                  <a:srgbClr val="8896A5"/>
                </a:solidFill>
                <a:latin typeface="Calibri" pitchFamily="34" charset="0"/>
                <a:ea typeface="Calibri" pitchFamily="34" charset="-122"/>
                <a:cs typeface="Calibri" pitchFamily="34" charset="-120"/>
              </a:rPr>
              <a:t>Student ID:       </a:t>
            </a:r>
            <a:endParaRPr lang="en-US" sz="1000" dirty="0"/>
          </a:p>
          <a:p>
            <a:pPr marL="0" indent="0">
              <a:buNone/>
            </a:pPr>
            <a:r>
              <a:rPr lang="en-US" sz="1100" dirty="0">
                <a:solidFill>
                  <a:srgbClr val="14A9AE"/>
                </a:solidFill>
                <a:latin typeface="Calibri" pitchFamily="34" charset="0"/>
                <a:ea typeface="Calibri" pitchFamily="34" charset="-122"/>
                <a:cs typeface="Calibri" pitchFamily="34" charset="-120"/>
              </a:rPr>
              <a:t>2023UEE0134</a:t>
            </a:r>
            <a:endParaRPr lang="en-US" sz="1000" dirty="0"/>
          </a:p>
          <a:p>
            <a:pPr marL="0" indent="0">
              <a:buNone/>
            </a:pPr>
            <a:r>
              <a:rPr lang="en-US" sz="1000" dirty="0">
                <a:solidFill>
                  <a:srgbClr val="8896A5"/>
                </a:solidFill>
                <a:latin typeface="Calibri" pitchFamily="34" charset="0"/>
                <a:ea typeface="Calibri" pitchFamily="34" charset="-122"/>
                <a:cs typeface="Calibri" pitchFamily="34" charset="-120"/>
              </a:rPr>
              <a:t>Dataset:            </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Rossmann Store Sales</a:t>
            </a:r>
            <a:endParaRPr lang="en-US" sz="1000" dirty="0"/>
          </a:p>
          <a:p>
            <a:pPr marL="0" indent="0">
              <a:buNone/>
            </a:pPr>
            <a:r>
              <a:rPr lang="en-US" sz="1000" dirty="0">
                <a:solidFill>
                  <a:srgbClr val="8896A5"/>
                </a:solidFill>
                <a:latin typeface="Calibri" pitchFamily="34" charset="0"/>
                <a:ea typeface="Calibri" pitchFamily="34" charset="-122"/>
                <a:cs typeface="Calibri" pitchFamily="34" charset="-120"/>
              </a:rPr>
              <a:t>Platform:          </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Kaggle (GPU: Tesla T4)</a:t>
            </a:r>
            <a:endParaRPr lang="en-US" sz="1000" dirty="0"/>
          </a:p>
        </p:txBody>
      </p:sp>
      <p:sp>
        <p:nvSpPr>
          <p:cNvPr id="13" name="Shape 11"/>
          <p:cNvSpPr/>
          <p:nvPr/>
        </p:nvSpPr>
        <p:spPr>
          <a:xfrm>
            <a:off x="5029200" y="3383280"/>
            <a:ext cx="1645920" cy="1188720"/>
          </a:xfrm>
          <a:prstGeom prst="rect">
            <a:avLst/>
          </a:prstGeom>
          <a:solidFill>
            <a:srgbClr val="0D7377"/>
          </a:solidFill>
          <a:ln w="12700">
            <a:solidFill>
              <a:srgbClr val="0D7377"/>
            </a:solidFill>
            <a:prstDash val="solid"/>
          </a:ln>
          <a:effectLst>
            <a:outerShdw blurRad="76200" dist="25400" dir="8100000" algn="bl" rotWithShape="0">
              <a:srgbClr val="000000">
                <a:alpha val="12000"/>
              </a:srgbClr>
            </a:outerShdw>
          </a:effectLst>
        </p:spPr>
      </p:sp>
      <p:sp>
        <p:nvSpPr>
          <p:cNvPr id="14" name="Text 12"/>
          <p:cNvSpPr/>
          <p:nvPr/>
        </p:nvSpPr>
        <p:spPr>
          <a:xfrm>
            <a:off x="5029200" y="3429000"/>
            <a:ext cx="1645920" cy="653796"/>
          </a:xfrm>
          <a:prstGeom prst="rect">
            <a:avLst/>
          </a:prstGeom>
          <a:noFill/>
          <a:ln/>
        </p:spPr>
        <p:txBody>
          <a:bodyPr wrap="square" lIns="0" tIns="0" rIns="0" bIns="0" rtlCol="0" anchor="b"/>
          <a:lstStyle/>
          <a:p>
            <a:pPr marL="0" indent="0" algn="ctr">
              <a:buNone/>
            </a:pPr>
            <a:r>
              <a:rPr lang="en-US" sz="2600" b="1" dirty="0">
                <a:solidFill>
                  <a:srgbClr val="FFFFFF"/>
                </a:solidFill>
                <a:latin typeface="Calibri" pitchFamily="34" charset="0"/>
                <a:ea typeface="Calibri" pitchFamily="34" charset="-122"/>
                <a:cs typeface="Calibri" pitchFamily="34" charset="-120"/>
              </a:rPr>
              <a:t>844K</a:t>
            </a:r>
            <a:endParaRPr lang="en-US" sz="2600" dirty="0"/>
          </a:p>
        </p:txBody>
      </p:sp>
      <p:sp>
        <p:nvSpPr>
          <p:cNvPr id="15" name="Text 13"/>
          <p:cNvSpPr/>
          <p:nvPr/>
        </p:nvSpPr>
        <p:spPr>
          <a:xfrm>
            <a:off x="5029200" y="4037076"/>
            <a:ext cx="1645920" cy="475488"/>
          </a:xfrm>
          <a:prstGeom prst="rect">
            <a:avLst/>
          </a:prstGeom>
          <a:noFill/>
          <a:ln/>
        </p:spPr>
        <p:txBody>
          <a:bodyPr wrap="square" lIns="0" tIns="0" rIns="0" bIns="0" rtlCol="0" anchor="t"/>
          <a:lstStyle/>
          <a:p>
            <a:pPr marL="0" indent="0" algn="ctr">
              <a:buNone/>
            </a:pPr>
            <a:r>
              <a:rPr lang="en-US" sz="900" dirty="0">
                <a:solidFill>
                  <a:srgbClr val="14A9AE"/>
                </a:solidFill>
                <a:latin typeface="Calibri" pitchFamily="34" charset="0"/>
                <a:ea typeface="Calibri" pitchFamily="34" charset="-122"/>
                <a:cs typeface="Calibri" pitchFamily="34" charset="-120"/>
              </a:rPr>
              <a:t>Training Rows</a:t>
            </a:r>
            <a:endParaRPr lang="en-US" sz="900" dirty="0"/>
          </a:p>
        </p:txBody>
      </p:sp>
      <p:sp>
        <p:nvSpPr>
          <p:cNvPr id="16" name="Shape 14"/>
          <p:cNvSpPr/>
          <p:nvPr/>
        </p:nvSpPr>
        <p:spPr>
          <a:xfrm>
            <a:off x="6949440" y="3383280"/>
            <a:ext cx="1645920" cy="1188720"/>
          </a:xfrm>
          <a:prstGeom prst="rect">
            <a:avLst/>
          </a:prstGeom>
          <a:solidFill>
            <a:srgbClr val="0A5C72"/>
          </a:solidFill>
          <a:ln w="12700">
            <a:solidFill>
              <a:srgbClr val="0A5C72"/>
            </a:solidFill>
            <a:prstDash val="solid"/>
          </a:ln>
          <a:effectLst>
            <a:outerShdw blurRad="76200" dist="25400" dir="8100000" algn="bl" rotWithShape="0">
              <a:srgbClr val="000000">
                <a:alpha val="12000"/>
              </a:srgbClr>
            </a:outerShdw>
          </a:effectLst>
        </p:spPr>
      </p:sp>
      <p:sp>
        <p:nvSpPr>
          <p:cNvPr id="17" name="Text 15"/>
          <p:cNvSpPr/>
          <p:nvPr/>
        </p:nvSpPr>
        <p:spPr>
          <a:xfrm>
            <a:off x="6949440" y="3429000"/>
            <a:ext cx="1645920" cy="653796"/>
          </a:xfrm>
          <a:prstGeom prst="rect">
            <a:avLst/>
          </a:prstGeom>
          <a:noFill/>
          <a:ln/>
        </p:spPr>
        <p:txBody>
          <a:bodyPr wrap="square" lIns="0" tIns="0" rIns="0" bIns="0" rtlCol="0" anchor="b"/>
          <a:lstStyle/>
          <a:p>
            <a:pPr marL="0" indent="0" algn="ctr">
              <a:buNone/>
            </a:pPr>
            <a:r>
              <a:rPr lang="en-US" sz="2600" b="1" dirty="0">
                <a:solidFill>
                  <a:srgbClr val="FFFFFF"/>
                </a:solidFill>
                <a:latin typeface="Calibri" pitchFamily="34" charset="0"/>
                <a:ea typeface="Calibri" pitchFamily="34" charset="-122"/>
                <a:cs typeface="Calibri" pitchFamily="34" charset="-120"/>
              </a:rPr>
              <a:t>1,115</a:t>
            </a:r>
            <a:endParaRPr lang="en-US" sz="2600" dirty="0"/>
          </a:p>
        </p:txBody>
      </p:sp>
      <p:sp>
        <p:nvSpPr>
          <p:cNvPr id="18" name="Text 16"/>
          <p:cNvSpPr/>
          <p:nvPr/>
        </p:nvSpPr>
        <p:spPr>
          <a:xfrm>
            <a:off x="6949440" y="4037076"/>
            <a:ext cx="1645920" cy="475488"/>
          </a:xfrm>
          <a:prstGeom prst="rect">
            <a:avLst/>
          </a:prstGeom>
          <a:noFill/>
          <a:ln/>
        </p:spPr>
        <p:txBody>
          <a:bodyPr wrap="square" lIns="0" tIns="0" rIns="0" bIns="0" rtlCol="0" anchor="t"/>
          <a:lstStyle/>
          <a:p>
            <a:pPr marL="0" indent="0" algn="ctr">
              <a:buNone/>
            </a:pPr>
            <a:r>
              <a:rPr lang="en-US" sz="900" dirty="0">
                <a:solidFill>
                  <a:srgbClr val="14A9AE"/>
                </a:solidFill>
                <a:latin typeface="Calibri" pitchFamily="34" charset="0"/>
                <a:ea typeface="Calibri" pitchFamily="34" charset="-122"/>
                <a:cs typeface="Calibri" pitchFamily="34" charset="-120"/>
              </a:rPr>
              <a:t>Stores</a:t>
            </a:r>
            <a:endParaRPr lang="en-US" sz="900" dirty="0"/>
          </a:p>
        </p:txBody>
      </p:sp>
      <p:sp>
        <p:nvSpPr>
          <p:cNvPr id="19" name="Shape 17"/>
          <p:cNvSpPr/>
          <p:nvPr/>
        </p:nvSpPr>
        <p:spPr>
          <a:xfrm>
            <a:off x="0" y="4892040"/>
            <a:ext cx="9144000" cy="251460"/>
          </a:xfrm>
          <a:prstGeom prst="rect">
            <a:avLst/>
          </a:prstGeom>
          <a:solidFill>
            <a:srgbClr val="0D1B33"/>
          </a:solidFill>
          <a:ln w="12700">
            <a:solidFill>
              <a:srgbClr val="0D1B33"/>
            </a:solidFill>
            <a:prstDash val="solid"/>
          </a:ln>
        </p:spPr>
      </p:sp>
      <p:sp>
        <p:nvSpPr>
          <p:cNvPr id="20" name="Text 18"/>
          <p:cNvSpPr/>
          <p:nvPr/>
        </p:nvSpPr>
        <p:spPr>
          <a:xfrm>
            <a:off x="502920" y="4892040"/>
            <a:ext cx="8229600" cy="251460"/>
          </a:xfrm>
          <a:prstGeom prst="rect">
            <a:avLst/>
          </a:prstGeom>
          <a:noFill/>
          <a:ln/>
        </p:spPr>
        <p:txBody>
          <a:bodyPr wrap="square" lIns="0" tIns="0" rIns="0" bIns="0" rtlCol="0" anchor="ctr"/>
          <a:lstStyle/>
          <a:p>
            <a:pPr marL="0" indent="0" algn="ctr">
              <a:buNone/>
            </a:pPr>
            <a:r>
              <a:rPr lang="en-US" sz="850" dirty="0">
                <a:solidFill>
                  <a:srgbClr val="8896A5"/>
                </a:solidFill>
                <a:latin typeface="Calibri" pitchFamily="34" charset="0"/>
                <a:ea typeface="Calibri" pitchFamily="34" charset="-122"/>
                <a:cs typeface="Calibri" pitchFamily="34" charset="-120"/>
              </a:rPr>
              <a:t>Rossmann Store Sales Dataset  ·  April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Text 1"/>
          <p:cNvSpPr/>
          <p:nvPr/>
        </p:nvSpPr>
        <p:spPr>
          <a:xfrm>
            <a:off x="274320" y="91440"/>
            <a:ext cx="77724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Paper Overview &amp; Research Targets</a:t>
            </a:r>
            <a:endParaRPr lang="en-US" sz="2000" dirty="0"/>
          </a:p>
        </p:txBody>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lgn="r">
              <a:buNone/>
            </a:pPr>
            <a:r>
              <a:rPr lang="en-US" sz="1100" i="1" dirty="0">
                <a:solidFill>
                  <a:srgbClr val="14A9AE"/>
                </a:solidFill>
                <a:latin typeface="Calibri" pitchFamily="34" charset="0"/>
                <a:ea typeface="Calibri" pitchFamily="34" charset="-122"/>
                <a:cs typeface="Calibri" pitchFamily="34" charset="-120"/>
              </a:rPr>
              <a:t>Huber &amp; Stuckenschmidt (2020) · Int'l Journal of Forecasting 36(4)</a:t>
            </a:r>
            <a:endParaRPr lang="en-US" sz="1100" dirty="0"/>
          </a:p>
        </p:txBody>
      </p:sp>
      <p:sp>
        <p:nvSpPr>
          <p:cNvPr id="5" name="Shape 3"/>
          <p:cNvSpPr/>
          <p:nvPr/>
        </p:nvSpPr>
        <p:spPr>
          <a:xfrm>
            <a:off x="0" y="685800"/>
            <a:ext cx="9144000" cy="54864"/>
          </a:xfrm>
          <a:prstGeom prst="rect">
            <a:avLst/>
          </a:prstGeom>
          <a:solidFill>
            <a:srgbClr val="0D7377"/>
          </a:solidFill>
          <a:ln w="12700">
            <a:solidFill>
              <a:srgbClr val="0D7377"/>
            </a:solidFill>
            <a:prstDash val="solid"/>
          </a:ln>
        </p:spPr>
      </p:sp>
      <p:sp>
        <p:nvSpPr>
          <p:cNvPr id="6" name="Shape 4"/>
          <p:cNvSpPr/>
          <p:nvPr/>
        </p:nvSpPr>
        <p:spPr>
          <a:xfrm>
            <a:off x="274320" y="868680"/>
            <a:ext cx="8595360" cy="502920"/>
          </a:xfrm>
          <a:prstGeom prst="rect">
            <a:avLst/>
          </a:prstGeom>
          <a:solidFill>
            <a:srgbClr val="1A2B4A"/>
          </a:solidFill>
          <a:ln w="12700">
            <a:solidFill>
              <a:srgbClr val="1A2B4A"/>
            </a:solidFill>
            <a:prstDash val="solid"/>
          </a:ln>
        </p:spPr>
      </p:sp>
      <p:sp>
        <p:nvSpPr>
          <p:cNvPr id="7" name="Text 5"/>
          <p:cNvSpPr/>
          <p:nvPr/>
        </p:nvSpPr>
        <p:spPr>
          <a:xfrm>
            <a:off x="365760" y="868680"/>
            <a:ext cx="8321040" cy="50292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Core Problem: How do we accurately forecast retail demand on SPECIAL DAYS — holidays, day-before, day-after — when standard models fail completely?</a:t>
            </a:r>
            <a:endParaRPr lang="en-US" sz="1050" dirty="0"/>
          </a:p>
        </p:txBody>
      </p:sp>
      <p:sp>
        <p:nvSpPr>
          <p:cNvPr id="8" name="Shape 6"/>
          <p:cNvSpPr/>
          <p:nvPr/>
        </p:nvSpPr>
        <p:spPr>
          <a:xfrm>
            <a:off x="274320" y="1508760"/>
            <a:ext cx="4206240" cy="86868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9" name="Shape 7"/>
          <p:cNvSpPr/>
          <p:nvPr/>
        </p:nvSpPr>
        <p:spPr>
          <a:xfrm>
            <a:off x="274320" y="1508760"/>
            <a:ext cx="777240" cy="868680"/>
          </a:xfrm>
          <a:prstGeom prst="rect">
            <a:avLst/>
          </a:prstGeom>
          <a:solidFill>
            <a:srgbClr val="0D7377"/>
          </a:solidFill>
          <a:ln w="12700">
            <a:solidFill>
              <a:srgbClr val="0D7377"/>
            </a:solidFill>
            <a:prstDash val="solid"/>
          </a:ln>
        </p:spPr>
      </p:sp>
      <p:sp>
        <p:nvSpPr>
          <p:cNvPr id="10" name="Text 8"/>
          <p:cNvSpPr/>
          <p:nvPr/>
        </p:nvSpPr>
        <p:spPr>
          <a:xfrm>
            <a:off x="274320" y="1508760"/>
            <a:ext cx="777240"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RQ 1</a:t>
            </a:r>
            <a:endParaRPr lang="en-US" sz="1300" dirty="0"/>
          </a:p>
        </p:txBody>
      </p:sp>
      <p:sp>
        <p:nvSpPr>
          <p:cNvPr id="11" name="Text 9"/>
          <p:cNvSpPr/>
          <p:nvPr/>
        </p:nvSpPr>
        <p:spPr>
          <a:xfrm>
            <a:off x="1124712" y="1581912"/>
            <a:ext cx="3273552" cy="731520"/>
          </a:xfrm>
          <a:prstGeom prst="rect">
            <a:avLst/>
          </a:prstGeom>
          <a:noFill/>
          <a:ln/>
        </p:spPr>
        <p:txBody>
          <a:bodyPr wrap="square" lIns="0" tIns="0" rIns="0" bIns="0" rtlCol="0" anchor="ctr"/>
          <a:lstStyle/>
          <a:p>
            <a:pPr marL="0" indent="0">
              <a:buNone/>
            </a:pPr>
            <a:r>
              <a:rPr lang="en-US" sz="950" dirty="0">
                <a:solidFill>
                  <a:srgbClr val="3D5166"/>
                </a:solidFill>
                <a:latin typeface="Calibri" pitchFamily="34" charset="0"/>
                <a:ea typeface="Calibri" pitchFamily="34" charset="-122"/>
                <a:cs typeface="Calibri" pitchFamily="34" charset="-120"/>
              </a:rPr>
              <a:t>Can ML methods outperform established statistical baselines for retail demand forecasting?</a:t>
            </a:r>
            <a:endParaRPr lang="en-US" sz="950" dirty="0"/>
          </a:p>
        </p:txBody>
      </p:sp>
      <p:sp>
        <p:nvSpPr>
          <p:cNvPr id="12" name="Shape 10"/>
          <p:cNvSpPr/>
          <p:nvPr/>
        </p:nvSpPr>
        <p:spPr>
          <a:xfrm>
            <a:off x="274320" y="2514600"/>
            <a:ext cx="4206240" cy="86868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13" name="Shape 11"/>
          <p:cNvSpPr/>
          <p:nvPr/>
        </p:nvSpPr>
        <p:spPr>
          <a:xfrm>
            <a:off x="274320" y="2514600"/>
            <a:ext cx="777240" cy="868680"/>
          </a:xfrm>
          <a:prstGeom prst="rect">
            <a:avLst/>
          </a:prstGeom>
          <a:solidFill>
            <a:srgbClr val="0D7377"/>
          </a:solidFill>
          <a:ln w="12700">
            <a:solidFill>
              <a:srgbClr val="0D7377"/>
            </a:solidFill>
            <a:prstDash val="solid"/>
          </a:ln>
        </p:spPr>
      </p:sp>
      <p:sp>
        <p:nvSpPr>
          <p:cNvPr id="14" name="Text 12"/>
          <p:cNvSpPr/>
          <p:nvPr/>
        </p:nvSpPr>
        <p:spPr>
          <a:xfrm>
            <a:off x="274320" y="2514600"/>
            <a:ext cx="777240"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RQ 2</a:t>
            </a:r>
            <a:endParaRPr lang="en-US" sz="1300" dirty="0"/>
          </a:p>
        </p:txBody>
      </p:sp>
      <p:sp>
        <p:nvSpPr>
          <p:cNvPr id="15" name="Text 13"/>
          <p:cNvSpPr/>
          <p:nvPr/>
        </p:nvSpPr>
        <p:spPr>
          <a:xfrm>
            <a:off x="1124712" y="2587752"/>
            <a:ext cx="3273552" cy="731520"/>
          </a:xfrm>
          <a:prstGeom prst="rect">
            <a:avLst/>
          </a:prstGeom>
          <a:noFill/>
          <a:ln/>
        </p:spPr>
        <p:txBody>
          <a:bodyPr wrap="square" lIns="0" tIns="0" rIns="0" bIns="0" rtlCol="0" anchor="ctr"/>
          <a:lstStyle/>
          <a:p>
            <a:pPr marL="0" indent="0">
              <a:buNone/>
            </a:pPr>
            <a:r>
              <a:rPr lang="en-US" sz="950" dirty="0">
                <a:solidFill>
                  <a:srgbClr val="3D5166"/>
                </a:solidFill>
                <a:latin typeface="Calibri" pitchFamily="34" charset="0"/>
                <a:ea typeface="Calibri" pitchFamily="34" charset="-122"/>
                <a:cs typeface="Calibri" pitchFamily="34" charset="-120"/>
              </a:rPr>
              <a:t>Which method is most suitable for forecasting demand on special days (holidays)?</a:t>
            </a:r>
            <a:endParaRPr lang="en-US" sz="950" dirty="0"/>
          </a:p>
        </p:txBody>
      </p:sp>
      <p:sp>
        <p:nvSpPr>
          <p:cNvPr id="16" name="Shape 14"/>
          <p:cNvSpPr/>
          <p:nvPr/>
        </p:nvSpPr>
        <p:spPr>
          <a:xfrm>
            <a:off x="4709160" y="1508760"/>
            <a:ext cx="4206240" cy="86868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17" name="Shape 15"/>
          <p:cNvSpPr/>
          <p:nvPr/>
        </p:nvSpPr>
        <p:spPr>
          <a:xfrm>
            <a:off x="4709160" y="1508760"/>
            <a:ext cx="777240" cy="868680"/>
          </a:xfrm>
          <a:prstGeom prst="rect">
            <a:avLst/>
          </a:prstGeom>
          <a:solidFill>
            <a:srgbClr val="1A2B4A"/>
          </a:solidFill>
          <a:ln w="12700">
            <a:solidFill>
              <a:srgbClr val="1A2B4A"/>
            </a:solidFill>
            <a:prstDash val="solid"/>
          </a:ln>
        </p:spPr>
      </p:sp>
      <p:sp>
        <p:nvSpPr>
          <p:cNvPr id="18" name="Text 16"/>
          <p:cNvSpPr/>
          <p:nvPr/>
        </p:nvSpPr>
        <p:spPr>
          <a:xfrm>
            <a:off x="4709160" y="1508760"/>
            <a:ext cx="777240"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RQ 3</a:t>
            </a:r>
            <a:endParaRPr lang="en-US" sz="1300" dirty="0"/>
          </a:p>
        </p:txBody>
      </p:sp>
      <p:sp>
        <p:nvSpPr>
          <p:cNvPr id="19" name="Text 17"/>
          <p:cNvSpPr/>
          <p:nvPr/>
        </p:nvSpPr>
        <p:spPr>
          <a:xfrm>
            <a:off x="5559552" y="1581912"/>
            <a:ext cx="3273552" cy="731520"/>
          </a:xfrm>
          <a:prstGeom prst="rect">
            <a:avLst/>
          </a:prstGeom>
          <a:noFill/>
          <a:ln/>
        </p:spPr>
        <p:txBody>
          <a:bodyPr wrap="square" lIns="0" tIns="0" rIns="0" bIns="0" rtlCol="0" anchor="ctr"/>
          <a:lstStyle/>
          <a:p>
            <a:pPr marL="0" indent="0">
              <a:buNone/>
            </a:pPr>
            <a:r>
              <a:rPr lang="en-US" sz="950" dirty="0">
                <a:solidFill>
                  <a:srgbClr val="3D5166"/>
                </a:solidFill>
                <a:latin typeface="Calibri" pitchFamily="34" charset="0"/>
                <a:ea typeface="Calibri" pitchFamily="34" charset="-122"/>
                <a:cs typeface="Calibri" pitchFamily="34" charset="-120"/>
              </a:rPr>
              <a:t>Does converting forecasting from regression → classification improve accuracy?</a:t>
            </a:r>
            <a:endParaRPr lang="en-US" sz="950" dirty="0"/>
          </a:p>
        </p:txBody>
      </p:sp>
      <p:sp>
        <p:nvSpPr>
          <p:cNvPr id="20" name="Shape 18"/>
          <p:cNvSpPr/>
          <p:nvPr/>
        </p:nvSpPr>
        <p:spPr>
          <a:xfrm>
            <a:off x="4709160" y="2514600"/>
            <a:ext cx="4206240" cy="86868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21" name="Shape 19"/>
          <p:cNvSpPr/>
          <p:nvPr/>
        </p:nvSpPr>
        <p:spPr>
          <a:xfrm>
            <a:off x="4709160" y="2514600"/>
            <a:ext cx="777240" cy="868680"/>
          </a:xfrm>
          <a:prstGeom prst="rect">
            <a:avLst/>
          </a:prstGeom>
          <a:solidFill>
            <a:srgbClr val="1A2B4A"/>
          </a:solidFill>
          <a:ln w="12700">
            <a:solidFill>
              <a:srgbClr val="1A2B4A"/>
            </a:solidFill>
            <a:prstDash val="solid"/>
          </a:ln>
        </p:spPr>
      </p:sp>
      <p:sp>
        <p:nvSpPr>
          <p:cNvPr id="22" name="Text 20"/>
          <p:cNvSpPr/>
          <p:nvPr/>
        </p:nvSpPr>
        <p:spPr>
          <a:xfrm>
            <a:off x="4709160" y="2514600"/>
            <a:ext cx="777240" cy="8686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RQ 4</a:t>
            </a:r>
            <a:endParaRPr lang="en-US" sz="1300" dirty="0"/>
          </a:p>
        </p:txBody>
      </p:sp>
      <p:sp>
        <p:nvSpPr>
          <p:cNvPr id="23" name="Text 21"/>
          <p:cNvSpPr/>
          <p:nvPr/>
        </p:nvSpPr>
        <p:spPr>
          <a:xfrm>
            <a:off x="5559552" y="2587752"/>
            <a:ext cx="3273552" cy="731520"/>
          </a:xfrm>
          <a:prstGeom prst="rect">
            <a:avLst/>
          </a:prstGeom>
          <a:noFill/>
          <a:ln/>
        </p:spPr>
        <p:txBody>
          <a:bodyPr wrap="square" lIns="0" tIns="0" rIns="0" bIns="0" rtlCol="0" anchor="ctr"/>
          <a:lstStyle/>
          <a:p>
            <a:pPr marL="0" indent="0">
              <a:buNone/>
            </a:pPr>
            <a:r>
              <a:rPr lang="en-US" sz="950" dirty="0">
                <a:solidFill>
                  <a:srgbClr val="3D5166"/>
                </a:solidFill>
                <a:latin typeface="Calibri" pitchFamily="34" charset="0"/>
                <a:ea typeface="Calibri" pitchFamily="34" charset="-122"/>
                <a:cs typeface="Calibri" pitchFamily="34" charset="-120"/>
              </a:rPr>
              <a:t>How often must ML models be retrained to maintain accuracy over time?</a:t>
            </a:r>
            <a:endParaRPr lang="en-US" sz="950" dirty="0"/>
          </a:p>
        </p:txBody>
      </p:sp>
      <p:sp>
        <p:nvSpPr>
          <p:cNvPr id="24" name="Shape 22"/>
          <p:cNvSpPr/>
          <p:nvPr/>
        </p:nvSpPr>
        <p:spPr>
          <a:xfrm>
            <a:off x="274320" y="3611880"/>
            <a:ext cx="8595360" cy="256032"/>
          </a:xfrm>
          <a:prstGeom prst="rect">
            <a:avLst/>
          </a:prstGeom>
          <a:solidFill>
            <a:srgbClr val="0D7377"/>
          </a:solidFill>
          <a:ln w="12700">
            <a:solidFill>
              <a:srgbClr val="0D7377"/>
            </a:solidFill>
            <a:prstDash val="solid"/>
          </a:ln>
        </p:spPr>
      </p:sp>
      <p:sp>
        <p:nvSpPr>
          <p:cNvPr id="25" name="Text 23"/>
          <p:cNvSpPr/>
          <p:nvPr/>
        </p:nvSpPr>
        <p:spPr>
          <a:xfrm>
            <a:off x="274320" y="3611880"/>
            <a:ext cx="8595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KEY CONTRIBUTIONS OF THE PAPER</a:t>
            </a:r>
            <a:endParaRPr lang="en-US" sz="900" dirty="0"/>
          </a:p>
        </p:txBody>
      </p:sp>
      <p:sp>
        <p:nvSpPr>
          <p:cNvPr id="26" name="Shape 24"/>
          <p:cNvSpPr/>
          <p:nvPr/>
        </p:nvSpPr>
        <p:spPr>
          <a:xfrm>
            <a:off x="274320" y="3913632"/>
            <a:ext cx="2029968" cy="100584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27" name="Shape 25"/>
          <p:cNvSpPr/>
          <p:nvPr/>
        </p:nvSpPr>
        <p:spPr>
          <a:xfrm>
            <a:off x="274320" y="3913632"/>
            <a:ext cx="2029968" cy="54864"/>
          </a:xfrm>
          <a:prstGeom prst="rect">
            <a:avLst/>
          </a:prstGeom>
          <a:solidFill>
            <a:srgbClr val="F0A500"/>
          </a:solidFill>
          <a:ln w="12700">
            <a:solidFill>
              <a:srgbClr val="F0A500"/>
            </a:solidFill>
            <a:prstDash val="solid"/>
          </a:ln>
        </p:spPr>
      </p:sp>
      <p:sp>
        <p:nvSpPr>
          <p:cNvPr id="28" name="Text 26"/>
          <p:cNvSpPr/>
          <p:nvPr/>
        </p:nvSpPr>
        <p:spPr>
          <a:xfrm>
            <a:off x="365760" y="3959352"/>
            <a:ext cx="1847088" cy="914400"/>
          </a:xfrm>
          <a:prstGeom prst="rect">
            <a:avLst/>
          </a:prstGeom>
          <a:noFill/>
          <a:ln/>
        </p:spPr>
        <p:txBody>
          <a:bodyPr wrap="square" lIns="0" tIns="0" rIns="0" bIns="0" rtlCol="0" anchor="ctr"/>
          <a:lstStyle/>
          <a:p>
            <a:pPr marL="0" indent="0">
              <a:buNone/>
            </a:pPr>
            <a:r>
              <a:rPr lang="en-US" sz="850" dirty="0">
                <a:solidFill>
                  <a:srgbClr val="3D5166"/>
                </a:solidFill>
                <a:latin typeface="Calibri" pitchFamily="34" charset="0"/>
                <a:ea typeface="Calibri" pitchFamily="34" charset="-122"/>
                <a:cs typeface="Calibri" pitchFamily="34" charset="-120"/>
              </a:rPr>
              <a:t>SD Classification System</a:t>
            </a:r>
            <a:endParaRPr lang="en-US" sz="850" dirty="0"/>
          </a:p>
          <a:p>
            <a:pPr marL="0" indent="0">
              <a:buNone/>
            </a:pPr>
            <a:r>
              <a:rPr lang="en-US" sz="850" dirty="0">
                <a:solidFill>
                  <a:srgbClr val="3D5166"/>
                </a:solidFill>
                <a:latin typeface="Calibri" pitchFamily="34" charset="0"/>
                <a:ea typeface="Calibri" pitchFamily="34" charset="-122"/>
                <a:cs typeface="Calibri" pitchFamily="34" charset="-120"/>
              </a:rPr>
              <a:t>SD0 – SD4 taxonomy for 5 day types with precedence rules</a:t>
            </a:r>
            <a:endParaRPr lang="en-US" sz="850" dirty="0"/>
          </a:p>
        </p:txBody>
      </p:sp>
      <p:sp>
        <p:nvSpPr>
          <p:cNvPr id="29" name="Shape 27"/>
          <p:cNvSpPr/>
          <p:nvPr/>
        </p:nvSpPr>
        <p:spPr>
          <a:xfrm>
            <a:off x="2450592" y="3913632"/>
            <a:ext cx="2029968" cy="100584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30" name="Shape 28"/>
          <p:cNvSpPr/>
          <p:nvPr/>
        </p:nvSpPr>
        <p:spPr>
          <a:xfrm>
            <a:off x="2450592" y="3913632"/>
            <a:ext cx="2029968" cy="54864"/>
          </a:xfrm>
          <a:prstGeom prst="rect">
            <a:avLst/>
          </a:prstGeom>
          <a:solidFill>
            <a:srgbClr val="F0A500"/>
          </a:solidFill>
          <a:ln w="12700">
            <a:solidFill>
              <a:srgbClr val="F0A500"/>
            </a:solidFill>
            <a:prstDash val="solid"/>
          </a:ln>
        </p:spPr>
      </p:sp>
      <p:sp>
        <p:nvSpPr>
          <p:cNvPr id="31" name="Text 29"/>
          <p:cNvSpPr/>
          <p:nvPr/>
        </p:nvSpPr>
        <p:spPr>
          <a:xfrm>
            <a:off x="2542032" y="3959352"/>
            <a:ext cx="1847088" cy="914400"/>
          </a:xfrm>
          <a:prstGeom prst="rect">
            <a:avLst/>
          </a:prstGeom>
          <a:noFill/>
          <a:ln/>
        </p:spPr>
        <p:txBody>
          <a:bodyPr wrap="square" lIns="0" tIns="0" rIns="0" bIns="0" rtlCol="0" anchor="ctr"/>
          <a:lstStyle/>
          <a:p>
            <a:pPr marL="0" indent="0">
              <a:buNone/>
            </a:pPr>
            <a:r>
              <a:rPr lang="en-US" sz="850" dirty="0">
                <a:solidFill>
                  <a:srgbClr val="3D5166"/>
                </a:solidFill>
                <a:latin typeface="Calibri" pitchFamily="34" charset="0"/>
                <a:ea typeface="Calibri" pitchFamily="34" charset="-122"/>
                <a:cs typeface="Calibri" pitchFamily="34" charset="-120"/>
              </a:rPr>
              <a:t>8 SD-Specific Features</a:t>
            </a:r>
            <a:endParaRPr lang="en-US" sz="850" dirty="0"/>
          </a:p>
          <a:p>
            <a:pPr marL="0" indent="0">
              <a:buNone/>
            </a:pPr>
            <a:r>
              <a:rPr lang="en-US" sz="850" dirty="0">
                <a:solidFill>
                  <a:srgbClr val="3D5166"/>
                </a:solidFill>
                <a:latin typeface="Calibri" pitchFamily="34" charset="0"/>
                <a:ea typeface="Calibri" pitchFamily="34" charset="-122"/>
                <a:cs typeface="Calibri" pitchFamily="34" charset="-120"/>
              </a:rPr>
              <a:t>Historical level, absolute &amp; relative change per special day</a:t>
            </a:r>
            <a:endParaRPr lang="en-US" sz="850" dirty="0"/>
          </a:p>
        </p:txBody>
      </p:sp>
      <p:sp>
        <p:nvSpPr>
          <p:cNvPr id="32" name="Shape 30"/>
          <p:cNvSpPr/>
          <p:nvPr/>
        </p:nvSpPr>
        <p:spPr>
          <a:xfrm>
            <a:off x="4626864" y="3913632"/>
            <a:ext cx="2029968" cy="100584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33" name="Shape 31"/>
          <p:cNvSpPr/>
          <p:nvPr/>
        </p:nvSpPr>
        <p:spPr>
          <a:xfrm>
            <a:off x="4626864" y="3913632"/>
            <a:ext cx="2029968" cy="54864"/>
          </a:xfrm>
          <a:prstGeom prst="rect">
            <a:avLst/>
          </a:prstGeom>
          <a:solidFill>
            <a:srgbClr val="F0A500"/>
          </a:solidFill>
          <a:ln w="12700">
            <a:solidFill>
              <a:srgbClr val="F0A500"/>
            </a:solidFill>
            <a:prstDash val="solid"/>
          </a:ln>
        </p:spPr>
      </p:sp>
      <p:sp>
        <p:nvSpPr>
          <p:cNvPr id="34" name="Text 32"/>
          <p:cNvSpPr/>
          <p:nvPr/>
        </p:nvSpPr>
        <p:spPr>
          <a:xfrm>
            <a:off x="4718304" y="3959352"/>
            <a:ext cx="1847088" cy="914400"/>
          </a:xfrm>
          <a:prstGeom prst="rect">
            <a:avLst/>
          </a:prstGeom>
          <a:noFill/>
          <a:ln/>
        </p:spPr>
        <p:txBody>
          <a:bodyPr wrap="square" lIns="0" tIns="0" rIns="0" bIns="0" rtlCol="0" anchor="ctr"/>
          <a:lstStyle/>
          <a:p>
            <a:pPr marL="0" indent="0">
              <a:buNone/>
            </a:pPr>
            <a:r>
              <a:rPr lang="en-US" sz="850" dirty="0">
                <a:solidFill>
                  <a:srgbClr val="3D5166"/>
                </a:solidFill>
                <a:latin typeface="Calibri" pitchFamily="34" charset="0"/>
                <a:ea typeface="Calibri" pitchFamily="34" charset="-122"/>
                <a:cs typeface="Calibri" pitchFamily="34" charset="-120"/>
              </a:rPr>
              <a:t>Regression → Classification</a:t>
            </a:r>
            <a:endParaRPr lang="en-US" sz="850" dirty="0"/>
          </a:p>
          <a:p>
            <a:pPr marL="0" indent="0">
              <a:buNone/>
            </a:pPr>
            <a:r>
              <a:rPr lang="en-US" sz="850" dirty="0">
                <a:solidFill>
                  <a:srgbClr val="3D5166"/>
                </a:solidFill>
                <a:latin typeface="Calibri" pitchFamily="34" charset="0"/>
                <a:ea typeface="Calibri" pitchFamily="34" charset="-122"/>
                <a:cs typeface="Calibri" pitchFamily="34" charset="-120"/>
              </a:rPr>
              <a:t>Convert forecasting into 104-class problem for density output</a:t>
            </a:r>
            <a:endParaRPr lang="en-US" sz="850" dirty="0"/>
          </a:p>
        </p:txBody>
      </p:sp>
      <p:sp>
        <p:nvSpPr>
          <p:cNvPr id="35" name="Shape 33"/>
          <p:cNvSpPr/>
          <p:nvPr/>
        </p:nvSpPr>
        <p:spPr>
          <a:xfrm>
            <a:off x="6803136" y="3913632"/>
            <a:ext cx="2029968" cy="100584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36" name="Shape 34"/>
          <p:cNvSpPr/>
          <p:nvPr/>
        </p:nvSpPr>
        <p:spPr>
          <a:xfrm>
            <a:off x="6803136" y="3913632"/>
            <a:ext cx="2029968" cy="54864"/>
          </a:xfrm>
          <a:prstGeom prst="rect">
            <a:avLst/>
          </a:prstGeom>
          <a:solidFill>
            <a:srgbClr val="F0A500"/>
          </a:solidFill>
          <a:ln w="12700">
            <a:solidFill>
              <a:srgbClr val="F0A500"/>
            </a:solidFill>
            <a:prstDash val="solid"/>
          </a:ln>
        </p:spPr>
      </p:sp>
      <p:sp>
        <p:nvSpPr>
          <p:cNvPr id="37" name="Text 35"/>
          <p:cNvSpPr/>
          <p:nvPr/>
        </p:nvSpPr>
        <p:spPr>
          <a:xfrm>
            <a:off x="6894576" y="3959352"/>
            <a:ext cx="1847088" cy="914400"/>
          </a:xfrm>
          <a:prstGeom prst="rect">
            <a:avLst/>
          </a:prstGeom>
          <a:noFill/>
          <a:ln/>
        </p:spPr>
        <p:txBody>
          <a:bodyPr wrap="square" lIns="0" tIns="0" rIns="0" bIns="0" rtlCol="0" anchor="ctr"/>
          <a:lstStyle/>
          <a:p>
            <a:pPr marL="0" indent="0">
              <a:buNone/>
            </a:pPr>
            <a:r>
              <a:rPr lang="en-US" sz="850" dirty="0">
                <a:solidFill>
                  <a:srgbClr val="3D5166"/>
                </a:solidFill>
                <a:latin typeface="Calibri" pitchFamily="34" charset="0"/>
                <a:ea typeface="Calibri" pitchFamily="34" charset="-122"/>
                <a:cs typeface="Calibri" pitchFamily="34" charset="-120"/>
              </a:rPr>
              <a:t>CL(median) Decoding</a:t>
            </a:r>
            <a:endParaRPr lang="en-US" sz="850" dirty="0"/>
          </a:p>
          <a:p>
            <a:pPr marL="0" indent="0">
              <a:buNone/>
            </a:pPr>
            <a:r>
              <a:rPr lang="en-US" sz="850" dirty="0">
                <a:solidFill>
                  <a:srgbClr val="3D5166"/>
                </a:solidFill>
                <a:latin typeface="Calibri" pitchFamily="34" charset="0"/>
                <a:ea typeface="Calibri" pitchFamily="34" charset="-122"/>
                <a:cs typeface="Calibri" pitchFamily="34" charset="-120"/>
              </a:rPr>
              <a:t>Median of predicted distribution minimises MAE — not mode</a:t>
            </a:r>
            <a:endParaRPr lang="en-US" sz="850" dirty="0"/>
          </a:p>
        </p:txBody>
      </p:sp>
      <p:sp>
        <p:nvSpPr>
          <p:cNvPr id="38" name="Text 36"/>
          <p:cNvSpPr/>
          <p:nvPr/>
        </p:nvSpPr>
        <p:spPr>
          <a:xfrm>
            <a:off x="274320" y="4892040"/>
            <a:ext cx="8595360" cy="182880"/>
          </a:xfrm>
          <a:prstGeom prst="rect">
            <a:avLst/>
          </a:prstGeom>
          <a:noFill/>
          <a:ln/>
        </p:spPr>
        <p:txBody>
          <a:bodyPr wrap="square" lIns="0" tIns="0" rIns="0" bIns="0" rtlCol="0" anchor="ctr"/>
          <a:lstStyle/>
          <a:p>
            <a:pPr marL="0" indent="0" algn="ctr">
              <a:buNone/>
            </a:pPr>
            <a:r>
              <a:rPr lang="en-US" sz="750" i="1" dirty="0">
                <a:solidFill>
                  <a:srgbClr val="8896A5"/>
                </a:solidFill>
                <a:latin typeface="Calibri" pitchFamily="34" charset="0"/>
                <a:ea typeface="Calibri" pitchFamily="34" charset="-122"/>
                <a:cs typeface="Calibri" pitchFamily="34" charset="-120"/>
              </a:rPr>
              <a:t>Implemented on Rossmann Store Sales (public Kaggle dataset) — closest publicly available proxy to the paper's private bakery dataset</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Text 1"/>
          <p:cNvSpPr/>
          <p:nvPr/>
        </p:nvSpPr>
        <p:spPr>
          <a:xfrm>
            <a:off x="274320" y="91440"/>
            <a:ext cx="77724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Dataset: Rossmann Store Sales vs Paper's Bakery Data</a:t>
            </a:r>
            <a:endParaRPr lang="en-US" sz="2000" dirty="0"/>
          </a:p>
        </p:txBody>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lgn="r">
              <a:buNone/>
            </a:pPr>
            <a:r>
              <a:rPr lang="en-US" sz="1100" i="1" dirty="0">
                <a:solidFill>
                  <a:srgbClr val="14A9AE"/>
                </a:solidFill>
                <a:latin typeface="Calibri" pitchFamily="34" charset="0"/>
                <a:ea typeface="Calibri" pitchFamily="34" charset="-122"/>
                <a:cs typeface="Calibri" pitchFamily="34" charset="-120"/>
              </a:rPr>
              <a:t>EDA &amp; Setup</a:t>
            </a:r>
            <a:endParaRPr lang="en-US" sz="1100" dirty="0"/>
          </a:p>
        </p:txBody>
      </p:sp>
      <p:sp>
        <p:nvSpPr>
          <p:cNvPr id="5" name="Shape 3"/>
          <p:cNvSpPr/>
          <p:nvPr/>
        </p:nvSpPr>
        <p:spPr>
          <a:xfrm>
            <a:off x="0" y="685800"/>
            <a:ext cx="9144000" cy="54864"/>
          </a:xfrm>
          <a:prstGeom prst="rect">
            <a:avLst/>
          </a:prstGeom>
          <a:solidFill>
            <a:srgbClr val="0D7377"/>
          </a:solidFill>
          <a:ln w="12700">
            <a:solidFill>
              <a:srgbClr val="0D7377"/>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822960"/>
          <a:ext cx="8595360" cy="2221992"/>
        </p:xfrm>
        <a:graphic>
          <a:graphicData uri="http://schemas.openxmlformats.org/drawingml/2006/table">
            <a:tbl>
              <a:tblPr/>
              <a:tblGrid>
                <a:gridCol w="192024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246888">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Property</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1A2B4A"/>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Paper (Bakery Chain)</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1A2B4A"/>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Our Implementation (Rossmann)</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0D7377"/>
                    </a:solidFill>
                  </a:tcPr>
                </a:tc>
                <a:extLst>
                  <a:ext uri="{0D108BD9-81ED-4DB2-BD59-A6C34878D82A}">
                    <a16:rowId xmlns:a16="http://schemas.microsoft.com/office/drawing/2014/main" val="10000"/>
                  </a:ext>
                </a:extLst>
              </a:tr>
              <a:tr h="246888">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Stores</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141</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1,115</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Time Series</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1,128 (store × category)</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1,115 (store level)</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Training Period</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Oct 2014 – Jan 2017 (27 months)</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Jan 2013 – Mar 2015 (27 months)</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Test Period</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Feb – Jun 2017 (5 months)</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Apr – Jun 2015 (3 months)</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4"/>
                  </a:ext>
                </a:extLst>
              </a:tr>
              <a:tr h="246888">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Total Rows (train)</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677,963</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717,307</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5"/>
                  </a:ext>
                </a:extLst>
              </a:tr>
              <a:tr h="246888">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SD1 in Test Set</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7.29% (stores open on holidays)</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0.6% (most stores CLOSED on holidays)</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6"/>
                  </a:ext>
                </a:extLst>
              </a:tr>
              <a:tr h="246888">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Product Categories</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8 (buns, bread, cakes, etc.)</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Total sales only — no category split</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7"/>
                  </a:ext>
                </a:extLst>
              </a:tr>
              <a:tr h="246888">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Holiday Calendar</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Baden-Württemberg (single region)</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l">
                        <a:buNone/>
                      </a:pPr>
                      <a:r>
                        <a:rPr lang="en-US" sz="850" dirty="0">
                          <a:solidFill>
                            <a:srgbClr val="3D5166"/>
                          </a:solidFill>
                          <a:latin typeface="Calibri" pitchFamily="34" charset="0"/>
                          <a:ea typeface="Calibri" pitchFamily="34" charset="-122"/>
                          <a:cs typeface="Calibri" pitchFamily="34" charset="-120"/>
                        </a:rPr>
                        <a:t>BW calendar applied — national stores</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 name="Shape 4"/>
          <p:cNvSpPr/>
          <p:nvPr/>
        </p:nvSpPr>
        <p:spPr>
          <a:xfrm>
            <a:off x="274320" y="3520440"/>
            <a:ext cx="4114800" cy="256032"/>
          </a:xfrm>
          <a:prstGeom prst="rect">
            <a:avLst/>
          </a:prstGeom>
          <a:solidFill>
            <a:srgbClr val="0D7377"/>
          </a:solidFill>
          <a:ln w="12700">
            <a:solidFill>
              <a:srgbClr val="0D7377"/>
            </a:solidFill>
            <a:prstDash val="solid"/>
          </a:ln>
        </p:spPr>
      </p:sp>
      <p:sp>
        <p:nvSpPr>
          <p:cNvPr id="8" name="Text 5"/>
          <p:cNvSpPr/>
          <p:nvPr/>
        </p:nvSpPr>
        <p:spPr>
          <a:xfrm>
            <a:off x="274320" y="3520440"/>
            <a:ext cx="4114800" cy="25603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SD TYPE DISTRIBUTION (OUR TEST SET)</a:t>
            </a:r>
            <a:endParaRPr lang="en-US" sz="850" dirty="0"/>
          </a:p>
        </p:txBody>
      </p:sp>
      <p:sp>
        <p:nvSpPr>
          <p:cNvPr id="9" name="Shape 6"/>
          <p:cNvSpPr/>
          <p:nvPr/>
        </p:nvSpPr>
        <p:spPr>
          <a:xfrm>
            <a:off x="274320" y="3822192"/>
            <a:ext cx="1188720" cy="192024"/>
          </a:xfrm>
          <a:prstGeom prst="rect">
            <a:avLst/>
          </a:prstGeom>
          <a:solidFill>
            <a:srgbClr val="0D7377"/>
          </a:solidFill>
          <a:ln w="12700">
            <a:solidFill>
              <a:srgbClr val="0D7377"/>
            </a:solidFill>
            <a:prstDash val="solid"/>
          </a:ln>
        </p:spPr>
      </p:sp>
      <p:sp>
        <p:nvSpPr>
          <p:cNvPr id="10" name="Text 7"/>
          <p:cNvSpPr/>
          <p:nvPr/>
        </p:nvSpPr>
        <p:spPr>
          <a:xfrm>
            <a:off x="347472" y="3822192"/>
            <a:ext cx="1097280" cy="192024"/>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SD0  Regular</a:t>
            </a:r>
            <a:endParaRPr lang="en-US" sz="800" dirty="0"/>
          </a:p>
        </p:txBody>
      </p:sp>
      <p:sp>
        <p:nvSpPr>
          <p:cNvPr id="11" name="Shape 8"/>
          <p:cNvSpPr/>
          <p:nvPr/>
        </p:nvSpPr>
        <p:spPr>
          <a:xfrm>
            <a:off x="1508760" y="3849624"/>
            <a:ext cx="1959011" cy="137160"/>
          </a:xfrm>
          <a:prstGeom prst="rect">
            <a:avLst/>
          </a:prstGeom>
          <a:solidFill>
            <a:srgbClr val="0D7377"/>
          </a:solidFill>
          <a:ln w="12700">
            <a:solidFill>
              <a:srgbClr val="0D7377"/>
            </a:solidFill>
            <a:prstDash val="solid"/>
          </a:ln>
        </p:spPr>
      </p:sp>
      <p:sp>
        <p:nvSpPr>
          <p:cNvPr id="12" name="Text 9"/>
          <p:cNvSpPr/>
          <p:nvPr/>
        </p:nvSpPr>
        <p:spPr>
          <a:xfrm>
            <a:off x="3540923" y="3822192"/>
            <a:ext cx="1645920" cy="192024"/>
          </a:xfrm>
          <a:prstGeom prst="rect">
            <a:avLst/>
          </a:prstGeom>
          <a:noFill/>
          <a:ln/>
        </p:spPr>
        <p:txBody>
          <a:bodyPr wrap="square" lIns="0" tIns="0" rIns="0" bIns="0" rtlCol="0" anchor="ctr"/>
          <a:lstStyle/>
          <a:p>
            <a:pPr marL="0" indent="0">
              <a:buNone/>
            </a:pPr>
            <a:r>
              <a:rPr lang="en-US" sz="800" dirty="0">
                <a:solidFill>
                  <a:srgbClr val="3D5166"/>
                </a:solidFill>
                <a:latin typeface="Calibri" pitchFamily="34" charset="0"/>
                <a:ea typeface="Calibri" pitchFamily="34" charset="-122"/>
                <a:cs typeface="Calibri" pitchFamily="34" charset="-120"/>
              </a:rPr>
              <a:t>82.4%  (91,776 rows)</a:t>
            </a:r>
            <a:endParaRPr lang="en-US" sz="800" dirty="0"/>
          </a:p>
        </p:txBody>
      </p:sp>
      <p:sp>
        <p:nvSpPr>
          <p:cNvPr id="13" name="Shape 10"/>
          <p:cNvSpPr/>
          <p:nvPr/>
        </p:nvSpPr>
        <p:spPr>
          <a:xfrm>
            <a:off x="274320" y="4046220"/>
            <a:ext cx="1188720" cy="192024"/>
          </a:xfrm>
          <a:prstGeom prst="rect">
            <a:avLst/>
          </a:prstGeom>
          <a:solidFill>
            <a:srgbClr val="C0392B"/>
          </a:solidFill>
          <a:ln w="12700">
            <a:solidFill>
              <a:srgbClr val="C0392B"/>
            </a:solidFill>
            <a:prstDash val="solid"/>
          </a:ln>
        </p:spPr>
      </p:sp>
      <p:sp>
        <p:nvSpPr>
          <p:cNvPr id="14" name="Text 11"/>
          <p:cNvSpPr/>
          <p:nvPr/>
        </p:nvSpPr>
        <p:spPr>
          <a:xfrm>
            <a:off x="347472" y="4046220"/>
            <a:ext cx="1097280" cy="192024"/>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SD1  Holiday</a:t>
            </a:r>
            <a:endParaRPr lang="en-US" sz="800" dirty="0"/>
          </a:p>
        </p:txBody>
      </p:sp>
      <p:sp>
        <p:nvSpPr>
          <p:cNvPr id="15" name="Shape 12"/>
          <p:cNvSpPr/>
          <p:nvPr/>
        </p:nvSpPr>
        <p:spPr>
          <a:xfrm>
            <a:off x="1508760" y="4073652"/>
            <a:ext cx="137160" cy="137160"/>
          </a:xfrm>
          <a:prstGeom prst="rect">
            <a:avLst/>
          </a:prstGeom>
          <a:solidFill>
            <a:srgbClr val="C0392B"/>
          </a:solidFill>
          <a:ln w="12700">
            <a:solidFill>
              <a:srgbClr val="C0392B"/>
            </a:solidFill>
            <a:prstDash val="solid"/>
          </a:ln>
        </p:spPr>
      </p:sp>
      <p:sp>
        <p:nvSpPr>
          <p:cNvPr id="16" name="Text 13"/>
          <p:cNvSpPr/>
          <p:nvPr/>
        </p:nvSpPr>
        <p:spPr>
          <a:xfrm>
            <a:off x="1719072" y="4046220"/>
            <a:ext cx="1645920" cy="192024"/>
          </a:xfrm>
          <a:prstGeom prst="rect">
            <a:avLst/>
          </a:prstGeom>
          <a:noFill/>
          <a:ln/>
        </p:spPr>
        <p:txBody>
          <a:bodyPr wrap="square" lIns="0" tIns="0" rIns="0" bIns="0" rtlCol="0" anchor="ctr"/>
          <a:lstStyle/>
          <a:p>
            <a:pPr marL="0" indent="0">
              <a:buNone/>
            </a:pPr>
            <a:r>
              <a:rPr lang="en-US" sz="800" dirty="0">
                <a:solidFill>
                  <a:srgbClr val="3D5166"/>
                </a:solidFill>
                <a:latin typeface="Calibri" pitchFamily="34" charset="0"/>
                <a:ea typeface="Calibri" pitchFamily="34" charset="-122"/>
                <a:cs typeface="Calibri" pitchFamily="34" charset="-120"/>
              </a:rPr>
              <a:t>0.6%  (630 rows)</a:t>
            </a:r>
            <a:endParaRPr lang="en-US" sz="800" dirty="0"/>
          </a:p>
        </p:txBody>
      </p:sp>
      <p:sp>
        <p:nvSpPr>
          <p:cNvPr id="17" name="Shape 14"/>
          <p:cNvSpPr/>
          <p:nvPr/>
        </p:nvSpPr>
        <p:spPr>
          <a:xfrm>
            <a:off x="274320" y="4270248"/>
            <a:ext cx="1188720" cy="192024"/>
          </a:xfrm>
          <a:prstGeom prst="rect">
            <a:avLst/>
          </a:prstGeom>
          <a:solidFill>
            <a:srgbClr val="F0A500"/>
          </a:solidFill>
          <a:ln w="12700">
            <a:solidFill>
              <a:srgbClr val="F0A500"/>
            </a:solidFill>
            <a:prstDash val="solid"/>
          </a:ln>
        </p:spPr>
      </p:sp>
      <p:sp>
        <p:nvSpPr>
          <p:cNvPr id="18" name="Text 15"/>
          <p:cNvSpPr/>
          <p:nvPr/>
        </p:nvSpPr>
        <p:spPr>
          <a:xfrm>
            <a:off x="347472" y="4270248"/>
            <a:ext cx="1097280" cy="192024"/>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SD2  Day Before</a:t>
            </a:r>
            <a:endParaRPr lang="en-US" sz="800" dirty="0"/>
          </a:p>
        </p:txBody>
      </p:sp>
      <p:sp>
        <p:nvSpPr>
          <p:cNvPr id="19" name="Shape 16"/>
          <p:cNvSpPr/>
          <p:nvPr/>
        </p:nvSpPr>
        <p:spPr>
          <a:xfrm>
            <a:off x="1508760" y="4297680"/>
            <a:ext cx="142646" cy="137160"/>
          </a:xfrm>
          <a:prstGeom prst="rect">
            <a:avLst/>
          </a:prstGeom>
          <a:solidFill>
            <a:srgbClr val="F0A500"/>
          </a:solidFill>
          <a:ln w="12700">
            <a:solidFill>
              <a:srgbClr val="F0A500"/>
            </a:solidFill>
            <a:prstDash val="solid"/>
          </a:ln>
        </p:spPr>
      </p:sp>
      <p:sp>
        <p:nvSpPr>
          <p:cNvPr id="20" name="Text 17"/>
          <p:cNvSpPr/>
          <p:nvPr/>
        </p:nvSpPr>
        <p:spPr>
          <a:xfrm>
            <a:off x="1724558" y="4270248"/>
            <a:ext cx="1645920" cy="192024"/>
          </a:xfrm>
          <a:prstGeom prst="rect">
            <a:avLst/>
          </a:prstGeom>
          <a:noFill/>
          <a:ln/>
        </p:spPr>
        <p:txBody>
          <a:bodyPr wrap="square" lIns="0" tIns="0" rIns="0" bIns="0" rtlCol="0" anchor="ctr"/>
          <a:lstStyle/>
          <a:p>
            <a:pPr marL="0" indent="0">
              <a:buNone/>
            </a:pPr>
            <a:r>
              <a:rPr lang="en-US" sz="800" dirty="0">
                <a:solidFill>
                  <a:srgbClr val="3D5166"/>
                </a:solidFill>
                <a:latin typeface="Calibri" pitchFamily="34" charset="0"/>
                <a:ea typeface="Calibri" pitchFamily="34" charset="-122"/>
                <a:cs typeface="Calibri" pitchFamily="34" charset="-120"/>
              </a:rPr>
              <a:t>6.0%  (6,688 rows)</a:t>
            </a:r>
            <a:endParaRPr lang="en-US" sz="800" dirty="0"/>
          </a:p>
        </p:txBody>
      </p:sp>
      <p:sp>
        <p:nvSpPr>
          <p:cNvPr id="21" name="Shape 18"/>
          <p:cNvSpPr/>
          <p:nvPr/>
        </p:nvSpPr>
        <p:spPr>
          <a:xfrm>
            <a:off x="274320" y="4494276"/>
            <a:ext cx="1188720" cy="192024"/>
          </a:xfrm>
          <a:prstGeom prst="rect">
            <a:avLst/>
          </a:prstGeom>
          <a:solidFill>
            <a:srgbClr val="5B8F6A"/>
          </a:solidFill>
          <a:ln w="12700">
            <a:solidFill>
              <a:srgbClr val="5B8F6A"/>
            </a:solidFill>
            <a:prstDash val="solid"/>
          </a:ln>
        </p:spPr>
      </p:sp>
      <p:sp>
        <p:nvSpPr>
          <p:cNvPr id="22" name="Text 19"/>
          <p:cNvSpPr/>
          <p:nvPr/>
        </p:nvSpPr>
        <p:spPr>
          <a:xfrm>
            <a:off x="347472" y="4494276"/>
            <a:ext cx="1097280" cy="192024"/>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SD3  Day After</a:t>
            </a:r>
            <a:endParaRPr lang="en-US" sz="800" dirty="0"/>
          </a:p>
        </p:txBody>
      </p:sp>
      <p:sp>
        <p:nvSpPr>
          <p:cNvPr id="23" name="Shape 20"/>
          <p:cNvSpPr/>
          <p:nvPr/>
        </p:nvSpPr>
        <p:spPr>
          <a:xfrm>
            <a:off x="1508760" y="4521708"/>
            <a:ext cx="137160" cy="137160"/>
          </a:xfrm>
          <a:prstGeom prst="rect">
            <a:avLst/>
          </a:prstGeom>
          <a:solidFill>
            <a:srgbClr val="5B8F6A"/>
          </a:solidFill>
          <a:ln w="12700">
            <a:solidFill>
              <a:srgbClr val="5B8F6A"/>
            </a:solidFill>
            <a:prstDash val="solid"/>
          </a:ln>
        </p:spPr>
      </p:sp>
      <p:sp>
        <p:nvSpPr>
          <p:cNvPr id="24" name="Text 21"/>
          <p:cNvSpPr/>
          <p:nvPr/>
        </p:nvSpPr>
        <p:spPr>
          <a:xfrm>
            <a:off x="1719072" y="4494276"/>
            <a:ext cx="1645920" cy="192024"/>
          </a:xfrm>
          <a:prstGeom prst="rect">
            <a:avLst/>
          </a:prstGeom>
          <a:noFill/>
          <a:ln/>
        </p:spPr>
        <p:txBody>
          <a:bodyPr wrap="square" lIns="0" tIns="0" rIns="0" bIns="0" rtlCol="0" anchor="ctr"/>
          <a:lstStyle/>
          <a:p>
            <a:pPr marL="0" indent="0">
              <a:buNone/>
            </a:pPr>
            <a:r>
              <a:rPr lang="en-US" sz="800" dirty="0">
                <a:solidFill>
                  <a:srgbClr val="3D5166"/>
                </a:solidFill>
                <a:latin typeface="Calibri" pitchFamily="34" charset="0"/>
                <a:ea typeface="Calibri" pitchFamily="34" charset="-122"/>
                <a:cs typeface="Calibri" pitchFamily="34" charset="-120"/>
              </a:rPr>
              <a:t>5.0%  (5,574 rows)</a:t>
            </a:r>
            <a:endParaRPr lang="en-US" sz="800" dirty="0"/>
          </a:p>
        </p:txBody>
      </p:sp>
      <p:sp>
        <p:nvSpPr>
          <p:cNvPr id="25" name="Shape 22"/>
          <p:cNvSpPr/>
          <p:nvPr/>
        </p:nvSpPr>
        <p:spPr>
          <a:xfrm>
            <a:off x="274320" y="4718304"/>
            <a:ext cx="1188720" cy="192024"/>
          </a:xfrm>
          <a:prstGeom prst="rect">
            <a:avLst/>
          </a:prstGeom>
          <a:solidFill>
            <a:srgbClr val="8896A5"/>
          </a:solidFill>
          <a:ln w="12700">
            <a:solidFill>
              <a:srgbClr val="8896A5"/>
            </a:solidFill>
            <a:prstDash val="solid"/>
          </a:ln>
        </p:spPr>
      </p:sp>
      <p:sp>
        <p:nvSpPr>
          <p:cNvPr id="26" name="Text 23"/>
          <p:cNvSpPr/>
          <p:nvPr/>
        </p:nvSpPr>
        <p:spPr>
          <a:xfrm>
            <a:off x="347472" y="4718304"/>
            <a:ext cx="1097280" cy="192024"/>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SD4  Week After</a:t>
            </a:r>
            <a:endParaRPr lang="en-US" sz="800" dirty="0"/>
          </a:p>
        </p:txBody>
      </p:sp>
      <p:sp>
        <p:nvSpPr>
          <p:cNvPr id="27" name="Shape 24"/>
          <p:cNvSpPr/>
          <p:nvPr/>
        </p:nvSpPr>
        <p:spPr>
          <a:xfrm>
            <a:off x="1508760" y="4745736"/>
            <a:ext cx="145024" cy="137160"/>
          </a:xfrm>
          <a:prstGeom prst="rect">
            <a:avLst/>
          </a:prstGeom>
          <a:solidFill>
            <a:srgbClr val="8896A5"/>
          </a:solidFill>
          <a:ln w="12700">
            <a:solidFill>
              <a:srgbClr val="8896A5"/>
            </a:solidFill>
            <a:prstDash val="solid"/>
          </a:ln>
        </p:spPr>
      </p:sp>
      <p:sp>
        <p:nvSpPr>
          <p:cNvPr id="28" name="Text 25"/>
          <p:cNvSpPr/>
          <p:nvPr/>
        </p:nvSpPr>
        <p:spPr>
          <a:xfrm>
            <a:off x="1726936" y="4718304"/>
            <a:ext cx="1645920" cy="192024"/>
          </a:xfrm>
          <a:prstGeom prst="rect">
            <a:avLst/>
          </a:prstGeom>
          <a:noFill/>
          <a:ln/>
        </p:spPr>
        <p:txBody>
          <a:bodyPr wrap="square" lIns="0" tIns="0" rIns="0" bIns="0" rtlCol="0" anchor="ctr"/>
          <a:lstStyle/>
          <a:p>
            <a:pPr marL="0" indent="0">
              <a:buNone/>
            </a:pPr>
            <a:r>
              <a:rPr lang="en-US" sz="800" dirty="0">
                <a:solidFill>
                  <a:srgbClr val="3D5166"/>
                </a:solidFill>
                <a:latin typeface="Calibri" pitchFamily="34" charset="0"/>
                <a:ea typeface="Calibri" pitchFamily="34" charset="-122"/>
                <a:cs typeface="Calibri" pitchFamily="34" charset="-120"/>
              </a:rPr>
              <a:t>6.1%  (6,753 rows)</a:t>
            </a:r>
            <a:endParaRPr lang="en-US" sz="800" dirty="0"/>
          </a:p>
        </p:txBody>
      </p:sp>
      <p:sp>
        <p:nvSpPr>
          <p:cNvPr id="29" name="Shape 26"/>
          <p:cNvSpPr/>
          <p:nvPr/>
        </p:nvSpPr>
        <p:spPr>
          <a:xfrm>
            <a:off x="4617720" y="3520440"/>
            <a:ext cx="4251960" cy="1417320"/>
          </a:xfrm>
          <a:prstGeom prst="rect">
            <a:avLst/>
          </a:prstGeom>
          <a:solidFill>
            <a:srgbClr val="FFF8E7"/>
          </a:solidFill>
          <a:ln w="12700">
            <a:solidFill>
              <a:srgbClr val="F0A500"/>
            </a:solidFill>
            <a:prstDash val="solid"/>
          </a:ln>
        </p:spPr>
      </p:sp>
      <p:sp>
        <p:nvSpPr>
          <p:cNvPr id="30" name="Shape 27"/>
          <p:cNvSpPr/>
          <p:nvPr/>
        </p:nvSpPr>
        <p:spPr>
          <a:xfrm>
            <a:off x="4617720" y="3520440"/>
            <a:ext cx="4251960" cy="256032"/>
          </a:xfrm>
          <a:prstGeom prst="rect">
            <a:avLst/>
          </a:prstGeom>
          <a:solidFill>
            <a:srgbClr val="F0A500"/>
          </a:solidFill>
          <a:ln w="12700">
            <a:solidFill>
              <a:srgbClr val="F0A500"/>
            </a:solidFill>
            <a:prstDash val="solid"/>
          </a:ln>
        </p:spPr>
      </p:sp>
      <p:sp>
        <p:nvSpPr>
          <p:cNvPr id="31" name="Text 28"/>
          <p:cNvSpPr/>
          <p:nvPr/>
        </p:nvSpPr>
        <p:spPr>
          <a:xfrm>
            <a:off x="4617720" y="3520440"/>
            <a:ext cx="4251960" cy="256032"/>
          </a:xfrm>
          <a:prstGeom prst="rect">
            <a:avLst/>
          </a:prstGeom>
          <a:noFill/>
          <a:ln/>
        </p:spPr>
        <p:txBody>
          <a:bodyPr wrap="square" lIns="0" tIns="0" rIns="0" bIns="0" rtlCol="0" anchor="ctr"/>
          <a:lstStyle/>
          <a:p>
            <a:pPr marL="0" indent="0" algn="ctr">
              <a:buNone/>
            </a:pPr>
            <a:r>
              <a:rPr lang="en-US" sz="900" b="1" dirty="0">
                <a:solidFill>
                  <a:srgbClr val="1A2B4A"/>
                </a:solidFill>
                <a:latin typeface="Calibri" pitchFamily="34" charset="0"/>
                <a:ea typeface="Calibri" pitchFamily="34" charset="-122"/>
                <a:cs typeface="Calibri" pitchFamily="34" charset="-120"/>
              </a:rPr>
              <a:t>⚠  KEY DIFFERENCE TO PAPER</a:t>
            </a:r>
            <a:endParaRPr lang="en-US" sz="900" dirty="0"/>
          </a:p>
        </p:txBody>
      </p:sp>
      <p:sp>
        <p:nvSpPr>
          <p:cNvPr id="32" name="Text 29"/>
          <p:cNvSpPr/>
          <p:nvPr/>
        </p:nvSpPr>
        <p:spPr>
          <a:xfrm>
            <a:off x="4709160" y="3813048"/>
            <a:ext cx="4069080" cy="1051560"/>
          </a:xfrm>
          <a:prstGeom prst="rect">
            <a:avLst/>
          </a:prstGeom>
          <a:noFill/>
          <a:ln/>
        </p:spPr>
        <p:txBody>
          <a:bodyPr wrap="square" lIns="0" tIns="0" rIns="0" bIns="0" rtlCol="0" anchor="t"/>
          <a:lstStyle/>
          <a:p>
            <a:pPr marL="0" indent="0">
              <a:buNone/>
            </a:pPr>
            <a:r>
              <a:rPr lang="en-US" sz="850" dirty="0">
                <a:solidFill>
                  <a:srgbClr val="7A5500"/>
                </a:solidFill>
                <a:latin typeface="Calibri" pitchFamily="34" charset="0"/>
                <a:ea typeface="Calibri" pitchFamily="34" charset="-122"/>
                <a:cs typeface="Calibri" pitchFamily="34" charset="-120"/>
              </a:rPr>
              <a:t>SD1 is only 0.6% in our test set because most Rossmann stores CLOSE on German public holidays — creating very sparse holiday evaluation. The paper's bakery keeps most stores open, giving 7.29% SD1 rows. This explains why our SD1 results show higher variance. Our German holiday calendar was computed from scratch using the Easter algorithm — NOT from Rossmann's StateHoliday column.</a:t>
            </a:r>
            <a:endParaRPr lang="en-US" sz="850" dirty="0"/>
          </a:p>
        </p:txBody>
      </p:sp>
      <p:sp>
        <p:nvSpPr>
          <p:cNvPr id="33" name="Shape 30"/>
          <p:cNvSpPr/>
          <p:nvPr/>
        </p:nvSpPr>
        <p:spPr>
          <a:xfrm>
            <a:off x="274320" y="4942332"/>
            <a:ext cx="8595360" cy="201168"/>
          </a:xfrm>
          <a:prstGeom prst="rect">
            <a:avLst/>
          </a:prstGeom>
          <a:solidFill>
            <a:srgbClr val="1A2B4A"/>
          </a:solidFill>
          <a:ln w="12700">
            <a:solidFill>
              <a:srgbClr val="1A2B4A"/>
            </a:solidFill>
            <a:prstDash val="solid"/>
          </a:ln>
        </p:spPr>
        <p:txBody>
          <a:bodyPr/>
          <a:lstStyle/>
          <a:p>
            <a:endParaRPr lang="en-IN" dirty="0"/>
          </a:p>
        </p:txBody>
      </p:sp>
      <p:sp>
        <p:nvSpPr>
          <p:cNvPr id="34" name="Text 31"/>
          <p:cNvSpPr/>
          <p:nvPr/>
        </p:nvSpPr>
        <p:spPr>
          <a:xfrm>
            <a:off x="274320" y="4945380"/>
            <a:ext cx="8595360" cy="201168"/>
          </a:xfrm>
          <a:prstGeom prst="rect">
            <a:avLst/>
          </a:prstGeom>
          <a:noFill/>
          <a:ln/>
        </p:spPr>
        <p:txBody>
          <a:bodyPr wrap="square" lIns="0" tIns="0" rIns="0" bIns="0" rtlCol="0" anchor="ctr"/>
          <a:lstStyle/>
          <a:p>
            <a:pPr marL="0" indent="0" algn="ctr">
              <a:buNone/>
            </a:pPr>
            <a:r>
              <a:rPr lang="en-US" sz="750" dirty="0">
                <a:solidFill>
                  <a:srgbClr val="14A9AE"/>
                </a:solidFill>
                <a:latin typeface="Calibri" pitchFamily="34" charset="0"/>
                <a:ea typeface="Calibri" pitchFamily="34" charset="-122"/>
                <a:cs typeface="Calibri" pitchFamily="34" charset="-120"/>
              </a:rPr>
              <a:t>Filtering: Removed Open=0 and Sales=0 rows (closed stores) | Test period contains Easter, Ascension, Whit Monday, Labour Day</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Text 1"/>
          <p:cNvSpPr/>
          <p:nvPr/>
        </p:nvSpPr>
        <p:spPr>
          <a:xfrm>
            <a:off x="274320" y="91440"/>
            <a:ext cx="77724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Project Pipeline Architecture</a:t>
            </a:r>
            <a:endParaRPr lang="en-US" sz="2000" dirty="0"/>
          </a:p>
        </p:txBody>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lgn="r">
              <a:buNone/>
            </a:pPr>
            <a:r>
              <a:rPr lang="en-US" sz="1100" i="1" dirty="0">
                <a:solidFill>
                  <a:srgbClr val="14A9AE"/>
                </a:solidFill>
                <a:latin typeface="Calibri" pitchFamily="34" charset="0"/>
                <a:ea typeface="Calibri" pitchFamily="34" charset="-122"/>
                <a:cs typeface="Calibri" pitchFamily="34" charset="-120"/>
              </a:rPr>
              <a:t>End-to-End Flow: Data → Models → Evaluation</a:t>
            </a:r>
            <a:endParaRPr lang="en-US" sz="1100" dirty="0"/>
          </a:p>
        </p:txBody>
      </p:sp>
      <p:sp>
        <p:nvSpPr>
          <p:cNvPr id="5" name="Shape 3"/>
          <p:cNvSpPr/>
          <p:nvPr/>
        </p:nvSpPr>
        <p:spPr>
          <a:xfrm>
            <a:off x="0" y="685800"/>
            <a:ext cx="9144000" cy="54864"/>
          </a:xfrm>
          <a:prstGeom prst="rect">
            <a:avLst/>
          </a:prstGeom>
          <a:solidFill>
            <a:srgbClr val="0D7377"/>
          </a:solidFill>
          <a:ln w="12700">
            <a:solidFill>
              <a:srgbClr val="0D7377"/>
            </a:solidFill>
            <a:prstDash val="solid"/>
          </a:ln>
        </p:spPr>
      </p:sp>
      <p:sp>
        <p:nvSpPr>
          <p:cNvPr id="6" name="Shape 4"/>
          <p:cNvSpPr/>
          <p:nvPr/>
        </p:nvSpPr>
        <p:spPr>
          <a:xfrm>
            <a:off x="274320" y="822960"/>
            <a:ext cx="1600200" cy="1188720"/>
          </a:xfrm>
          <a:prstGeom prst="rect">
            <a:avLst/>
          </a:prstGeom>
          <a:solidFill>
            <a:srgbClr val="1A2B4A"/>
          </a:solidFill>
          <a:ln w="12700">
            <a:solidFill>
              <a:srgbClr val="1A2B4A"/>
            </a:solidFill>
            <a:prstDash val="solid"/>
          </a:ln>
          <a:effectLst>
            <a:outerShdw blurRad="76200" dist="25400" dir="8100000" algn="bl" rotWithShape="0">
              <a:srgbClr val="000000">
                <a:alpha val="12000"/>
              </a:srgbClr>
            </a:outerShdw>
          </a:effectLst>
        </p:spPr>
      </p:sp>
      <p:sp>
        <p:nvSpPr>
          <p:cNvPr id="7" name="Text 5"/>
          <p:cNvSpPr/>
          <p:nvPr/>
        </p:nvSpPr>
        <p:spPr>
          <a:xfrm>
            <a:off x="274320" y="822960"/>
            <a:ext cx="16002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 Raw Data</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Load</a:t>
            </a:r>
            <a:endParaRPr lang="en-US" sz="1000" dirty="0"/>
          </a:p>
        </p:txBody>
      </p:sp>
      <p:sp>
        <p:nvSpPr>
          <p:cNvPr id="8" name="Shape 6"/>
          <p:cNvSpPr/>
          <p:nvPr/>
        </p:nvSpPr>
        <p:spPr>
          <a:xfrm>
            <a:off x="320040" y="1298448"/>
            <a:ext cx="1508760" cy="658368"/>
          </a:xfrm>
          <a:prstGeom prst="rect">
            <a:avLst/>
          </a:prstGeom>
          <a:solidFill>
            <a:srgbClr val="FFFFFF">
              <a:alpha val="90000"/>
            </a:srgbClr>
          </a:solidFill>
          <a:ln w="12700">
            <a:solidFill>
              <a:srgbClr val="FFFFFF">
                <a:alpha val="70000"/>
              </a:srgbClr>
            </a:solidFill>
            <a:prstDash val="solid"/>
          </a:ln>
        </p:spPr>
        <p:txBody>
          <a:bodyPr/>
          <a:lstStyle/>
          <a:p>
            <a:endParaRPr lang="en-IN" dirty="0"/>
          </a:p>
        </p:txBody>
      </p:sp>
      <p:sp>
        <p:nvSpPr>
          <p:cNvPr id="9" name="Text 7"/>
          <p:cNvSpPr/>
          <p:nvPr/>
        </p:nvSpPr>
        <p:spPr>
          <a:xfrm>
            <a:off x="320040" y="1298448"/>
            <a:ext cx="1508760" cy="658368"/>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train.csv</a:t>
            </a:r>
            <a:endParaRPr lang="en-US" sz="1200" b="1" dirty="0"/>
          </a:p>
          <a:p>
            <a:pPr marL="0" indent="0" algn="ctr">
              <a:buNone/>
            </a:pPr>
            <a:r>
              <a:rPr lang="en-US" sz="1200" b="1" dirty="0">
                <a:latin typeface="Calibri" pitchFamily="34" charset="0"/>
                <a:ea typeface="Calibri" pitchFamily="34" charset="-122"/>
                <a:cs typeface="Calibri" pitchFamily="34" charset="-120"/>
              </a:rPr>
              <a:t>store.csv</a:t>
            </a:r>
            <a:endParaRPr lang="en-US" sz="1200" b="1" dirty="0"/>
          </a:p>
          <a:p>
            <a:pPr marL="0" indent="0" algn="ctr">
              <a:buNone/>
            </a:pPr>
            <a:r>
              <a:rPr lang="en-US" sz="1200" b="1" dirty="0">
                <a:latin typeface="Calibri" pitchFamily="34" charset="0"/>
                <a:ea typeface="Calibri" pitchFamily="34" charset="-122"/>
                <a:cs typeface="Calibri" pitchFamily="34" charset="-120"/>
              </a:rPr>
              <a:t>844K rows</a:t>
            </a:r>
            <a:endParaRPr lang="en-US" sz="1200" b="1" dirty="0"/>
          </a:p>
        </p:txBody>
      </p:sp>
      <p:sp>
        <p:nvSpPr>
          <p:cNvPr id="10" name="Shape 8"/>
          <p:cNvSpPr/>
          <p:nvPr/>
        </p:nvSpPr>
        <p:spPr>
          <a:xfrm>
            <a:off x="1874520" y="1417320"/>
            <a:ext cx="155448" cy="0"/>
          </a:xfrm>
          <a:prstGeom prst="line">
            <a:avLst/>
          </a:prstGeom>
          <a:noFill/>
          <a:ln w="25400">
            <a:solidFill>
              <a:srgbClr val="1A2B4A"/>
            </a:solidFill>
            <a:prstDash val="solid"/>
          </a:ln>
        </p:spPr>
      </p:sp>
      <p:sp>
        <p:nvSpPr>
          <p:cNvPr id="11" name="Shape 9"/>
          <p:cNvSpPr/>
          <p:nvPr/>
        </p:nvSpPr>
        <p:spPr>
          <a:xfrm>
            <a:off x="2029968" y="822960"/>
            <a:ext cx="1600200" cy="1188720"/>
          </a:xfrm>
          <a:prstGeom prst="rect">
            <a:avLst/>
          </a:prstGeom>
          <a:solidFill>
            <a:srgbClr val="0D7377"/>
          </a:solidFill>
          <a:ln w="12700">
            <a:solidFill>
              <a:srgbClr val="0D7377"/>
            </a:solidFill>
            <a:prstDash val="solid"/>
          </a:ln>
          <a:effectLst>
            <a:outerShdw blurRad="76200" dist="25400" dir="8100000" algn="bl" rotWithShape="0">
              <a:srgbClr val="000000">
                <a:alpha val="12000"/>
              </a:srgbClr>
            </a:outerShdw>
          </a:effectLst>
        </p:spPr>
      </p:sp>
      <p:sp>
        <p:nvSpPr>
          <p:cNvPr id="12" name="Text 10"/>
          <p:cNvSpPr/>
          <p:nvPr/>
        </p:nvSpPr>
        <p:spPr>
          <a:xfrm>
            <a:off x="2029968" y="822960"/>
            <a:ext cx="16002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 Day</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Classifier</a:t>
            </a:r>
            <a:endParaRPr lang="en-US" sz="1000" dirty="0"/>
          </a:p>
        </p:txBody>
      </p:sp>
      <p:sp>
        <p:nvSpPr>
          <p:cNvPr id="13" name="Shape 11"/>
          <p:cNvSpPr/>
          <p:nvPr/>
        </p:nvSpPr>
        <p:spPr>
          <a:xfrm>
            <a:off x="2075688" y="1298448"/>
            <a:ext cx="1508760" cy="658368"/>
          </a:xfrm>
          <a:prstGeom prst="rect">
            <a:avLst/>
          </a:prstGeom>
          <a:solidFill>
            <a:srgbClr val="FFFFFF">
              <a:alpha val="90000"/>
            </a:srgbClr>
          </a:solidFill>
          <a:ln w="12700">
            <a:solidFill>
              <a:srgbClr val="FFFFFF">
                <a:alpha val="70000"/>
              </a:srgbClr>
            </a:solidFill>
            <a:prstDash val="solid"/>
          </a:ln>
        </p:spPr>
      </p:sp>
      <p:sp>
        <p:nvSpPr>
          <p:cNvPr id="14" name="Text 12"/>
          <p:cNvSpPr/>
          <p:nvPr/>
        </p:nvSpPr>
        <p:spPr>
          <a:xfrm>
            <a:off x="2075688" y="1298448"/>
            <a:ext cx="1508760" cy="658368"/>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SD0–SD4</a:t>
            </a:r>
            <a:endParaRPr lang="en-US" sz="1200" b="1" dirty="0"/>
          </a:p>
          <a:p>
            <a:pPr marL="0" indent="0" algn="ctr">
              <a:buNone/>
            </a:pPr>
            <a:r>
              <a:rPr lang="en-US" sz="1200" b="1" dirty="0">
                <a:latin typeface="Calibri" pitchFamily="34" charset="0"/>
                <a:ea typeface="Calibri" pitchFamily="34" charset="-122"/>
                <a:cs typeface="Calibri" pitchFamily="34" charset="-120"/>
              </a:rPr>
              <a:t>German Calendar</a:t>
            </a:r>
            <a:endParaRPr lang="en-US" sz="1200" b="1" dirty="0"/>
          </a:p>
          <a:p>
            <a:pPr marL="0" indent="0" algn="ctr">
              <a:buNone/>
            </a:pPr>
            <a:r>
              <a:rPr lang="en-US" sz="1200" b="1" dirty="0">
                <a:latin typeface="Calibri" pitchFamily="34" charset="0"/>
                <a:ea typeface="Calibri" pitchFamily="34" charset="-122"/>
                <a:cs typeface="Calibri" pitchFamily="34" charset="-120"/>
              </a:rPr>
              <a:t>Easter Algorithm</a:t>
            </a:r>
            <a:endParaRPr lang="en-US" sz="1200" b="1" dirty="0"/>
          </a:p>
        </p:txBody>
      </p:sp>
      <p:sp>
        <p:nvSpPr>
          <p:cNvPr id="15" name="Shape 13"/>
          <p:cNvSpPr/>
          <p:nvPr/>
        </p:nvSpPr>
        <p:spPr>
          <a:xfrm>
            <a:off x="3630168" y="1417320"/>
            <a:ext cx="155448" cy="0"/>
          </a:xfrm>
          <a:prstGeom prst="line">
            <a:avLst/>
          </a:prstGeom>
          <a:noFill/>
          <a:ln w="25400">
            <a:solidFill>
              <a:srgbClr val="1A2B4A"/>
            </a:solidFill>
            <a:prstDash val="solid"/>
          </a:ln>
        </p:spPr>
      </p:sp>
      <p:sp>
        <p:nvSpPr>
          <p:cNvPr id="16" name="Shape 14"/>
          <p:cNvSpPr/>
          <p:nvPr/>
        </p:nvSpPr>
        <p:spPr>
          <a:xfrm>
            <a:off x="3785616" y="822960"/>
            <a:ext cx="1600200" cy="1188720"/>
          </a:xfrm>
          <a:prstGeom prst="rect">
            <a:avLst/>
          </a:prstGeom>
          <a:solidFill>
            <a:srgbClr val="0A5C72"/>
          </a:solidFill>
          <a:ln w="12700">
            <a:solidFill>
              <a:srgbClr val="0A5C72"/>
            </a:solidFill>
            <a:prstDash val="solid"/>
          </a:ln>
          <a:effectLst>
            <a:outerShdw blurRad="76200" dist="25400" dir="8100000" algn="bl" rotWithShape="0">
              <a:srgbClr val="000000">
                <a:alpha val="12000"/>
              </a:srgbClr>
            </a:outerShdw>
          </a:effectLst>
        </p:spPr>
      </p:sp>
      <p:sp>
        <p:nvSpPr>
          <p:cNvPr id="17" name="Text 15"/>
          <p:cNvSpPr/>
          <p:nvPr/>
        </p:nvSpPr>
        <p:spPr>
          <a:xfrm>
            <a:off x="3785616" y="822960"/>
            <a:ext cx="16002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 Feature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Engineering</a:t>
            </a:r>
            <a:endParaRPr lang="en-US" sz="1000" dirty="0"/>
          </a:p>
        </p:txBody>
      </p:sp>
      <p:sp>
        <p:nvSpPr>
          <p:cNvPr id="18" name="Shape 16"/>
          <p:cNvSpPr/>
          <p:nvPr/>
        </p:nvSpPr>
        <p:spPr>
          <a:xfrm>
            <a:off x="3831336" y="1298448"/>
            <a:ext cx="1508760" cy="658368"/>
          </a:xfrm>
          <a:prstGeom prst="rect">
            <a:avLst/>
          </a:prstGeom>
          <a:solidFill>
            <a:srgbClr val="FFFFFF">
              <a:alpha val="90000"/>
            </a:srgbClr>
          </a:solidFill>
          <a:ln w="12700">
            <a:solidFill>
              <a:srgbClr val="FFFFFF">
                <a:alpha val="70000"/>
              </a:srgbClr>
            </a:solidFill>
            <a:prstDash val="solid"/>
          </a:ln>
        </p:spPr>
      </p:sp>
      <p:sp>
        <p:nvSpPr>
          <p:cNvPr id="19" name="Text 17"/>
          <p:cNvSpPr/>
          <p:nvPr/>
        </p:nvSpPr>
        <p:spPr>
          <a:xfrm>
            <a:off x="3831336" y="1298448"/>
            <a:ext cx="1508760" cy="658368"/>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42 features</a:t>
            </a:r>
            <a:endParaRPr lang="en-US" sz="1200" b="1" dirty="0"/>
          </a:p>
          <a:p>
            <a:pPr marL="0" indent="0" algn="ctr">
              <a:buNone/>
            </a:pPr>
            <a:r>
              <a:rPr lang="en-US" sz="1200" b="1" dirty="0">
                <a:latin typeface="Calibri" pitchFamily="34" charset="0"/>
                <a:ea typeface="Calibri" pitchFamily="34" charset="-122"/>
                <a:cs typeface="Calibri" pitchFamily="34" charset="-120"/>
              </a:rPr>
              <a:t>8 SD-specific</a:t>
            </a:r>
            <a:endParaRPr lang="en-US" sz="1200" b="1" dirty="0"/>
          </a:p>
          <a:p>
            <a:pPr marL="0" indent="0" algn="ctr">
              <a:buNone/>
            </a:pPr>
            <a:r>
              <a:rPr lang="en-US" sz="1200" b="1" dirty="0">
                <a:latin typeface="Calibri" pitchFamily="34" charset="0"/>
                <a:ea typeface="Calibri" pitchFamily="34" charset="-122"/>
                <a:cs typeface="Calibri" pitchFamily="34" charset="-120"/>
              </a:rPr>
              <a:t>Lag, calendar</a:t>
            </a:r>
            <a:endParaRPr lang="en-US" sz="1200" b="1" dirty="0"/>
          </a:p>
        </p:txBody>
      </p:sp>
      <p:sp>
        <p:nvSpPr>
          <p:cNvPr id="20" name="Shape 18"/>
          <p:cNvSpPr/>
          <p:nvPr/>
        </p:nvSpPr>
        <p:spPr>
          <a:xfrm>
            <a:off x="5385816" y="1417320"/>
            <a:ext cx="155448" cy="0"/>
          </a:xfrm>
          <a:prstGeom prst="line">
            <a:avLst/>
          </a:prstGeom>
          <a:noFill/>
          <a:ln w="25400">
            <a:solidFill>
              <a:srgbClr val="1A2B4A"/>
            </a:solidFill>
            <a:prstDash val="solid"/>
          </a:ln>
        </p:spPr>
      </p:sp>
      <p:sp>
        <p:nvSpPr>
          <p:cNvPr id="21" name="Shape 19"/>
          <p:cNvSpPr/>
          <p:nvPr/>
        </p:nvSpPr>
        <p:spPr>
          <a:xfrm>
            <a:off x="5541264" y="822960"/>
            <a:ext cx="1600200" cy="1188720"/>
          </a:xfrm>
          <a:prstGeom prst="rect">
            <a:avLst/>
          </a:prstGeom>
          <a:solidFill>
            <a:srgbClr val="2B6CB0"/>
          </a:solidFill>
          <a:ln w="12700">
            <a:solidFill>
              <a:srgbClr val="2B6CB0"/>
            </a:solidFill>
            <a:prstDash val="solid"/>
          </a:ln>
          <a:effectLst>
            <a:outerShdw blurRad="76200" dist="25400" dir="8100000" algn="bl" rotWithShape="0">
              <a:srgbClr val="000000">
                <a:alpha val="12000"/>
              </a:srgbClr>
            </a:outerShdw>
          </a:effectLst>
        </p:spPr>
      </p:sp>
      <p:sp>
        <p:nvSpPr>
          <p:cNvPr id="22" name="Text 20"/>
          <p:cNvSpPr/>
          <p:nvPr/>
        </p:nvSpPr>
        <p:spPr>
          <a:xfrm>
            <a:off x="5541264" y="822960"/>
            <a:ext cx="16002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 Pre-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processing</a:t>
            </a:r>
            <a:endParaRPr lang="en-US" sz="1000" dirty="0"/>
          </a:p>
        </p:txBody>
      </p:sp>
      <p:sp>
        <p:nvSpPr>
          <p:cNvPr id="23" name="Shape 21"/>
          <p:cNvSpPr/>
          <p:nvPr/>
        </p:nvSpPr>
        <p:spPr>
          <a:xfrm>
            <a:off x="5586984" y="1298448"/>
            <a:ext cx="1508760" cy="658368"/>
          </a:xfrm>
          <a:prstGeom prst="rect">
            <a:avLst/>
          </a:prstGeom>
          <a:solidFill>
            <a:srgbClr val="FFFFFF">
              <a:alpha val="90000"/>
            </a:srgbClr>
          </a:solidFill>
          <a:ln w="12700">
            <a:solidFill>
              <a:srgbClr val="FFFFFF">
                <a:alpha val="70000"/>
              </a:srgbClr>
            </a:solidFill>
            <a:prstDash val="solid"/>
          </a:ln>
        </p:spPr>
      </p:sp>
      <p:sp>
        <p:nvSpPr>
          <p:cNvPr id="24" name="Text 22"/>
          <p:cNvSpPr/>
          <p:nvPr/>
        </p:nvSpPr>
        <p:spPr>
          <a:xfrm>
            <a:off x="5586984" y="1298448"/>
            <a:ext cx="1508760" cy="658368"/>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Log transform</a:t>
            </a:r>
            <a:endParaRPr lang="en-US" sz="1200" b="1" dirty="0"/>
          </a:p>
          <a:p>
            <a:pPr marL="0" indent="0" algn="ctr">
              <a:buNone/>
            </a:pPr>
            <a:r>
              <a:rPr lang="en-US" sz="1200" b="1" dirty="0">
                <a:latin typeface="Calibri" pitchFamily="34" charset="0"/>
                <a:ea typeface="Calibri" pitchFamily="34" charset="-122"/>
                <a:cs typeface="Calibri" pitchFamily="34" charset="-120"/>
              </a:rPr>
              <a:t>±0.5 scaling</a:t>
            </a:r>
            <a:endParaRPr lang="en-US" sz="1200" b="1" dirty="0"/>
          </a:p>
          <a:p>
            <a:pPr marL="0" indent="0" algn="ctr">
              <a:buNone/>
            </a:pPr>
            <a:r>
              <a:rPr lang="en-US" sz="1200" b="1" dirty="0">
                <a:latin typeface="Calibri" pitchFamily="34" charset="0"/>
                <a:ea typeface="Calibri" pitchFamily="34" charset="-122"/>
                <a:cs typeface="Calibri" pitchFamily="34" charset="-120"/>
              </a:rPr>
              <a:t>104 bins</a:t>
            </a:r>
            <a:endParaRPr lang="en-US" sz="1200" b="1" dirty="0"/>
          </a:p>
        </p:txBody>
      </p:sp>
      <p:sp>
        <p:nvSpPr>
          <p:cNvPr id="25" name="Shape 23"/>
          <p:cNvSpPr/>
          <p:nvPr/>
        </p:nvSpPr>
        <p:spPr>
          <a:xfrm>
            <a:off x="7141464" y="1417320"/>
            <a:ext cx="155448" cy="0"/>
          </a:xfrm>
          <a:prstGeom prst="line">
            <a:avLst/>
          </a:prstGeom>
          <a:noFill/>
          <a:ln w="25400">
            <a:solidFill>
              <a:srgbClr val="1A2B4A"/>
            </a:solidFill>
            <a:prstDash val="solid"/>
          </a:ln>
        </p:spPr>
      </p:sp>
      <p:sp>
        <p:nvSpPr>
          <p:cNvPr id="26" name="Shape 24"/>
          <p:cNvSpPr/>
          <p:nvPr/>
        </p:nvSpPr>
        <p:spPr>
          <a:xfrm>
            <a:off x="7296912" y="822960"/>
            <a:ext cx="1600200" cy="1188720"/>
          </a:xfrm>
          <a:prstGeom prst="rect">
            <a:avLst/>
          </a:prstGeom>
          <a:solidFill>
            <a:srgbClr val="5B6A8F"/>
          </a:solidFill>
          <a:ln w="12700">
            <a:solidFill>
              <a:srgbClr val="5B6A8F"/>
            </a:solidFill>
            <a:prstDash val="solid"/>
          </a:ln>
          <a:effectLst>
            <a:outerShdw blurRad="76200" dist="25400" dir="8100000" algn="bl" rotWithShape="0">
              <a:srgbClr val="000000">
                <a:alpha val="12000"/>
              </a:srgbClr>
            </a:outerShdw>
          </a:effectLst>
        </p:spPr>
      </p:sp>
      <p:sp>
        <p:nvSpPr>
          <p:cNvPr id="27" name="Text 25"/>
          <p:cNvSpPr/>
          <p:nvPr/>
        </p:nvSpPr>
        <p:spPr>
          <a:xfrm>
            <a:off x="7296912" y="822960"/>
            <a:ext cx="160020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 10-Fold</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CV</a:t>
            </a:r>
            <a:endParaRPr lang="en-US" sz="1000" dirty="0"/>
          </a:p>
        </p:txBody>
      </p:sp>
      <p:sp>
        <p:nvSpPr>
          <p:cNvPr id="28" name="Shape 26"/>
          <p:cNvSpPr/>
          <p:nvPr/>
        </p:nvSpPr>
        <p:spPr>
          <a:xfrm>
            <a:off x="7342632" y="1298448"/>
            <a:ext cx="1508760" cy="658368"/>
          </a:xfrm>
          <a:prstGeom prst="rect">
            <a:avLst/>
          </a:prstGeom>
          <a:solidFill>
            <a:srgbClr val="FFFFFF">
              <a:alpha val="90000"/>
            </a:srgbClr>
          </a:solidFill>
          <a:ln w="12700">
            <a:solidFill>
              <a:srgbClr val="FFFFFF">
                <a:alpha val="70000"/>
              </a:srgbClr>
            </a:solidFill>
            <a:prstDash val="solid"/>
          </a:ln>
        </p:spPr>
      </p:sp>
      <p:sp>
        <p:nvSpPr>
          <p:cNvPr id="29" name="Text 27"/>
          <p:cNvSpPr/>
          <p:nvPr/>
        </p:nvSpPr>
        <p:spPr>
          <a:xfrm>
            <a:off x="7342632" y="1298448"/>
            <a:ext cx="1508760" cy="658368"/>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Stratified by</a:t>
            </a:r>
            <a:endParaRPr lang="en-US" sz="1200" b="1" dirty="0"/>
          </a:p>
          <a:p>
            <a:pPr marL="0" indent="0" algn="ctr">
              <a:buNone/>
            </a:pPr>
            <a:r>
              <a:rPr lang="en-US" sz="1200" b="1" dirty="0">
                <a:latin typeface="Calibri" pitchFamily="34" charset="0"/>
                <a:ea typeface="Calibri" pitchFamily="34" charset="-122"/>
                <a:cs typeface="Calibri" pitchFamily="34" charset="-120"/>
              </a:rPr>
              <a:t>SD type</a:t>
            </a:r>
            <a:endParaRPr lang="en-US" sz="1200" b="1" dirty="0"/>
          </a:p>
          <a:p>
            <a:pPr marL="0" indent="0" algn="ctr">
              <a:buNone/>
            </a:pPr>
            <a:r>
              <a:rPr lang="en-US" sz="1200" b="1" dirty="0">
                <a:latin typeface="Calibri" pitchFamily="34" charset="0"/>
                <a:ea typeface="Calibri" pitchFamily="34" charset="-122"/>
                <a:cs typeface="Calibri" pitchFamily="34" charset="-120"/>
              </a:rPr>
              <a:t>80/20 split</a:t>
            </a:r>
            <a:endParaRPr lang="en-US" sz="1200" b="1" dirty="0"/>
          </a:p>
        </p:txBody>
      </p:sp>
      <p:sp>
        <p:nvSpPr>
          <p:cNvPr id="30" name="Shape 28"/>
          <p:cNvSpPr/>
          <p:nvPr/>
        </p:nvSpPr>
        <p:spPr>
          <a:xfrm>
            <a:off x="274320" y="2212848"/>
            <a:ext cx="8595360" cy="256032"/>
          </a:xfrm>
          <a:prstGeom prst="rect">
            <a:avLst/>
          </a:prstGeom>
          <a:solidFill>
            <a:srgbClr val="1A2B4A"/>
          </a:solidFill>
          <a:ln w="12700">
            <a:solidFill>
              <a:srgbClr val="1A2B4A"/>
            </a:solidFill>
            <a:prstDash val="solid"/>
          </a:ln>
        </p:spPr>
      </p:sp>
      <p:sp>
        <p:nvSpPr>
          <p:cNvPr id="31" name="Text 29"/>
          <p:cNvSpPr/>
          <p:nvPr/>
        </p:nvSpPr>
        <p:spPr>
          <a:xfrm>
            <a:off x="274320" y="2212848"/>
            <a:ext cx="8595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MODELS (trained globally on all 1,115 stores)</a:t>
            </a:r>
            <a:endParaRPr lang="en-US" sz="900" dirty="0"/>
          </a:p>
        </p:txBody>
      </p:sp>
      <p:sp>
        <p:nvSpPr>
          <p:cNvPr id="32" name="Shape 30"/>
          <p:cNvSpPr/>
          <p:nvPr/>
        </p:nvSpPr>
        <p:spPr>
          <a:xfrm>
            <a:off x="274320" y="2514600"/>
            <a:ext cx="1600200" cy="731520"/>
          </a:xfrm>
          <a:prstGeom prst="rect">
            <a:avLst/>
          </a:prstGeom>
          <a:solidFill>
            <a:srgbClr val="6B7280"/>
          </a:solidFill>
          <a:ln w="12700">
            <a:solidFill>
              <a:srgbClr val="6B7280"/>
            </a:solidFill>
            <a:prstDash val="solid"/>
          </a:ln>
          <a:effectLst>
            <a:outerShdw blurRad="76200" dist="25400" dir="8100000" algn="bl" rotWithShape="0">
              <a:srgbClr val="000000">
                <a:alpha val="12000"/>
              </a:srgbClr>
            </a:outerShdw>
          </a:effectLst>
        </p:spPr>
      </p:sp>
      <p:sp>
        <p:nvSpPr>
          <p:cNvPr id="33" name="Text 31"/>
          <p:cNvSpPr/>
          <p:nvPr/>
        </p:nvSpPr>
        <p:spPr>
          <a:xfrm>
            <a:off x="274320" y="2514600"/>
            <a:ext cx="160020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S-Naive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S-Median</a:t>
            </a:r>
            <a:endParaRPr lang="en-US" sz="1000" dirty="0"/>
          </a:p>
        </p:txBody>
      </p:sp>
      <p:sp>
        <p:nvSpPr>
          <p:cNvPr id="34" name="Text 32"/>
          <p:cNvSpPr/>
          <p:nvPr/>
        </p:nvSpPr>
        <p:spPr>
          <a:xfrm>
            <a:off x="274320" y="3017520"/>
            <a:ext cx="1600200" cy="228600"/>
          </a:xfrm>
          <a:prstGeom prst="rect">
            <a:avLst/>
          </a:prstGeom>
          <a:noFill/>
          <a:ln/>
        </p:spPr>
        <p:txBody>
          <a:bodyPr wrap="square" lIns="0" tIns="0" rIns="0" bIns="0" rtlCol="0" anchor="ctr"/>
          <a:lstStyle/>
          <a:p>
            <a:pPr marL="0" indent="0" algn="ctr">
              <a:buNone/>
            </a:pPr>
            <a:r>
              <a:rPr lang="en-US" sz="750" i="1" dirty="0">
                <a:solidFill>
                  <a:srgbClr val="FFFFFF"/>
                </a:solidFill>
                <a:latin typeface="Calibri" pitchFamily="34" charset="0"/>
                <a:ea typeface="Calibri" pitchFamily="34" charset="-122"/>
                <a:cs typeface="Calibri" pitchFamily="34" charset="-120"/>
              </a:rPr>
              <a:t>baselines.py</a:t>
            </a:r>
            <a:endParaRPr lang="en-US" sz="750" dirty="0"/>
          </a:p>
        </p:txBody>
      </p:sp>
      <p:sp>
        <p:nvSpPr>
          <p:cNvPr id="35" name="Shape 33"/>
          <p:cNvSpPr/>
          <p:nvPr/>
        </p:nvSpPr>
        <p:spPr>
          <a:xfrm>
            <a:off x="2029968" y="2514600"/>
            <a:ext cx="1600200" cy="731520"/>
          </a:xfrm>
          <a:prstGeom prst="rect">
            <a:avLst/>
          </a:prstGeom>
          <a:solidFill>
            <a:srgbClr val="2B6CB0"/>
          </a:solidFill>
          <a:ln w="12700">
            <a:solidFill>
              <a:srgbClr val="2B6CB0"/>
            </a:solidFill>
            <a:prstDash val="solid"/>
          </a:ln>
          <a:effectLst>
            <a:outerShdw blurRad="76200" dist="25400" dir="8100000" algn="bl" rotWithShape="0">
              <a:srgbClr val="000000">
                <a:alpha val="12000"/>
              </a:srgbClr>
            </a:outerShdw>
          </a:effectLst>
        </p:spPr>
      </p:sp>
      <p:sp>
        <p:nvSpPr>
          <p:cNvPr id="36" name="Text 34"/>
          <p:cNvSpPr/>
          <p:nvPr/>
        </p:nvSpPr>
        <p:spPr>
          <a:xfrm>
            <a:off x="2029968" y="2514600"/>
            <a:ext cx="160020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LASSO</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LIN-REG</a:t>
            </a:r>
            <a:endParaRPr lang="en-US" sz="1000" dirty="0"/>
          </a:p>
        </p:txBody>
      </p:sp>
      <p:sp>
        <p:nvSpPr>
          <p:cNvPr id="37" name="Text 35"/>
          <p:cNvSpPr/>
          <p:nvPr/>
        </p:nvSpPr>
        <p:spPr>
          <a:xfrm>
            <a:off x="2029968" y="3017520"/>
            <a:ext cx="1600200" cy="228600"/>
          </a:xfrm>
          <a:prstGeom prst="rect">
            <a:avLst/>
          </a:prstGeom>
          <a:noFill/>
          <a:ln/>
        </p:spPr>
        <p:txBody>
          <a:bodyPr wrap="square" lIns="0" tIns="0" rIns="0" bIns="0" rtlCol="0" anchor="ctr"/>
          <a:lstStyle/>
          <a:p>
            <a:pPr marL="0" indent="0" algn="ctr">
              <a:buNone/>
            </a:pPr>
            <a:r>
              <a:rPr lang="en-US" sz="750" i="1" dirty="0">
                <a:solidFill>
                  <a:srgbClr val="FFFFFF"/>
                </a:solidFill>
                <a:latin typeface="Calibri" pitchFamily="34" charset="0"/>
                <a:ea typeface="Calibri" pitchFamily="34" charset="-122"/>
                <a:cs typeface="Calibri" pitchFamily="34" charset="-120"/>
              </a:rPr>
              <a:t>linreg.py</a:t>
            </a:r>
            <a:endParaRPr lang="en-US" sz="750" dirty="0"/>
          </a:p>
        </p:txBody>
      </p:sp>
      <p:sp>
        <p:nvSpPr>
          <p:cNvPr id="38" name="Shape 36"/>
          <p:cNvSpPr/>
          <p:nvPr/>
        </p:nvSpPr>
        <p:spPr>
          <a:xfrm>
            <a:off x="3785616" y="2514600"/>
            <a:ext cx="1600200" cy="731520"/>
          </a:xfrm>
          <a:prstGeom prst="rect">
            <a:avLst/>
          </a:prstGeom>
          <a:solidFill>
            <a:srgbClr val="0D7377"/>
          </a:solidFill>
          <a:ln w="12700">
            <a:solidFill>
              <a:srgbClr val="0D7377"/>
            </a:solidFill>
            <a:prstDash val="solid"/>
          </a:ln>
          <a:effectLst>
            <a:outerShdw blurRad="76200" dist="25400" dir="8100000" algn="bl" rotWithShape="0">
              <a:srgbClr val="000000">
                <a:alpha val="12000"/>
              </a:srgbClr>
            </a:outerShdw>
          </a:effectLst>
        </p:spPr>
      </p:sp>
      <p:sp>
        <p:nvSpPr>
          <p:cNvPr id="39" name="Text 37"/>
          <p:cNvSpPr/>
          <p:nvPr/>
        </p:nvSpPr>
        <p:spPr>
          <a:xfrm>
            <a:off x="3785616" y="2514600"/>
            <a:ext cx="160020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LightGBM</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GBRT</a:t>
            </a:r>
            <a:endParaRPr lang="en-US" sz="1000" dirty="0"/>
          </a:p>
        </p:txBody>
      </p:sp>
      <p:sp>
        <p:nvSpPr>
          <p:cNvPr id="40" name="Text 38"/>
          <p:cNvSpPr/>
          <p:nvPr/>
        </p:nvSpPr>
        <p:spPr>
          <a:xfrm>
            <a:off x="3785616" y="3017520"/>
            <a:ext cx="1600200" cy="228600"/>
          </a:xfrm>
          <a:prstGeom prst="rect">
            <a:avLst/>
          </a:prstGeom>
          <a:noFill/>
          <a:ln/>
        </p:spPr>
        <p:txBody>
          <a:bodyPr wrap="square" lIns="0" tIns="0" rIns="0" bIns="0" rtlCol="0" anchor="ctr"/>
          <a:lstStyle/>
          <a:p>
            <a:pPr marL="0" indent="0" algn="ctr">
              <a:buNone/>
            </a:pPr>
            <a:r>
              <a:rPr lang="en-US" sz="750" i="1" dirty="0">
                <a:solidFill>
                  <a:srgbClr val="FFFFFF"/>
                </a:solidFill>
                <a:latin typeface="Calibri" pitchFamily="34" charset="0"/>
                <a:ea typeface="Calibri" pitchFamily="34" charset="-122"/>
                <a:cs typeface="Calibri" pitchFamily="34" charset="-120"/>
              </a:rPr>
              <a:t>lgbm_model.py</a:t>
            </a:r>
            <a:endParaRPr lang="en-US" sz="750" dirty="0"/>
          </a:p>
        </p:txBody>
      </p:sp>
      <p:sp>
        <p:nvSpPr>
          <p:cNvPr id="41" name="Shape 39"/>
          <p:cNvSpPr/>
          <p:nvPr/>
        </p:nvSpPr>
        <p:spPr>
          <a:xfrm>
            <a:off x="5541264" y="2514600"/>
            <a:ext cx="1600200" cy="731520"/>
          </a:xfrm>
          <a:prstGeom prst="rect">
            <a:avLst/>
          </a:prstGeom>
          <a:solidFill>
            <a:srgbClr val="7C3AED"/>
          </a:solidFill>
          <a:ln w="12700">
            <a:solidFill>
              <a:srgbClr val="7C3AED"/>
            </a:solidFill>
            <a:prstDash val="solid"/>
          </a:ln>
          <a:effectLst>
            <a:outerShdw blurRad="76200" dist="25400" dir="8100000" algn="bl" rotWithShape="0">
              <a:srgbClr val="000000">
                <a:alpha val="12000"/>
              </a:srgbClr>
            </a:outerShdw>
          </a:effectLst>
        </p:spPr>
      </p:sp>
      <p:sp>
        <p:nvSpPr>
          <p:cNvPr id="42" name="Text 40"/>
          <p:cNvSpPr/>
          <p:nvPr/>
        </p:nvSpPr>
        <p:spPr>
          <a:xfrm>
            <a:off x="5541264" y="2514600"/>
            <a:ext cx="160020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MLP</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REG/CL</a:t>
            </a:r>
            <a:endParaRPr lang="en-US" sz="1000" dirty="0"/>
          </a:p>
        </p:txBody>
      </p:sp>
      <p:sp>
        <p:nvSpPr>
          <p:cNvPr id="43" name="Text 41"/>
          <p:cNvSpPr/>
          <p:nvPr/>
        </p:nvSpPr>
        <p:spPr>
          <a:xfrm>
            <a:off x="5541264" y="3017520"/>
            <a:ext cx="1600200" cy="228600"/>
          </a:xfrm>
          <a:prstGeom prst="rect">
            <a:avLst/>
          </a:prstGeom>
          <a:noFill/>
          <a:ln/>
        </p:spPr>
        <p:txBody>
          <a:bodyPr wrap="square" lIns="0" tIns="0" rIns="0" bIns="0" rtlCol="0" anchor="ctr"/>
          <a:lstStyle/>
          <a:p>
            <a:pPr marL="0" indent="0" algn="ctr">
              <a:buNone/>
            </a:pPr>
            <a:r>
              <a:rPr lang="en-US" sz="750" i="1" dirty="0">
                <a:solidFill>
                  <a:srgbClr val="FFFFFF"/>
                </a:solidFill>
                <a:latin typeface="Calibri" pitchFamily="34" charset="0"/>
                <a:ea typeface="Calibri" pitchFamily="34" charset="-122"/>
                <a:cs typeface="Calibri" pitchFamily="34" charset="-120"/>
              </a:rPr>
              <a:t>mlp_model.py</a:t>
            </a:r>
            <a:endParaRPr lang="en-US" sz="750" dirty="0"/>
          </a:p>
        </p:txBody>
      </p:sp>
      <p:sp>
        <p:nvSpPr>
          <p:cNvPr id="44" name="Shape 42"/>
          <p:cNvSpPr/>
          <p:nvPr/>
        </p:nvSpPr>
        <p:spPr>
          <a:xfrm>
            <a:off x="7296912" y="2514600"/>
            <a:ext cx="1600200" cy="731520"/>
          </a:xfrm>
          <a:prstGeom prst="rect">
            <a:avLst/>
          </a:prstGeom>
          <a:solidFill>
            <a:srgbClr val="F0A500"/>
          </a:solidFill>
          <a:ln w="12700">
            <a:solidFill>
              <a:srgbClr val="F0A500"/>
            </a:solidFill>
            <a:prstDash val="solid"/>
          </a:ln>
          <a:effectLst>
            <a:outerShdw blurRad="76200" dist="25400" dir="8100000" algn="bl" rotWithShape="0">
              <a:srgbClr val="000000">
                <a:alpha val="12000"/>
              </a:srgbClr>
            </a:outerShdw>
          </a:effectLst>
        </p:spPr>
      </p:sp>
      <p:sp>
        <p:nvSpPr>
          <p:cNvPr id="45" name="Text 43"/>
          <p:cNvSpPr/>
          <p:nvPr/>
        </p:nvSpPr>
        <p:spPr>
          <a:xfrm>
            <a:off x="7296912" y="2514600"/>
            <a:ext cx="160020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LSTM</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REG/CL</a:t>
            </a:r>
            <a:endParaRPr lang="en-US" sz="1000" dirty="0"/>
          </a:p>
        </p:txBody>
      </p:sp>
      <p:sp>
        <p:nvSpPr>
          <p:cNvPr id="46" name="Text 44"/>
          <p:cNvSpPr/>
          <p:nvPr/>
        </p:nvSpPr>
        <p:spPr>
          <a:xfrm>
            <a:off x="7296912" y="3017520"/>
            <a:ext cx="1600200" cy="228600"/>
          </a:xfrm>
          <a:prstGeom prst="rect">
            <a:avLst/>
          </a:prstGeom>
          <a:noFill/>
          <a:ln/>
        </p:spPr>
        <p:txBody>
          <a:bodyPr wrap="square" lIns="0" tIns="0" rIns="0" bIns="0" rtlCol="0" anchor="ctr"/>
          <a:lstStyle/>
          <a:p>
            <a:pPr marL="0" indent="0" algn="ctr">
              <a:buNone/>
            </a:pPr>
            <a:r>
              <a:rPr lang="en-US" sz="750" i="1" dirty="0">
                <a:solidFill>
                  <a:srgbClr val="FFFFFF"/>
                </a:solidFill>
                <a:latin typeface="Calibri" pitchFamily="34" charset="0"/>
                <a:ea typeface="Calibri" pitchFamily="34" charset="-122"/>
                <a:cs typeface="Calibri" pitchFamily="34" charset="-120"/>
              </a:rPr>
              <a:t>lstm_model.py</a:t>
            </a:r>
            <a:endParaRPr lang="en-US" sz="750" dirty="0"/>
          </a:p>
        </p:txBody>
      </p:sp>
      <p:sp>
        <p:nvSpPr>
          <p:cNvPr id="47" name="Shape 45"/>
          <p:cNvSpPr/>
          <p:nvPr/>
        </p:nvSpPr>
        <p:spPr>
          <a:xfrm>
            <a:off x="274320" y="3364992"/>
            <a:ext cx="8595360" cy="256032"/>
          </a:xfrm>
          <a:prstGeom prst="rect">
            <a:avLst/>
          </a:prstGeom>
          <a:solidFill>
            <a:srgbClr val="0D7377"/>
          </a:solidFill>
          <a:ln w="12700">
            <a:solidFill>
              <a:srgbClr val="0D7377"/>
            </a:solidFill>
            <a:prstDash val="solid"/>
          </a:ln>
        </p:spPr>
      </p:sp>
      <p:sp>
        <p:nvSpPr>
          <p:cNvPr id="48" name="Text 46"/>
          <p:cNvSpPr/>
          <p:nvPr/>
        </p:nvSpPr>
        <p:spPr>
          <a:xfrm>
            <a:off x="274320" y="3364992"/>
            <a:ext cx="8595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EVALUATION  ·  MAE &amp; MASE  ·  Reported separately per SD type (SD0–SD4)</a:t>
            </a:r>
            <a:endParaRPr lang="en-US" sz="900" dirty="0"/>
          </a:p>
        </p:txBody>
      </p:sp>
      <p:sp>
        <p:nvSpPr>
          <p:cNvPr id="49" name="Shape 47"/>
          <p:cNvSpPr/>
          <p:nvPr/>
        </p:nvSpPr>
        <p:spPr>
          <a:xfrm>
            <a:off x="274320" y="3657600"/>
            <a:ext cx="2011680" cy="105156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50" name="Shape 48"/>
          <p:cNvSpPr/>
          <p:nvPr/>
        </p:nvSpPr>
        <p:spPr>
          <a:xfrm>
            <a:off x="274320" y="3657600"/>
            <a:ext cx="64008" cy="1051560"/>
          </a:xfrm>
          <a:prstGeom prst="rect">
            <a:avLst/>
          </a:prstGeom>
          <a:solidFill>
            <a:srgbClr val="0D7377"/>
          </a:solidFill>
          <a:ln w="12700">
            <a:solidFill>
              <a:srgbClr val="0D7377"/>
            </a:solidFill>
            <a:prstDash val="solid"/>
          </a:ln>
        </p:spPr>
      </p:sp>
      <p:sp>
        <p:nvSpPr>
          <p:cNvPr id="51" name="Text 49"/>
          <p:cNvSpPr/>
          <p:nvPr/>
        </p:nvSpPr>
        <p:spPr>
          <a:xfrm>
            <a:off x="411480" y="3712464"/>
            <a:ext cx="1828800" cy="256032"/>
          </a:xfrm>
          <a:prstGeom prst="rect">
            <a:avLst/>
          </a:prstGeom>
          <a:noFill/>
          <a:ln/>
        </p:spPr>
        <p:txBody>
          <a:bodyPr wrap="square" lIns="0" tIns="0" rIns="0" bIns="0"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MAE</a:t>
            </a:r>
            <a:endParaRPr lang="en-US" sz="1100" dirty="0"/>
          </a:p>
        </p:txBody>
      </p:sp>
      <p:sp>
        <p:nvSpPr>
          <p:cNvPr id="52" name="Text 50"/>
          <p:cNvSpPr/>
          <p:nvPr/>
        </p:nvSpPr>
        <p:spPr>
          <a:xfrm>
            <a:off x="411480" y="3977640"/>
            <a:ext cx="1783080" cy="640080"/>
          </a:xfrm>
          <a:prstGeom prst="rect">
            <a:avLst/>
          </a:prstGeom>
          <a:noFill/>
          <a:ln/>
        </p:spPr>
        <p:txBody>
          <a:bodyPr wrap="square" lIns="0" tIns="0" rIns="0" bIns="0" rtlCol="0" anchor="ctr"/>
          <a:lstStyle/>
          <a:p>
            <a:pPr marL="0" indent="0">
              <a:buNone/>
            </a:pPr>
            <a:r>
              <a:rPr lang="en-US" sz="950" dirty="0">
                <a:solidFill>
                  <a:srgbClr val="3D5166"/>
                </a:solidFill>
                <a:latin typeface="Calibri" pitchFamily="34" charset="0"/>
                <a:ea typeface="Calibri" pitchFamily="34" charset="-122"/>
                <a:cs typeface="Calibri" pitchFamily="34" charset="-120"/>
              </a:rPr>
              <a:t>Mean absolute error</a:t>
            </a:r>
            <a:endParaRPr lang="en-US" sz="950" dirty="0"/>
          </a:p>
          <a:p>
            <a:pPr marL="0" indent="0">
              <a:buNone/>
            </a:pPr>
            <a:r>
              <a:rPr lang="en-US" sz="950" dirty="0">
                <a:solidFill>
                  <a:srgbClr val="3D5166"/>
                </a:solidFill>
                <a:latin typeface="Calibri" pitchFamily="34" charset="0"/>
                <a:ea typeface="Calibri" pitchFamily="34" charset="-122"/>
                <a:cs typeface="Calibri" pitchFamily="34" charset="-120"/>
              </a:rPr>
              <a:t>Per SD type</a:t>
            </a:r>
            <a:endParaRPr lang="en-US" sz="950" dirty="0"/>
          </a:p>
          <a:p>
            <a:pPr marL="0" indent="0">
              <a:buNone/>
            </a:pPr>
            <a:r>
              <a:rPr lang="en-US" sz="950" dirty="0">
                <a:solidFill>
                  <a:srgbClr val="3D5166"/>
                </a:solidFill>
                <a:latin typeface="Calibri" pitchFamily="34" charset="0"/>
                <a:ea typeface="Calibri" pitchFamily="34" charset="-122"/>
                <a:cs typeface="Calibri" pitchFamily="34" charset="-120"/>
              </a:rPr>
              <a:t>Raw scale (units)</a:t>
            </a:r>
            <a:endParaRPr lang="en-US" sz="950" dirty="0"/>
          </a:p>
        </p:txBody>
      </p:sp>
      <p:sp>
        <p:nvSpPr>
          <p:cNvPr id="53" name="Shape 51"/>
          <p:cNvSpPr/>
          <p:nvPr/>
        </p:nvSpPr>
        <p:spPr>
          <a:xfrm>
            <a:off x="2468880" y="3657600"/>
            <a:ext cx="2011680" cy="105156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54" name="Shape 52"/>
          <p:cNvSpPr/>
          <p:nvPr/>
        </p:nvSpPr>
        <p:spPr>
          <a:xfrm>
            <a:off x="2468880" y="3657600"/>
            <a:ext cx="64008" cy="1051560"/>
          </a:xfrm>
          <a:prstGeom prst="rect">
            <a:avLst/>
          </a:prstGeom>
          <a:solidFill>
            <a:srgbClr val="0D7377"/>
          </a:solidFill>
          <a:ln w="12700">
            <a:solidFill>
              <a:srgbClr val="0D7377"/>
            </a:solidFill>
            <a:prstDash val="solid"/>
          </a:ln>
        </p:spPr>
      </p:sp>
      <p:sp>
        <p:nvSpPr>
          <p:cNvPr id="55" name="Text 53"/>
          <p:cNvSpPr/>
          <p:nvPr/>
        </p:nvSpPr>
        <p:spPr>
          <a:xfrm>
            <a:off x="2606040" y="3712464"/>
            <a:ext cx="1828800" cy="256032"/>
          </a:xfrm>
          <a:prstGeom prst="rect">
            <a:avLst/>
          </a:prstGeom>
          <a:noFill/>
          <a:ln/>
        </p:spPr>
        <p:txBody>
          <a:bodyPr wrap="square" lIns="0" tIns="0" rIns="0" bIns="0"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MASE</a:t>
            </a:r>
            <a:endParaRPr lang="en-US" sz="1100" dirty="0"/>
          </a:p>
        </p:txBody>
      </p:sp>
      <p:sp>
        <p:nvSpPr>
          <p:cNvPr id="56" name="Text 54"/>
          <p:cNvSpPr/>
          <p:nvPr/>
        </p:nvSpPr>
        <p:spPr>
          <a:xfrm>
            <a:off x="2606040" y="3977640"/>
            <a:ext cx="1783080" cy="640080"/>
          </a:xfrm>
          <a:prstGeom prst="rect">
            <a:avLst/>
          </a:prstGeom>
          <a:noFill/>
          <a:ln/>
        </p:spPr>
        <p:txBody>
          <a:bodyPr wrap="square" lIns="0" tIns="0" rIns="0" bIns="0" rtlCol="0" anchor="ctr"/>
          <a:lstStyle/>
          <a:p>
            <a:pPr marL="0" indent="0">
              <a:buNone/>
            </a:pPr>
            <a:r>
              <a:rPr lang="en-US" sz="950" dirty="0">
                <a:solidFill>
                  <a:srgbClr val="3D5166"/>
                </a:solidFill>
                <a:latin typeface="Calibri" pitchFamily="34" charset="0"/>
                <a:ea typeface="Calibri" pitchFamily="34" charset="-122"/>
                <a:cs typeface="Calibri" pitchFamily="34" charset="-120"/>
              </a:rPr>
              <a:t>Scaled by S-Naive</a:t>
            </a:r>
            <a:endParaRPr lang="en-US" sz="950" dirty="0"/>
          </a:p>
          <a:p>
            <a:pPr marL="0" indent="0">
              <a:buNone/>
            </a:pPr>
            <a:r>
              <a:rPr lang="en-US" sz="950" dirty="0">
                <a:solidFill>
                  <a:srgbClr val="3D5166"/>
                </a:solidFill>
                <a:latin typeface="Calibri" pitchFamily="34" charset="0"/>
                <a:ea typeface="Calibri" pitchFamily="34" charset="-122"/>
                <a:cs typeface="Calibri" pitchFamily="34" charset="-120"/>
              </a:rPr>
              <a:t>SD0 denominator</a:t>
            </a:r>
            <a:endParaRPr lang="en-US" sz="950" dirty="0"/>
          </a:p>
          <a:p>
            <a:pPr marL="0" indent="0">
              <a:buNone/>
            </a:pPr>
            <a:r>
              <a:rPr lang="en-US" sz="950" dirty="0">
                <a:solidFill>
                  <a:srgbClr val="3D5166"/>
                </a:solidFill>
                <a:latin typeface="Calibri" pitchFamily="34" charset="0"/>
                <a:ea typeface="Calibri" pitchFamily="34" charset="-122"/>
                <a:cs typeface="Calibri" pitchFamily="34" charset="-120"/>
              </a:rPr>
              <a:t>Comparable across stores</a:t>
            </a:r>
            <a:endParaRPr lang="en-US" sz="950" dirty="0"/>
          </a:p>
        </p:txBody>
      </p:sp>
      <p:sp>
        <p:nvSpPr>
          <p:cNvPr id="57" name="Shape 55"/>
          <p:cNvSpPr/>
          <p:nvPr/>
        </p:nvSpPr>
        <p:spPr>
          <a:xfrm>
            <a:off x="4663440" y="3657600"/>
            <a:ext cx="2011680" cy="105156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58" name="Shape 56"/>
          <p:cNvSpPr/>
          <p:nvPr/>
        </p:nvSpPr>
        <p:spPr>
          <a:xfrm>
            <a:off x="4663440" y="3657600"/>
            <a:ext cx="64008" cy="1051560"/>
          </a:xfrm>
          <a:prstGeom prst="rect">
            <a:avLst/>
          </a:prstGeom>
          <a:solidFill>
            <a:srgbClr val="0D7377"/>
          </a:solidFill>
          <a:ln w="12700">
            <a:solidFill>
              <a:srgbClr val="0D7377"/>
            </a:solidFill>
            <a:prstDash val="solid"/>
          </a:ln>
        </p:spPr>
      </p:sp>
      <p:sp>
        <p:nvSpPr>
          <p:cNvPr id="59" name="Text 57"/>
          <p:cNvSpPr/>
          <p:nvPr/>
        </p:nvSpPr>
        <p:spPr>
          <a:xfrm>
            <a:off x="4800600" y="3712464"/>
            <a:ext cx="1828800" cy="256032"/>
          </a:xfrm>
          <a:prstGeom prst="rect">
            <a:avLst/>
          </a:prstGeom>
          <a:noFill/>
          <a:ln/>
        </p:spPr>
        <p:txBody>
          <a:bodyPr wrap="square" lIns="0" tIns="0" rIns="0" bIns="0"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Heatmap</a:t>
            </a:r>
            <a:endParaRPr lang="en-US" sz="1100" dirty="0"/>
          </a:p>
        </p:txBody>
      </p:sp>
      <p:sp>
        <p:nvSpPr>
          <p:cNvPr id="60" name="Text 58"/>
          <p:cNvSpPr/>
          <p:nvPr/>
        </p:nvSpPr>
        <p:spPr>
          <a:xfrm>
            <a:off x="4800600" y="3977640"/>
            <a:ext cx="1783080" cy="640080"/>
          </a:xfrm>
          <a:prstGeom prst="rect">
            <a:avLst/>
          </a:prstGeom>
          <a:noFill/>
          <a:ln/>
        </p:spPr>
        <p:txBody>
          <a:bodyPr wrap="square" lIns="0" tIns="0" rIns="0" bIns="0" rtlCol="0" anchor="ctr"/>
          <a:lstStyle/>
          <a:p>
            <a:pPr marL="0" indent="0">
              <a:buNone/>
            </a:pPr>
            <a:r>
              <a:rPr lang="en-US" sz="950" dirty="0">
                <a:solidFill>
                  <a:srgbClr val="3D5166"/>
                </a:solidFill>
                <a:latin typeface="Calibri" pitchFamily="34" charset="0"/>
                <a:ea typeface="Calibri" pitchFamily="34" charset="-122"/>
                <a:cs typeface="Calibri" pitchFamily="34" charset="-120"/>
              </a:rPr>
              <a:t>All models × SD types</a:t>
            </a:r>
            <a:endParaRPr lang="en-US" sz="950" dirty="0"/>
          </a:p>
          <a:p>
            <a:pPr marL="0" indent="0">
              <a:buNone/>
            </a:pPr>
            <a:r>
              <a:rPr lang="en-US" sz="950" dirty="0">
                <a:solidFill>
                  <a:srgbClr val="3D5166"/>
                </a:solidFill>
                <a:latin typeface="Calibri" pitchFamily="34" charset="0"/>
                <a:ea typeface="Calibri" pitchFamily="34" charset="-122"/>
                <a:cs typeface="Calibri" pitchFamily="34" charset="-120"/>
              </a:rPr>
              <a:t>Visual summary</a:t>
            </a:r>
            <a:endParaRPr lang="en-US" sz="950" dirty="0"/>
          </a:p>
          <a:p>
            <a:pPr marL="0" indent="0">
              <a:buNone/>
            </a:pPr>
            <a:r>
              <a:rPr lang="en-US" sz="950" dirty="0">
                <a:solidFill>
                  <a:srgbClr val="3D5166"/>
                </a:solidFill>
                <a:latin typeface="Calibri" pitchFamily="34" charset="0"/>
                <a:ea typeface="Calibri" pitchFamily="34" charset="-122"/>
                <a:cs typeface="Calibri" pitchFamily="34" charset="-120"/>
              </a:rPr>
              <a:t>Green=better</a:t>
            </a:r>
            <a:endParaRPr lang="en-US" sz="950" dirty="0"/>
          </a:p>
        </p:txBody>
      </p:sp>
      <p:sp>
        <p:nvSpPr>
          <p:cNvPr id="61" name="Shape 59"/>
          <p:cNvSpPr/>
          <p:nvPr/>
        </p:nvSpPr>
        <p:spPr>
          <a:xfrm>
            <a:off x="6858000" y="3657600"/>
            <a:ext cx="2011680" cy="105156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62" name="Shape 60"/>
          <p:cNvSpPr/>
          <p:nvPr/>
        </p:nvSpPr>
        <p:spPr>
          <a:xfrm>
            <a:off x="6858000" y="3657600"/>
            <a:ext cx="64008" cy="1051560"/>
          </a:xfrm>
          <a:prstGeom prst="rect">
            <a:avLst/>
          </a:prstGeom>
          <a:solidFill>
            <a:srgbClr val="0D7377"/>
          </a:solidFill>
          <a:ln w="12700">
            <a:solidFill>
              <a:srgbClr val="0D7377"/>
            </a:solidFill>
            <a:prstDash val="solid"/>
          </a:ln>
        </p:spPr>
      </p:sp>
      <p:sp>
        <p:nvSpPr>
          <p:cNvPr id="63" name="Text 61"/>
          <p:cNvSpPr/>
          <p:nvPr/>
        </p:nvSpPr>
        <p:spPr>
          <a:xfrm>
            <a:off x="6995160" y="3712464"/>
            <a:ext cx="1828800" cy="256032"/>
          </a:xfrm>
          <a:prstGeom prst="rect">
            <a:avLst/>
          </a:prstGeom>
          <a:noFill/>
          <a:ln/>
        </p:spPr>
        <p:txBody>
          <a:bodyPr wrap="square" lIns="0" tIns="0" rIns="0" bIns="0"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Saved Models</a:t>
            </a:r>
            <a:endParaRPr lang="en-US" sz="1100" dirty="0"/>
          </a:p>
        </p:txBody>
      </p:sp>
      <p:sp>
        <p:nvSpPr>
          <p:cNvPr id="64" name="Text 62"/>
          <p:cNvSpPr/>
          <p:nvPr/>
        </p:nvSpPr>
        <p:spPr>
          <a:xfrm>
            <a:off x="6995160" y="3977640"/>
            <a:ext cx="1783080" cy="640080"/>
          </a:xfrm>
          <a:prstGeom prst="rect">
            <a:avLst/>
          </a:prstGeom>
          <a:noFill/>
          <a:ln/>
        </p:spPr>
        <p:txBody>
          <a:bodyPr wrap="square" lIns="0" tIns="0" rIns="0" bIns="0" rtlCol="0" anchor="ctr"/>
          <a:lstStyle/>
          <a:p>
            <a:pPr marL="0" indent="0">
              <a:buNone/>
            </a:pPr>
            <a:r>
              <a:rPr lang="en-US" sz="950" dirty="0">
                <a:solidFill>
                  <a:srgbClr val="3D5166"/>
                </a:solidFill>
                <a:latin typeface="Calibri" pitchFamily="34" charset="0"/>
                <a:ea typeface="Calibri" pitchFamily="34" charset="-122"/>
                <a:cs typeface="Calibri" pitchFamily="34" charset="-120"/>
              </a:rPr>
              <a:t>lgbm_model.pkl</a:t>
            </a:r>
            <a:endParaRPr lang="en-US" sz="950" dirty="0"/>
          </a:p>
          <a:p>
            <a:pPr marL="0" indent="0">
              <a:buNone/>
            </a:pPr>
            <a:r>
              <a:rPr lang="en-US" sz="950" dirty="0">
                <a:solidFill>
                  <a:srgbClr val="3D5166"/>
                </a:solidFill>
                <a:latin typeface="Calibri" pitchFamily="34" charset="0"/>
                <a:ea typeface="Calibri" pitchFamily="34" charset="-122"/>
                <a:cs typeface="Calibri" pitchFamily="34" charset="-120"/>
              </a:rPr>
              <a:t>10× MLP .keras</a:t>
            </a:r>
            <a:endParaRPr lang="en-US" sz="950" dirty="0"/>
          </a:p>
          <a:p>
            <a:pPr marL="0" indent="0">
              <a:buNone/>
            </a:pPr>
            <a:r>
              <a:rPr lang="en-US" sz="950" dirty="0">
                <a:solidFill>
                  <a:srgbClr val="3D5166"/>
                </a:solidFill>
                <a:latin typeface="Calibri" pitchFamily="34" charset="0"/>
                <a:ea typeface="Calibri" pitchFamily="34" charset="-122"/>
                <a:cs typeface="Calibri" pitchFamily="34" charset="-120"/>
              </a:rPr>
              <a:t>10× LSTM .keras</a:t>
            </a:r>
            <a:endParaRPr lang="en-US" sz="950" dirty="0"/>
          </a:p>
        </p:txBody>
      </p:sp>
      <p:sp>
        <p:nvSpPr>
          <p:cNvPr id="65" name="Text 63"/>
          <p:cNvSpPr/>
          <p:nvPr/>
        </p:nvSpPr>
        <p:spPr>
          <a:xfrm>
            <a:off x="274320" y="4846320"/>
            <a:ext cx="8595360" cy="201168"/>
          </a:xfrm>
          <a:prstGeom prst="rect">
            <a:avLst/>
          </a:prstGeom>
          <a:noFill/>
          <a:ln/>
        </p:spPr>
        <p:txBody>
          <a:bodyPr wrap="square" lIns="0" tIns="0" rIns="0" bIns="0" rtlCol="0" anchor="ctr"/>
          <a:lstStyle/>
          <a:p>
            <a:pPr marL="0" indent="0" algn="ctr">
              <a:buNone/>
            </a:pPr>
            <a:r>
              <a:rPr lang="en-US" sz="750" i="1" dirty="0">
                <a:solidFill>
                  <a:srgbClr val="8896A5"/>
                </a:solidFill>
                <a:latin typeface="Calibri" pitchFamily="34" charset="0"/>
                <a:ea typeface="Calibri" pitchFamily="34" charset="-122"/>
                <a:cs typeface="Calibri" pitchFamily="34" charset="-120"/>
              </a:rPr>
              <a:t>config.py → data_loader.py → day_classifier.py → feature_engineering.py → preprocessing.py → [models] → evaluation.py → visualisation.py</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Text 1"/>
          <p:cNvSpPr/>
          <p:nvPr/>
        </p:nvSpPr>
        <p:spPr>
          <a:xfrm>
            <a:off x="274320" y="91440"/>
            <a:ext cx="77724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Feature Engineering — 42 Features Across 6 Groups</a:t>
            </a:r>
            <a:endParaRPr lang="en-US" sz="2000" dirty="0"/>
          </a:p>
        </p:txBody>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lgn="r">
              <a:buNone/>
            </a:pPr>
            <a:r>
              <a:rPr lang="en-US" sz="1100" i="1" dirty="0">
                <a:solidFill>
                  <a:srgbClr val="14A9AE"/>
                </a:solidFill>
                <a:latin typeface="Calibri" pitchFamily="34" charset="0"/>
                <a:ea typeface="Calibri" pitchFamily="34" charset="-122"/>
                <a:cs typeface="Calibri" pitchFamily="34" charset="-120"/>
              </a:rPr>
              <a:t>EDA</a:t>
            </a:r>
            <a:endParaRPr lang="en-US" sz="1100" dirty="0"/>
          </a:p>
        </p:txBody>
      </p:sp>
      <p:sp>
        <p:nvSpPr>
          <p:cNvPr id="5" name="Shape 3"/>
          <p:cNvSpPr/>
          <p:nvPr/>
        </p:nvSpPr>
        <p:spPr>
          <a:xfrm>
            <a:off x="0" y="685800"/>
            <a:ext cx="9144000" cy="54864"/>
          </a:xfrm>
          <a:prstGeom prst="rect">
            <a:avLst/>
          </a:prstGeom>
          <a:solidFill>
            <a:srgbClr val="0D7377"/>
          </a:solidFill>
          <a:ln w="12700">
            <a:solidFill>
              <a:srgbClr val="0D7377"/>
            </a:solidFill>
            <a:prstDash val="solid"/>
          </a:ln>
        </p:spPr>
      </p:sp>
      <p:sp>
        <p:nvSpPr>
          <p:cNvPr id="6" name="Shape 4"/>
          <p:cNvSpPr/>
          <p:nvPr/>
        </p:nvSpPr>
        <p:spPr>
          <a:xfrm>
            <a:off x="274320" y="777240"/>
            <a:ext cx="4160520" cy="77724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7" name="Shape 5"/>
          <p:cNvSpPr/>
          <p:nvPr/>
        </p:nvSpPr>
        <p:spPr>
          <a:xfrm>
            <a:off x="274320" y="777240"/>
            <a:ext cx="4160520" cy="256032"/>
          </a:xfrm>
          <a:prstGeom prst="rect">
            <a:avLst/>
          </a:prstGeom>
          <a:solidFill>
            <a:srgbClr val="1A2B4A"/>
          </a:solidFill>
          <a:ln w="12700">
            <a:solidFill>
              <a:srgbClr val="1A2B4A"/>
            </a:solidFill>
            <a:prstDash val="solid"/>
          </a:ln>
        </p:spPr>
      </p:sp>
      <p:sp>
        <p:nvSpPr>
          <p:cNvPr id="8" name="Text 6"/>
          <p:cNvSpPr/>
          <p:nvPr/>
        </p:nvSpPr>
        <p:spPr>
          <a:xfrm>
            <a:off x="365760" y="777240"/>
            <a:ext cx="402336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Group 1: Lag Features (7)</a:t>
            </a:r>
            <a:endParaRPr lang="en-US" sz="900" dirty="0"/>
          </a:p>
        </p:txBody>
      </p:sp>
      <p:sp>
        <p:nvSpPr>
          <p:cNvPr id="9" name="Text 7"/>
          <p:cNvSpPr/>
          <p:nvPr/>
        </p:nvSpPr>
        <p:spPr>
          <a:xfrm>
            <a:off x="384048" y="1069848"/>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Sales_lag_2 to Sales_lag_7 (daily lags)</a:t>
            </a:r>
            <a:endParaRPr lang="en-US" sz="800" b="1" dirty="0"/>
          </a:p>
        </p:txBody>
      </p:sp>
      <p:sp>
        <p:nvSpPr>
          <p:cNvPr id="10" name="Text 8"/>
          <p:cNvSpPr/>
          <p:nvPr/>
        </p:nvSpPr>
        <p:spPr>
          <a:xfrm>
            <a:off x="384048" y="1234440"/>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Sales_lag_14 (2-week look-back)</a:t>
            </a:r>
            <a:endParaRPr lang="en-US" sz="800" b="1" dirty="0"/>
          </a:p>
        </p:txBody>
      </p:sp>
      <p:sp>
        <p:nvSpPr>
          <p:cNvPr id="11" name="Text 9"/>
          <p:cNvSpPr/>
          <p:nvPr/>
        </p:nvSpPr>
        <p:spPr>
          <a:xfrm>
            <a:off x="384048" y="1399032"/>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Lag 1 EXCLUDED — unavailable at planning time</a:t>
            </a:r>
            <a:endParaRPr lang="en-US" sz="800" b="1" dirty="0"/>
          </a:p>
        </p:txBody>
      </p:sp>
      <p:sp>
        <p:nvSpPr>
          <p:cNvPr id="12" name="Shape 10"/>
          <p:cNvSpPr/>
          <p:nvPr/>
        </p:nvSpPr>
        <p:spPr>
          <a:xfrm>
            <a:off x="4617720" y="777240"/>
            <a:ext cx="4160520" cy="77724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13" name="Shape 11"/>
          <p:cNvSpPr/>
          <p:nvPr/>
        </p:nvSpPr>
        <p:spPr>
          <a:xfrm>
            <a:off x="4617720" y="777240"/>
            <a:ext cx="4160520" cy="256032"/>
          </a:xfrm>
          <a:prstGeom prst="rect">
            <a:avLst/>
          </a:prstGeom>
          <a:solidFill>
            <a:srgbClr val="0D7377"/>
          </a:solidFill>
          <a:ln w="12700">
            <a:solidFill>
              <a:srgbClr val="0D7377"/>
            </a:solidFill>
            <a:prstDash val="solid"/>
          </a:ln>
        </p:spPr>
      </p:sp>
      <p:sp>
        <p:nvSpPr>
          <p:cNvPr id="14" name="Text 12"/>
          <p:cNvSpPr/>
          <p:nvPr/>
        </p:nvSpPr>
        <p:spPr>
          <a:xfrm>
            <a:off x="4709160" y="777240"/>
            <a:ext cx="402336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Group 2: Rolling Features (2)</a:t>
            </a:r>
            <a:endParaRPr lang="en-US" sz="900" dirty="0"/>
          </a:p>
        </p:txBody>
      </p:sp>
      <p:sp>
        <p:nvSpPr>
          <p:cNvPr id="15" name="Text 13"/>
          <p:cNvSpPr/>
          <p:nvPr/>
        </p:nvSpPr>
        <p:spPr>
          <a:xfrm>
            <a:off x="4727448" y="1069848"/>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Sales_rolling_median — same weekday, 4-week median</a:t>
            </a:r>
            <a:endParaRPr lang="en-US" sz="800" b="1" dirty="0"/>
          </a:p>
        </p:txBody>
      </p:sp>
      <p:sp>
        <p:nvSpPr>
          <p:cNvPr id="16" name="Text 14"/>
          <p:cNvSpPr/>
          <p:nvPr/>
        </p:nvSpPr>
        <p:spPr>
          <a:xfrm>
            <a:off x="4727448" y="1234440"/>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Sales_rolling_std — standard deviation</a:t>
            </a:r>
            <a:endParaRPr lang="en-US" sz="800" b="1" dirty="0"/>
          </a:p>
        </p:txBody>
      </p:sp>
      <p:sp>
        <p:nvSpPr>
          <p:cNvPr id="17" name="Shape 15"/>
          <p:cNvSpPr/>
          <p:nvPr/>
        </p:nvSpPr>
        <p:spPr>
          <a:xfrm>
            <a:off x="274320" y="1828800"/>
            <a:ext cx="4160520" cy="91440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18" name="Shape 16"/>
          <p:cNvSpPr/>
          <p:nvPr/>
        </p:nvSpPr>
        <p:spPr>
          <a:xfrm>
            <a:off x="274320" y="1828800"/>
            <a:ext cx="4160520" cy="256032"/>
          </a:xfrm>
          <a:prstGeom prst="rect">
            <a:avLst/>
          </a:prstGeom>
          <a:solidFill>
            <a:srgbClr val="2B6CB0"/>
          </a:solidFill>
          <a:ln w="12700">
            <a:solidFill>
              <a:srgbClr val="2B6CB0"/>
            </a:solidFill>
            <a:prstDash val="solid"/>
          </a:ln>
        </p:spPr>
      </p:sp>
      <p:sp>
        <p:nvSpPr>
          <p:cNvPr id="19" name="Text 17"/>
          <p:cNvSpPr/>
          <p:nvPr/>
        </p:nvSpPr>
        <p:spPr>
          <a:xfrm>
            <a:off x="365760" y="1828800"/>
            <a:ext cx="402336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Group 3: Calendar Features (15)</a:t>
            </a:r>
            <a:endParaRPr lang="en-US" sz="900" dirty="0"/>
          </a:p>
        </p:txBody>
      </p:sp>
      <p:sp>
        <p:nvSpPr>
          <p:cNvPr id="20" name="Text 18"/>
          <p:cNvSpPr/>
          <p:nvPr/>
        </p:nvSpPr>
        <p:spPr>
          <a:xfrm>
            <a:off x="384048" y="2121408"/>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DayOfWeek, Month, DayOfMonth, WeekOfYear, Year</a:t>
            </a:r>
            <a:endParaRPr lang="en-US" sz="800" b="1" dirty="0"/>
          </a:p>
        </p:txBody>
      </p:sp>
      <p:sp>
        <p:nvSpPr>
          <p:cNvPr id="21" name="Text 19"/>
          <p:cNvSpPr/>
          <p:nvPr/>
        </p:nvSpPr>
        <p:spPr>
          <a:xfrm>
            <a:off x="384048" y="2286000"/>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IsWeekend, SchoolHoliday, Promo, IsStateHoliday</a:t>
            </a:r>
            <a:endParaRPr lang="en-US" sz="800" b="1" dirty="0"/>
          </a:p>
        </p:txBody>
      </p:sp>
      <p:sp>
        <p:nvSpPr>
          <p:cNvPr id="22" name="Text 20"/>
          <p:cNvSpPr/>
          <p:nvPr/>
        </p:nvSpPr>
        <p:spPr>
          <a:xfrm>
            <a:off x="384048" y="2450592"/>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sin/cos cyclical encoding for DOW, Month, WOY</a:t>
            </a:r>
            <a:endParaRPr lang="en-US" sz="800" b="1" dirty="0"/>
          </a:p>
        </p:txBody>
      </p:sp>
      <p:sp>
        <p:nvSpPr>
          <p:cNvPr id="23" name="Shape 21"/>
          <p:cNvSpPr/>
          <p:nvPr/>
        </p:nvSpPr>
        <p:spPr>
          <a:xfrm>
            <a:off x="4617720" y="1828800"/>
            <a:ext cx="4160520" cy="77724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24" name="Shape 22"/>
          <p:cNvSpPr/>
          <p:nvPr/>
        </p:nvSpPr>
        <p:spPr>
          <a:xfrm>
            <a:off x="4617720" y="1828800"/>
            <a:ext cx="4160520" cy="256032"/>
          </a:xfrm>
          <a:prstGeom prst="rect">
            <a:avLst/>
          </a:prstGeom>
          <a:solidFill>
            <a:srgbClr val="5B6A8F"/>
          </a:solidFill>
          <a:ln w="12700">
            <a:solidFill>
              <a:srgbClr val="5B6A8F"/>
            </a:solidFill>
            <a:prstDash val="solid"/>
          </a:ln>
        </p:spPr>
      </p:sp>
      <p:sp>
        <p:nvSpPr>
          <p:cNvPr id="25" name="Text 23"/>
          <p:cNvSpPr/>
          <p:nvPr/>
        </p:nvSpPr>
        <p:spPr>
          <a:xfrm>
            <a:off x="4709160" y="1828800"/>
            <a:ext cx="402336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Group 4: Store Features (5)</a:t>
            </a:r>
            <a:endParaRPr lang="en-US" sz="900" dirty="0"/>
          </a:p>
        </p:txBody>
      </p:sp>
      <p:sp>
        <p:nvSpPr>
          <p:cNvPr id="26" name="Text 24"/>
          <p:cNvSpPr/>
          <p:nvPr/>
        </p:nvSpPr>
        <p:spPr>
          <a:xfrm>
            <a:off x="4727448" y="2121408"/>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StoreType_enc, Assortment_enc, Promo2</a:t>
            </a:r>
            <a:endParaRPr lang="en-US" sz="800" b="1" dirty="0"/>
          </a:p>
        </p:txBody>
      </p:sp>
      <p:sp>
        <p:nvSpPr>
          <p:cNvPr id="27" name="Text 25"/>
          <p:cNvSpPr/>
          <p:nvPr/>
        </p:nvSpPr>
        <p:spPr>
          <a:xfrm>
            <a:off x="4727448" y="2286000"/>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CompetitionDistance_log, Store_enc (norm. 0–1)</a:t>
            </a:r>
            <a:endParaRPr lang="en-US" sz="800" b="1" dirty="0"/>
          </a:p>
        </p:txBody>
      </p:sp>
      <p:sp>
        <p:nvSpPr>
          <p:cNvPr id="28" name="Shape 26"/>
          <p:cNvSpPr/>
          <p:nvPr/>
        </p:nvSpPr>
        <p:spPr>
          <a:xfrm>
            <a:off x="274320" y="2834640"/>
            <a:ext cx="4160520" cy="68580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29" name="Shape 27"/>
          <p:cNvSpPr/>
          <p:nvPr/>
        </p:nvSpPr>
        <p:spPr>
          <a:xfrm>
            <a:off x="274320" y="2834640"/>
            <a:ext cx="4160520" cy="256032"/>
          </a:xfrm>
          <a:prstGeom prst="rect">
            <a:avLst/>
          </a:prstGeom>
          <a:solidFill>
            <a:srgbClr val="7C3AED"/>
          </a:solidFill>
          <a:ln w="12700">
            <a:solidFill>
              <a:srgbClr val="7C3AED"/>
            </a:solidFill>
            <a:prstDash val="solid"/>
          </a:ln>
        </p:spPr>
      </p:sp>
      <p:sp>
        <p:nvSpPr>
          <p:cNvPr id="30" name="Text 28"/>
          <p:cNvSpPr/>
          <p:nvPr/>
        </p:nvSpPr>
        <p:spPr>
          <a:xfrm>
            <a:off x="365760" y="2834640"/>
            <a:ext cx="402336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Group 5: SD Type Flags (5)</a:t>
            </a:r>
            <a:endParaRPr lang="en-US" sz="900" dirty="0"/>
          </a:p>
        </p:txBody>
      </p:sp>
      <p:sp>
        <p:nvSpPr>
          <p:cNvPr id="31" name="Text 29"/>
          <p:cNvSpPr/>
          <p:nvPr/>
        </p:nvSpPr>
        <p:spPr>
          <a:xfrm>
            <a:off x="384048" y="3127248"/>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sd_type (0-4), IsSD1, IsSD2, IsSD3, IsSD4</a:t>
            </a:r>
            <a:endParaRPr lang="en-US" sz="800" b="1" dirty="0"/>
          </a:p>
        </p:txBody>
      </p:sp>
      <p:sp>
        <p:nvSpPr>
          <p:cNvPr id="32" name="Shape 30"/>
          <p:cNvSpPr/>
          <p:nvPr/>
        </p:nvSpPr>
        <p:spPr>
          <a:xfrm>
            <a:off x="4617720" y="2834640"/>
            <a:ext cx="4160520" cy="164592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33" name="Shape 31"/>
          <p:cNvSpPr/>
          <p:nvPr/>
        </p:nvSpPr>
        <p:spPr>
          <a:xfrm>
            <a:off x="4617720" y="2834640"/>
            <a:ext cx="4160520" cy="256032"/>
          </a:xfrm>
          <a:prstGeom prst="rect">
            <a:avLst/>
          </a:prstGeom>
          <a:solidFill>
            <a:srgbClr val="C0392B"/>
          </a:solidFill>
          <a:ln w="12700">
            <a:solidFill>
              <a:srgbClr val="C0392B"/>
            </a:solidFill>
            <a:prstDash val="solid"/>
          </a:ln>
        </p:spPr>
      </p:sp>
      <p:sp>
        <p:nvSpPr>
          <p:cNvPr id="34" name="Text 32"/>
          <p:cNvSpPr/>
          <p:nvPr/>
        </p:nvSpPr>
        <p:spPr>
          <a:xfrm>
            <a:off x="4709160" y="2834640"/>
            <a:ext cx="402336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Group 6: SD-Specific Features (8) ★ PAPER's CORE</a:t>
            </a:r>
            <a:endParaRPr lang="en-US" sz="900" dirty="0"/>
          </a:p>
        </p:txBody>
      </p:sp>
      <p:sp>
        <p:nvSpPr>
          <p:cNvPr id="35" name="Text 33"/>
          <p:cNvSpPr/>
          <p:nvPr/>
        </p:nvSpPr>
        <p:spPr>
          <a:xfrm>
            <a:off x="4727448" y="3127248"/>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sd_level (rolling median baseline)</a:t>
            </a:r>
            <a:endParaRPr lang="en-US" sz="800" b="1" dirty="0"/>
          </a:p>
        </p:txBody>
      </p:sp>
      <p:sp>
        <p:nvSpPr>
          <p:cNvPr id="36" name="Text 34"/>
          <p:cNvSpPr/>
          <p:nvPr/>
        </p:nvSpPr>
        <p:spPr>
          <a:xfrm>
            <a:off x="4727448" y="3291840"/>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sd_abs_change (units vs baseline)</a:t>
            </a:r>
            <a:endParaRPr lang="en-US" sz="800" b="1" dirty="0"/>
          </a:p>
        </p:txBody>
      </p:sp>
      <p:sp>
        <p:nvSpPr>
          <p:cNvPr id="37" name="Text 35"/>
          <p:cNvSpPr/>
          <p:nvPr/>
        </p:nvSpPr>
        <p:spPr>
          <a:xfrm>
            <a:off x="4727448" y="3456432"/>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sd_rel_change (% vs baseline)</a:t>
            </a:r>
            <a:endParaRPr lang="en-US" sz="800" b="1" dirty="0"/>
          </a:p>
        </p:txBody>
      </p:sp>
      <p:sp>
        <p:nvSpPr>
          <p:cNvPr id="38" name="Text 36"/>
          <p:cNvSpPr/>
          <p:nvPr/>
        </p:nvSpPr>
        <p:spPr>
          <a:xfrm>
            <a:off x="4727448" y="3621024"/>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sd_rel_change_storetype (pooled over store class)</a:t>
            </a:r>
            <a:endParaRPr lang="en-US" sz="800" b="1" dirty="0"/>
          </a:p>
        </p:txBody>
      </p:sp>
      <p:sp>
        <p:nvSpPr>
          <p:cNvPr id="39" name="Text 37"/>
          <p:cNvSpPr/>
          <p:nvPr/>
        </p:nvSpPr>
        <p:spPr>
          <a:xfrm>
            <a:off x="4727448" y="3785616"/>
            <a:ext cx="3977640" cy="164592"/>
          </a:xfrm>
          <a:prstGeom prst="rect">
            <a:avLst/>
          </a:prstGeom>
          <a:noFill/>
          <a:ln/>
        </p:spPr>
        <p:txBody>
          <a:bodyPr wrap="square" lIns="0" tIns="0" rIns="0" bIns="0" rtlCol="0" anchor="ctr"/>
          <a:lstStyle/>
          <a:p>
            <a:pPr marL="0" indent="0">
              <a:buNone/>
            </a:pPr>
            <a:r>
              <a:rPr lang="en-US" sz="800" b="1" dirty="0">
                <a:latin typeface="Calibri" pitchFamily="34" charset="0"/>
                <a:ea typeface="Calibri" pitchFamily="34" charset="-122"/>
                <a:cs typeface="Calibri" pitchFamily="34" charset="-120"/>
              </a:rPr>
              <a:t>▸  × 2: public holidays vs other special events</a:t>
            </a:r>
            <a:endParaRPr lang="en-US" sz="800" b="1" dirty="0"/>
          </a:p>
        </p:txBody>
      </p:sp>
      <p:sp>
        <p:nvSpPr>
          <p:cNvPr id="40" name="Shape 38"/>
          <p:cNvSpPr/>
          <p:nvPr/>
        </p:nvSpPr>
        <p:spPr>
          <a:xfrm>
            <a:off x="4617720" y="4526280"/>
            <a:ext cx="4160520" cy="502920"/>
          </a:xfrm>
          <a:prstGeom prst="rect">
            <a:avLst/>
          </a:prstGeom>
          <a:solidFill>
            <a:srgbClr val="FFF3F3"/>
          </a:solidFill>
          <a:ln w="12700">
            <a:solidFill>
              <a:srgbClr val="C0392B"/>
            </a:solidFill>
            <a:prstDash val="solid"/>
          </a:ln>
        </p:spPr>
      </p:sp>
      <p:sp>
        <p:nvSpPr>
          <p:cNvPr id="41" name="Text 39"/>
          <p:cNvSpPr/>
          <p:nvPr/>
        </p:nvSpPr>
        <p:spPr>
          <a:xfrm>
            <a:off x="4709160" y="4544568"/>
            <a:ext cx="3977640" cy="457200"/>
          </a:xfrm>
          <a:prstGeom prst="rect">
            <a:avLst/>
          </a:prstGeom>
          <a:noFill/>
          <a:ln/>
        </p:spPr>
        <p:txBody>
          <a:bodyPr wrap="square" lIns="0" tIns="0" rIns="0" bIns="0" rtlCol="0" anchor="ctr"/>
          <a:lstStyle/>
          <a:p>
            <a:pPr marL="0" indent="0">
              <a:buNone/>
            </a:pPr>
            <a:r>
              <a:rPr lang="en-US" sz="800" i="1" dirty="0">
                <a:solidFill>
                  <a:srgbClr val="C0392B"/>
                </a:solidFill>
                <a:latin typeface="Calibri" pitchFamily="34" charset="0"/>
                <a:ea typeface="Calibri" pitchFamily="34" charset="-122"/>
                <a:cs typeface="Calibri" pitchFamily="34" charset="-120"/>
              </a:rPr>
              <a:t>SD Feature Formula for Test Period:</a:t>
            </a:r>
            <a:endParaRPr lang="en-US" sz="800" dirty="0"/>
          </a:p>
          <a:p>
            <a:pPr marL="0" indent="0">
              <a:buNone/>
            </a:pPr>
            <a:r>
              <a:rPr lang="en-US" sz="800" i="1" dirty="0">
                <a:solidFill>
                  <a:srgbClr val="C0392B"/>
                </a:solidFill>
                <a:latin typeface="Calibri" pitchFamily="34" charset="0"/>
                <a:ea typeface="Calibri" pitchFamily="34" charset="-122"/>
                <a:cs typeface="Calibri" pitchFamily="34" charset="-120"/>
              </a:rPr>
              <a:t>value₂₀₁₅ = (1×obs₂₀₁₃ + 2×obs₂₀₁₄) ÷ 3   [weighted rolling mean, recent year = weight 2]</a:t>
            </a:r>
            <a:endParaRPr lang="en-US" sz="800" dirty="0"/>
          </a:p>
        </p:txBody>
      </p:sp>
      <p:sp>
        <p:nvSpPr>
          <p:cNvPr id="42" name="Shape 40"/>
          <p:cNvSpPr/>
          <p:nvPr/>
        </p:nvSpPr>
        <p:spPr>
          <a:xfrm>
            <a:off x="274320" y="4526280"/>
            <a:ext cx="4160520" cy="502920"/>
          </a:xfrm>
          <a:prstGeom prst="rect">
            <a:avLst/>
          </a:prstGeom>
          <a:solidFill>
            <a:srgbClr val="1A2B4A"/>
          </a:solidFill>
          <a:ln w="12700">
            <a:solidFill>
              <a:srgbClr val="1A2B4A"/>
            </a:solidFill>
            <a:prstDash val="solid"/>
          </a:ln>
        </p:spPr>
      </p:sp>
      <p:sp>
        <p:nvSpPr>
          <p:cNvPr id="43" name="Text 41"/>
          <p:cNvSpPr/>
          <p:nvPr/>
        </p:nvSpPr>
        <p:spPr>
          <a:xfrm>
            <a:off x="365760" y="4544568"/>
            <a:ext cx="3931920" cy="45720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TOTAL: 42 features  ·  All scalers fitted on TRAINING DATA ONLY  ·  Test set only transformed (no leakage)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Text 1"/>
          <p:cNvSpPr/>
          <p:nvPr/>
        </p:nvSpPr>
        <p:spPr>
          <a:xfrm>
            <a:off x="274320" y="91440"/>
            <a:ext cx="77724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Preprocessing Pipeline</a:t>
            </a:r>
            <a:endParaRPr lang="en-US" sz="2000" dirty="0"/>
          </a:p>
        </p:txBody>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lgn="r">
              <a:buNone/>
            </a:pPr>
            <a:r>
              <a:rPr lang="en-US" sz="1100" i="1" dirty="0">
                <a:solidFill>
                  <a:srgbClr val="14A9AE"/>
                </a:solidFill>
                <a:latin typeface="Calibri" pitchFamily="34" charset="0"/>
                <a:ea typeface="Calibri" pitchFamily="34" charset="-122"/>
                <a:cs typeface="Calibri" pitchFamily="34" charset="-120"/>
              </a:rPr>
              <a:t>EDA — Transforms applied before any model training</a:t>
            </a:r>
            <a:endParaRPr lang="en-US" sz="1100" dirty="0"/>
          </a:p>
        </p:txBody>
      </p:sp>
      <p:sp>
        <p:nvSpPr>
          <p:cNvPr id="5" name="Shape 3"/>
          <p:cNvSpPr/>
          <p:nvPr/>
        </p:nvSpPr>
        <p:spPr>
          <a:xfrm>
            <a:off x="0" y="685800"/>
            <a:ext cx="9144000" cy="54864"/>
          </a:xfrm>
          <a:prstGeom prst="rect">
            <a:avLst/>
          </a:prstGeom>
          <a:solidFill>
            <a:srgbClr val="0D7377"/>
          </a:solidFill>
          <a:ln w="12700">
            <a:solidFill>
              <a:srgbClr val="0D7377"/>
            </a:solidFill>
            <a:prstDash val="solid"/>
          </a:ln>
        </p:spPr>
      </p:sp>
      <p:sp>
        <p:nvSpPr>
          <p:cNvPr id="6" name="Shape 4"/>
          <p:cNvSpPr/>
          <p:nvPr/>
        </p:nvSpPr>
        <p:spPr>
          <a:xfrm>
            <a:off x="777240" y="804672"/>
            <a:ext cx="594360" cy="594360"/>
          </a:xfrm>
          <a:prstGeom prst="ellipse">
            <a:avLst/>
          </a:prstGeom>
          <a:solidFill>
            <a:srgbClr val="1A2B4A"/>
          </a:solidFill>
          <a:ln w="12700">
            <a:solidFill>
              <a:srgbClr val="1A2B4A"/>
            </a:solidFill>
            <a:prstDash val="solid"/>
          </a:ln>
        </p:spPr>
      </p:sp>
      <p:sp>
        <p:nvSpPr>
          <p:cNvPr id="7" name="Text 5"/>
          <p:cNvSpPr/>
          <p:nvPr/>
        </p:nvSpPr>
        <p:spPr>
          <a:xfrm>
            <a:off x="777240" y="804672"/>
            <a:ext cx="59436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8" name="Shape 6"/>
          <p:cNvSpPr/>
          <p:nvPr/>
        </p:nvSpPr>
        <p:spPr>
          <a:xfrm>
            <a:off x="1371600" y="1097280"/>
            <a:ext cx="658368" cy="0"/>
          </a:xfrm>
          <a:prstGeom prst="line">
            <a:avLst/>
          </a:prstGeom>
          <a:noFill/>
          <a:ln w="19050">
            <a:solidFill>
              <a:srgbClr val="8896A5"/>
            </a:solidFill>
            <a:prstDash val="solid"/>
          </a:ln>
        </p:spPr>
      </p:sp>
      <p:sp>
        <p:nvSpPr>
          <p:cNvPr id="9" name="Text 7"/>
          <p:cNvSpPr/>
          <p:nvPr/>
        </p:nvSpPr>
        <p:spPr>
          <a:xfrm>
            <a:off x="274320" y="1444752"/>
            <a:ext cx="1600200" cy="347472"/>
          </a:xfrm>
          <a:prstGeom prst="rect">
            <a:avLst/>
          </a:prstGeom>
          <a:noFill/>
          <a:ln/>
        </p:spPr>
        <p:txBody>
          <a:bodyPr wrap="square" lIns="0" tIns="0" rIns="0" bIns="0" rtlCol="0" anchor="ctr"/>
          <a:lstStyle/>
          <a:p>
            <a:pPr marL="0" indent="0" algn="ctr">
              <a:buNone/>
            </a:pPr>
            <a:r>
              <a:rPr lang="en-US" sz="950" b="1" dirty="0">
                <a:solidFill>
                  <a:srgbClr val="1A2B4A"/>
                </a:solidFill>
                <a:latin typeface="Calibri" pitchFamily="34" charset="0"/>
                <a:ea typeface="Calibri" pitchFamily="34" charset="-122"/>
                <a:cs typeface="Calibri" pitchFamily="34" charset="-120"/>
              </a:rPr>
              <a:t>Log Transform</a:t>
            </a:r>
            <a:endParaRPr lang="en-US" sz="950" dirty="0"/>
          </a:p>
        </p:txBody>
      </p:sp>
      <p:sp>
        <p:nvSpPr>
          <p:cNvPr id="10" name="Shape 8"/>
          <p:cNvSpPr/>
          <p:nvPr/>
        </p:nvSpPr>
        <p:spPr>
          <a:xfrm>
            <a:off x="274320" y="1792224"/>
            <a:ext cx="1600200" cy="1078992"/>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11" name="Text 9"/>
          <p:cNvSpPr/>
          <p:nvPr/>
        </p:nvSpPr>
        <p:spPr>
          <a:xfrm>
            <a:off x="347472" y="1828800"/>
            <a:ext cx="1481328" cy="1005840"/>
          </a:xfrm>
          <a:prstGeom prst="rect">
            <a:avLst/>
          </a:prstGeom>
          <a:noFill/>
          <a:ln/>
        </p:spPr>
        <p:txBody>
          <a:bodyPr wrap="square" lIns="0" tIns="0" rIns="0" bIns="0" rtlCol="0" anchor="t"/>
          <a:lstStyle/>
          <a:p>
            <a:pPr marL="0" indent="0">
              <a:buNone/>
            </a:pPr>
            <a:r>
              <a:rPr lang="en-US" sz="800" dirty="0">
                <a:solidFill>
                  <a:srgbClr val="3D5166"/>
                </a:solidFill>
                <a:latin typeface="Calibri" pitchFamily="34" charset="0"/>
                <a:ea typeface="Calibri" pitchFamily="34" charset="-122"/>
                <a:cs typeface="Calibri" pitchFamily="34" charset="-120"/>
              </a:rPr>
              <a:t>y = log(Sales + 1)</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Right-skewed → symmetric</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+1 avoids log(0)</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Not applied to LightGBM</a:t>
            </a:r>
            <a:endParaRPr lang="en-US" sz="800" dirty="0"/>
          </a:p>
        </p:txBody>
      </p:sp>
      <p:sp>
        <p:nvSpPr>
          <p:cNvPr id="12" name="Shape 10"/>
          <p:cNvSpPr/>
          <p:nvPr/>
        </p:nvSpPr>
        <p:spPr>
          <a:xfrm>
            <a:off x="2532888" y="804672"/>
            <a:ext cx="594360" cy="594360"/>
          </a:xfrm>
          <a:prstGeom prst="ellipse">
            <a:avLst/>
          </a:prstGeom>
          <a:solidFill>
            <a:srgbClr val="0D7377"/>
          </a:solidFill>
          <a:ln w="12700">
            <a:solidFill>
              <a:srgbClr val="0D7377"/>
            </a:solidFill>
            <a:prstDash val="solid"/>
          </a:ln>
        </p:spPr>
      </p:sp>
      <p:sp>
        <p:nvSpPr>
          <p:cNvPr id="13" name="Text 11"/>
          <p:cNvSpPr/>
          <p:nvPr/>
        </p:nvSpPr>
        <p:spPr>
          <a:xfrm>
            <a:off x="2532888" y="804672"/>
            <a:ext cx="59436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4" name="Shape 12"/>
          <p:cNvSpPr/>
          <p:nvPr/>
        </p:nvSpPr>
        <p:spPr>
          <a:xfrm>
            <a:off x="3127248" y="1097280"/>
            <a:ext cx="658368" cy="0"/>
          </a:xfrm>
          <a:prstGeom prst="line">
            <a:avLst/>
          </a:prstGeom>
          <a:noFill/>
          <a:ln w="19050">
            <a:solidFill>
              <a:srgbClr val="8896A5"/>
            </a:solidFill>
            <a:prstDash val="solid"/>
          </a:ln>
        </p:spPr>
      </p:sp>
      <p:sp>
        <p:nvSpPr>
          <p:cNvPr id="15" name="Text 13"/>
          <p:cNvSpPr/>
          <p:nvPr/>
        </p:nvSpPr>
        <p:spPr>
          <a:xfrm>
            <a:off x="2029968" y="1444752"/>
            <a:ext cx="1600200" cy="347472"/>
          </a:xfrm>
          <a:prstGeom prst="rect">
            <a:avLst/>
          </a:prstGeom>
          <a:noFill/>
          <a:ln/>
        </p:spPr>
        <p:txBody>
          <a:bodyPr wrap="square" lIns="0" tIns="0" rIns="0" bIns="0" rtlCol="0" anchor="ctr"/>
          <a:lstStyle/>
          <a:p>
            <a:pPr marL="0" indent="0" algn="ctr">
              <a:buNone/>
            </a:pPr>
            <a:r>
              <a:rPr lang="en-US" sz="950" b="1" dirty="0">
                <a:solidFill>
                  <a:srgbClr val="0D7377"/>
                </a:solidFill>
                <a:latin typeface="Calibri" pitchFamily="34" charset="0"/>
                <a:ea typeface="Calibri" pitchFamily="34" charset="-122"/>
                <a:cs typeface="Calibri" pitchFamily="34" charset="-120"/>
              </a:rPr>
              <a:t>MinMax Scale</a:t>
            </a:r>
            <a:endParaRPr lang="en-US" sz="950" dirty="0"/>
          </a:p>
          <a:p>
            <a:pPr marL="0" indent="0" algn="ctr">
              <a:buNone/>
            </a:pPr>
            <a:r>
              <a:rPr lang="en-US" sz="950" b="1" dirty="0">
                <a:solidFill>
                  <a:srgbClr val="0D7377"/>
                </a:solidFill>
                <a:latin typeface="Calibri" pitchFamily="34" charset="0"/>
                <a:ea typeface="Calibri" pitchFamily="34" charset="-122"/>
                <a:cs typeface="Calibri" pitchFamily="34" charset="-120"/>
              </a:rPr>
              <a:t>[−0.5, 0.5]</a:t>
            </a:r>
            <a:endParaRPr lang="en-US" sz="950" dirty="0"/>
          </a:p>
        </p:txBody>
      </p:sp>
      <p:sp>
        <p:nvSpPr>
          <p:cNvPr id="16" name="Shape 14"/>
          <p:cNvSpPr/>
          <p:nvPr/>
        </p:nvSpPr>
        <p:spPr>
          <a:xfrm>
            <a:off x="2029968" y="1792224"/>
            <a:ext cx="1600200" cy="1078992"/>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17" name="Text 15"/>
          <p:cNvSpPr/>
          <p:nvPr/>
        </p:nvSpPr>
        <p:spPr>
          <a:xfrm>
            <a:off x="2103120" y="1828800"/>
            <a:ext cx="1481328" cy="1005840"/>
          </a:xfrm>
          <a:prstGeom prst="rect">
            <a:avLst/>
          </a:prstGeom>
          <a:noFill/>
          <a:ln/>
        </p:spPr>
        <p:txBody>
          <a:bodyPr wrap="square" lIns="0" tIns="0" rIns="0" bIns="0" rtlCol="0" anchor="t"/>
          <a:lstStyle/>
          <a:p>
            <a:pPr marL="0" indent="0">
              <a:buNone/>
            </a:pPr>
            <a:r>
              <a:rPr lang="en-US" sz="800" dirty="0">
                <a:solidFill>
                  <a:srgbClr val="3D5166"/>
                </a:solidFill>
                <a:latin typeface="Calibri" pitchFamily="34" charset="0"/>
                <a:ea typeface="Calibri" pitchFamily="34" charset="-122"/>
                <a:cs typeface="Calibri" pitchFamily="34" charset="-120"/>
              </a:rPr>
              <a:t>Applied after log</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LeCun et al. (2012)</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Optimal for backprop</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Fitted on train only</a:t>
            </a:r>
            <a:endParaRPr lang="en-US" sz="800" dirty="0"/>
          </a:p>
        </p:txBody>
      </p:sp>
      <p:sp>
        <p:nvSpPr>
          <p:cNvPr id="18" name="Shape 16"/>
          <p:cNvSpPr/>
          <p:nvPr/>
        </p:nvSpPr>
        <p:spPr>
          <a:xfrm>
            <a:off x="4288536" y="804672"/>
            <a:ext cx="594360" cy="594360"/>
          </a:xfrm>
          <a:prstGeom prst="ellipse">
            <a:avLst/>
          </a:prstGeom>
          <a:solidFill>
            <a:srgbClr val="0A5C72"/>
          </a:solidFill>
          <a:ln w="12700">
            <a:solidFill>
              <a:srgbClr val="0A5C72"/>
            </a:solidFill>
            <a:prstDash val="solid"/>
          </a:ln>
        </p:spPr>
      </p:sp>
      <p:sp>
        <p:nvSpPr>
          <p:cNvPr id="19" name="Text 17"/>
          <p:cNvSpPr/>
          <p:nvPr/>
        </p:nvSpPr>
        <p:spPr>
          <a:xfrm>
            <a:off x="4288536" y="804672"/>
            <a:ext cx="59436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0" name="Shape 18"/>
          <p:cNvSpPr/>
          <p:nvPr/>
        </p:nvSpPr>
        <p:spPr>
          <a:xfrm>
            <a:off x="4882896" y="1097280"/>
            <a:ext cx="658368" cy="0"/>
          </a:xfrm>
          <a:prstGeom prst="line">
            <a:avLst/>
          </a:prstGeom>
          <a:noFill/>
          <a:ln w="19050">
            <a:solidFill>
              <a:srgbClr val="8896A5"/>
            </a:solidFill>
            <a:prstDash val="solid"/>
          </a:ln>
        </p:spPr>
      </p:sp>
      <p:sp>
        <p:nvSpPr>
          <p:cNvPr id="21" name="Text 19"/>
          <p:cNvSpPr/>
          <p:nvPr/>
        </p:nvSpPr>
        <p:spPr>
          <a:xfrm>
            <a:off x="3785616" y="1444752"/>
            <a:ext cx="1600200" cy="347472"/>
          </a:xfrm>
          <a:prstGeom prst="rect">
            <a:avLst/>
          </a:prstGeom>
          <a:noFill/>
          <a:ln/>
        </p:spPr>
        <p:txBody>
          <a:bodyPr wrap="square" lIns="0" tIns="0" rIns="0" bIns="0" rtlCol="0" anchor="ctr"/>
          <a:lstStyle/>
          <a:p>
            <a:pPr marL="0" indent="0" algn="ctr">
              <a:buNone/>
            </a:pPr>
            <a:r>
              <a:rPr lang="en-US" sz="950" b="1" dirty="0">
                <a:solidFill>
                  <a:srgbClr val="0A5C72"/>
                </a:solidFill>
                <a:latin typeface="Calibri" pitchFamily="34" charset="0"/>
                <a:ea typeface="Calibri" pitchFamily="34" charset="-122"/>
                <a:cs typeface="Calibri" pitchFamily="34" charset="-120"/>
              </a:rPr>
              <a:t>104 Bins</a:t>
            </a:r>
            <a:endParaRPr lang="en-US" sz="950" dirty="0"/>
          </a:p>
          <a:p>
            <a:pPr marL="0" indent="0" algn="ctr">
              <a:buNone/>
            </a:pPr>
            <a:r>
              <a:rPr lang="en-US" sz="950" b="1" dirty="0">
                <a:solidFill>
                  <a:srgbClr val="0A5C72"/>
                </a:solidFill>
                <a:latin typeface="Calibri" pitchFamily="34" charset="0"/>
                <a:ea typeface="Calibri" pitchFamily="34" charset="-122"/>
                <a:cs typeface="Calibri" pitchFamily="34" charset="-120"/>
              </a:rPr>
              <a:t>(Classification)</a:t>
            </a:r>
            <a:endParaRPr lang="en-US" sz="950" dirty="0"/>
          </a:p>
        </p:txBody>
      </p:sp>
      <p:sp>
        <p:nvSpPr>
          <p:cNvPr id="22" name="Shape 20"/>
          <p:cNvSpPr/>
          <p:nvPr/>
        </p:nvSpPr>
        <p:spPr>
          <a:xfrm>
            <a:off x="3785616" y="1792224"/>
            <a:ext cx="1600200" cy="1078992"/>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23" name="Text 21"/>
          <p:cNvSpPr/>
          <p:nvPr/>
        </p:nvSpPr>
        <p:spPr>
          <a:xfrm>
            <a:off x="3858768" y="1828800"/>
            <a:ext cx="1481328" cy="1005840"/>
          </a:xfrm>
          <a:prstGeom prst="rect">
            <a:avLst/>
          </a:prstGeom>
          <a:noFill/>
          <a:ln/>
        </p:spPr>
        <p:txBody>
          <a:bodyPr wrap="square" lIns="0" tIns="0" rIns="0" bIns="0" rtlCol="0" anchor="t"/>
          <a:lstStyle/>
          <a:p>
            <a:pPr marL="0" indent="0">
              <a:buNone/>
            </a:pPr>
            <a:r>
              <a:rPr lang="en-US" sz="800" dirty="0">
                <a:solidFill>
                  <a:srgbClr val="3D5166"/>
                </a:solidFill>
                <a:latin typeface="Calibri" pitchFamily="34" charset="0"/>
                <a:ea typeface="Calibri" pitchFamily="34" charset="-122"/>
                <a:cs typeface="Calibri" pitchFamily="34" charset="-120"/>
              </a:rPr>
              <a:t>Percentile-based</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+extra splits &gt;10% jump</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Bin midpoint = class value</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Paper uses 124 bins</a:t>
            </a:r>
            <a:endParaRPr lang="en-US" sz="800" dirty="0"/>
          </a:p>
        </p:txBody>
      </p:sp>
      <p:sp>
        <p:nvSpPr>
          <p:cNvPr id="24" name="Shape 22"/>
          <p:cNvSpPr/>
          <p:nvPr/>
        </p:nvSpPr>
        <p:spPr>
          <a:xfrm>
            <a:off x="6044184" y="804672"/>
            <a:ext cx="594360" cy="594360"/>
          </a:xfrm>
          <a:prstGeom prst="ellipse">
            <a:avLst/>
          </a:prstGeom>
          <a:solidFill>
            <a:srgbClr val="2B6CB0"/>
          </a:solidFill>
          <a:ln w="12700">
            <a:solidFill>
              <a:srgbClr val="2B6CB0"/>
            </a:solidFill>
            <a:prstDash val="solid"/>
          </a:ln>
        </p:spPr>
      </p:sp>
      <p:sp>
        <p:nvSpPr>
          <p:cNvPr id="25" name="Text 23"/>
          <p:cNvSpPr/>
          <p:nvPr/>
        </p:nvSpPr>
        <p:spPr>
          <a:xfrm>
            <a:off x="6044184" y="804672"/>
            <a:ext cx="59436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6" name="Shape 24"/>
          <p:cNvSpPr/>
          <p:nvPr/>
        </p:nvSpPr>
        <p:spPr>
          <a:xfrm>
            <a:off x="6638544" y="1097280"/>
            <a:ext cx="658368" cy="0"/>
          </a:xfrm>
          <a:prstGeom prst="line">
            <a:avLst/>
          </a:prstGeom>
          <a:noFill/>
          <a:ln w="19050">
            <a:solidFill>
              <a:srgbClr val="8896A5"/>
            </a:solidFill>
            <a:prstDash val="solid"/>
          </a:ln>
        </p:spPr>
      </p:sp>
      <p:sp>
        <p:nvSpPr>
          <p:cNvPr id="27" name="Text 25"/>
          <p:cNvSpPr/>
          <p:nvPr/>
        </p:nvSpPr>
        <p:spPr>
          <a:xfrm>
            <a:off x="5541264" y="1444752"/>
            <a:ext cx="1600200" cy="347472"/>
          </a:xfrm>
          <a:prstGeom prst="rect">
            <a:avLst/>
          </a:prstGeom>
          <a:noFill/>
          <a:ln/>
        </p:spPr>
        <p:txBody>
          <a:bodyPr wrap="square" lIns="0" tIns="0" rIns="0" bIns="0" rtlCol="0" anchor="ctr"/>
          <a:lstStyle/>
          <a:p>
            <a:pPr marL="0" indent="0" algn="ctr">
              <a:buNone/>
            </a:pPr>
            <a:r>
              <a:rPr lang="en-US" sz="950" b="1" dirty="0">
                <a:solidFill>
                  <a:srgbClr val="2B6CB0"/>
                </a:solidFill>
                <a:latin typeface="Calibri" pitchFamily="34" charset="0"/>
                <a:ea typeface="Calibri" pitchFamily="34" charset="-122"/>
                <a:cs typeface="Calibri" pitchFamily="34" charset="-120"/>
              </a:rPr>
              <a:t>Standard Scale</a:t>
            </a:r>
            <a:endParaRPr lang="en-US" sz="950" dirty="0"/>
          </a:p>
          <a:p>
            <a:pPr marL="0" indent="0" algn="ctr">
              <a:buNone/>
            </a:pPr>
            <a:r>
              <a:rPr lang="en-US" sz="950" b="1" dirty="0">
                <a:solidFill>
                  <a:srgbClr val="2B6CB0"/>
                </a:solidFill>
                <a:latin typeface="Calibri" pitchFamily="34" charset="0"/>
                <a:ea typeface="Calibri" pitchFamily="34" charset="-122"/>
                <a:cs typeface="Calibri" pitchFamily="34" charset="-120"/>
              </a:rPr>
              <a:t>(Features)</a:t>
            </a:r>
            <a:endParaRPr lang="en-US" sz="950" dirty="0"/>
          </a:p>
        </p:txBody>
      </p:sp>
      <p:sp>
        <p:nvSpPr>
          <p:cNvPr id="28" name="Shape 26"/>
          <p:cNvSpPr/>
          <p:nvPr/>
        </p:nvSpPr>
        <p:spPr>
          <a:xfrm>
            <a:off x="5541264" y="1792224"/>
            <a:ext cx="1600200" cy="1078992"/>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29" name="Text 27"/>
          <p:cNvSpPr/>
          <p:nvPr/>
        </p:nvSpPr>
        <p:spPr>
          <a:xfrm>
            <a:off x="5614416" y="1828800"/>
            <a:ext cx="1481328" cy="1005840"/>
          </a:xfrm>
          <a:prstGeom prst="rect">
            <a:avLst/>
          </a:prstGeom>
          <a:noFill/>
          <a:ln/>
        </p:spPr>
        <p:txBody>
          <a:bodyPr wrap="square" lIns="0" tIns="0" rIns="0" bIns="0" rtlCol="0" anchor="t"/>
          <a:lstStyle/>
          <a:p>
            <a:pPr marL="0" indent="0">
              <a:buNone/>
            </a:pPr>
            <a:r>
              <a:rPr lang="en-US" sz="800" dirty="0">
                <a:solidFill>
                  <a:srgbClr val="3D5166"/>
                </a:solidFill>
                <a:latin typeface="Calibri" pitchFamily="34" charset="0"/>
                <a:ea typeface="Calibri" pitchFamily="34" charset="-122"/>
                <a:cs typeface="Calibri" pitchFamily="34" charset="-120"/>
              </a:rPr>
              <a:t>μ=0, σ=1 per column</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Equal gradient weights</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For continuous features</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Store_enc → [0,1]</a:t>
            </a:r>
            <a:endParaRPr lang="en-US" sz="800" dirty="0"/>
          </a:p>
        </p:txBody>
      </p:sp>
      <p:sp>
        <p:nvSpPr>
          <p:cNvPr id="30" name="Shape 28"/>
          <p:cNvSpPr/>
          <p:nvPr/>
        </p:nvSpPr>
        <p:spPr>
          <a:xfrm>
            <a:off x="7799832" y="804672"/>
            <a:ext cx="594360" cy="594360"/>
          </a:xfrm>
          <a:prstGeom prst="ellipse">
            <a:avLst/>
          </a:prstGeom>
          <a:solidFill>
            <a:srgbClr val="5B6A8F"/>
          </a:solidFill>
          <a:ln w="12700">
            <a:solidFill>
              <a:srgbClr val="5B6A8F"/>
            </a:solidFill>
            <a:prstDash val="solid"/>
          </a:ln>
        </p:spPr>
      </p:sp>
      <p:sp>
        <p:nvSpPr>
          <p:cNvPr id="31" name="Text 29"/>
          <p:cNvSpPr/>
          <p:nvPr/>
        </p:nvSpPr>
        <p:spPr>
          <a:xfrm>
            <a:off x="7799832" y="804672"/>
            <a:ext cx="59436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32" name="Text 30"/>
          <p:cNvSpPr/>
          <p:nvPr/>
        </p:nvSpPr>
        <p:spPr>
          <a:xfrm>
            <a:off x="7296912" y="1444752"/>
            <a:ext cx="1600200" cy="347472"/>
          </a:xfrm>
          <a:prstGeom prst="rect">
            <a:avLst/>
          </a:prstGeom>
          <a:noFill/>
          <a:ln/>
        </p:spPr>
        <p:txBody>
          <a:bodyPr wrap="square" lIns="0" tIns="0" rIns="0" bIns="0" rtlCol="0" anchor="ctr"/>
          <a:lstStyle/>
          <a:p>
            <a:pPr marL="0" indent="0" algn="ctr">
              <a:buNone/>
            </a:pPr>
            <a:r>
              <a:rPr lang="en-US" sz="950" b="1" dirty="0">
                <a:solidFill>
                  <a:srgbClr val="5B6A8F"/>
                </a:solidFill>
                <a:latin typeface="Calibri" pitchFamily="34" charset="0"/>
                <a:ea typeface="Calibri" pitchFamily="34" charset="-122"/>
                <a:cs typeface="Calibri" pitchFamily="34" charset="-120"/>
              </a:rPr>
              <a:t>10-Fold</a:t>
            </a:r>
            <a:endParaRPr lang="en-US" sz="950" dirty="0"/>
          </a:p>
          <a:p>
            <a:pPr marL="0" indent="0" algn="ctr">
              <a:buNone/>
            </a:pPr>
            <a:r>
              <a:rPr lang="en-US" sz="950" b="1" dirty="0">
                <a:solidFill>
                  <a:srgbClr val="5B6A8F"/>
                </a:solidFill>
                <a:latin typeface="Calibri" pitchFamily="34" charset="0"/>
                <a:ea typeface="Calibri" pitchFamily="34" charset="-122"/>
                <a:cs typeface="Calibri" pitchFamily="34" charset="-120"/>
              </a:rPr>
              <a:t>Stratified CV</a:t>
            </a:r>
            <a:endParaRPr lang="en-US" sz="950" dirty="0"/>
          </a:p>
        </p:txBody>
      </p:sp>
      <p:sp>
        <p:nvSpPr>
          <p:cNvPr id="33" name="Shape 31"/>
          <p:cNvSpPr/>
          <p:nvPr/>
        </p:nvSpPr>
        <p:spPr>
          <a:xfrm>
            <a:off x="7296912" y="1792224"/>
            <a:ext cx="1600200" cy="1078992"/>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34" name="Text 32"/>
          <p:cNvSpPr/>
          <p:nvPr/>
        </p:nvSpPr>
        <p:spPr>
          <a:xfrm>
            <a:off x="7370064" y="1828800"/>
            <a:ext cx="1481328" cy="1005840"/>
          </a:xfrm>
          <a:prstGeom prst="rect">
            <a:avLst/>
          </a:prstGeom>
          <a:noFill/>
          <a:ln/>
        </p:spPr>
        <p:txBody>
          <a:bodyPr wrap="square" lIns="0" tIns="0" rIns="0" bIns="0" rtlCol="0" anchor="t"/>
          <a:lstStyle/>
          <a:p>
            <a:pPr marL="0" indent="0">
              <a:buNone/>
            </a:pPr>
            <a:r>
              <a:rPr lang="en-US" sz="800" dirty="0">
                <a:solidFill>
                  <a:srgbClr val="3D5166"/>
                </a:solidFill>
                <a:latin typeface="Calibri" pitchFamily="34" charset="0"/>
                <a:ea typeface="Calibri" pitchFamily="34" charset="-122"/>
                <a:cs typeface="Calibri" pitchFamily="34" charset="-120"/>
              </a:rPr>
              <a:t>Stratified by SD type</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Ensures SD1 in every fold</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80% train / 20% val</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Time-respecting split</a:t>
            </a:r>
            <a:endParaRPr lang="en-US" sz="800" dirty="0"/>
          </a:p>
        </p:txBody>
      </p:sp>
      <p:sp>
        <p:nvSpPr>
          <p:cNvPr id="35" name="Shape 33"/>
          <p:cNvSpPr/>
          <p:nvPr/>
        </p:nvSpPr>
        <p:spPr>
          <a:xfrm>
            <a:off x="274320" y="2999232"/>
            <a:ext cx="4206240" cy="86868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36" name="Shape 34"/>
          <p:cNvSpPr/>
          <p:nvPr/>
        </p:nvSpPr>
        <p:spPr>
          <a:xfrm>
            <a:off x="274320" y="2999232"/>
            <a:ext cx="4206240" cy="54864"/>
          </a:xfrm>
          <a:prstGeom prst="rect">
            <a:avLst/>
          </a:prstGeom>
          <a:solidFill>
            <a:srgbClr val="F0A500"/>
          </a:solidFill>
          <a:ln w="12700">
            <a:solidFill>
              <a:srgbClr val="F0A500"/>
            </a:solidFill>
            <a:prstDash val="solid"/>
          </a:ln>
        </p:spPr>
      </p:sp>
      <p:sp>
        <p:nvSpPr>
          <p:cNvPr id="37" name="Text 35"/>
          <p:cNvSpPr/>
          <p:nvPr/>
        </p:nvSpPr>
        <p:spPr>
          <a:xfrm>
            <a:off x="365760" y="3090672"/>
            <a:ext cx="4023360" cy="201168"/>
          </a:xfrm>
          <a:prstGeom prst="rect">
            <a:avLst/>
          </a:prstGeom>
          <a:noFill/>
          <a:ln/>
        </p:spPr>
        <p:txBody>
          <a:bodyPr wrap="square" lIns="0" tIns="0" rIns="0" bIns="0" rtlCol="0" anchor="ctr"/>
          <a:lstStyle/>
          <a:p>
            <a:pPr marL="0" indent="0">
              <a:buNone/>
            </a:pPr>
            <a:r>
              <a:rPr lang="en-US" sz="900" b="1" dirty="0">
                <a:solidFill>
                  <a:srgbClr val="1A2B4A"/>
                </a:solidFill>
                <a:latin typeface="Calibri" pitchFamily="34" charset="0"/>
                <a:ea typeface="Calibri" pitchFamily="34" charset="-122"/>
                <a:cs typeface="Calibri" pitchFamily="34" charset="-120"/>
              </a:rPr>
              <a:t>Why log transform?</a:t>
            </a:r>
            <a:endParaRPr lang="en-US" sz="900" dirty="0"/>
          </a:p>
        </p:txBody>
      </p:sp>
      <p:sp>
        <p:nvSpPr>
          <p:cNvPr id="38" name="Text 36"/>
          <p:cNvSpPr/>
          <p:nvPr/>
        </p:nvSpPr>
        <p:spPr>
          <a:xfrm>
            <a:off x="365760" y="3291840"/>
            <a:ext cx="4023360" cy="548640"/>
          </a:xfrm>
          <a:prstGeom prst="rect">
            <a:avLst/>
          </a:prstGeom>
          <a:noFill/>
          <a:ln/>
        </p:spPr>
        <p:txBody>
          <a:bodyPr wrap="square" lIns="0" tIns="0" rIns="0" bIns="0" rtlCol="0" anchor="t"/>
          <a:lstStyle/>
          <a:p>
            <a:pPr marL="0" indent="0">
              <a:buNone/>
            </a:pPr>
            <a:r>
              <a:rPr lang="en-US" sz="800" dirty="0">
                <a:solidFill>
                  <a:srgbClr val="3D5166"/>
                </a:solidFill>
                <a:latin typeface="Calibri" pitchFamily="34" charset="0"/>
                <a:ea typeface="Calibri" pitchFamily="34" charset="-122"/>
                <a:cs typeface="Calibri" pitchFamily="34" charset="-120"/>
              </a:rPr>
              <a:t>Raw sales are right-skewed (0–300 normal, 2000+ on holidays). Neural net gradients proportional to error magnitude — without log, rare large holiday values dominate training. Log compresses the scale so all observations contribute equally.</a:t>
            </a:r>
            <a:endParaRPr lang="en-US" sz="800" dirty="0"/>
          </a:p>
        </p:txBody>
      </p:sp>
      <p:sp>
        <p:nvSpPr>
          <p:cNvPr id="39" name="Shape 37"/>
          <p:cNvSpPr/>
          <p:nvPr/>
        </p:nvSpPr>
        <p:spPr>
          <a:xfrm>
            <a:off x="4709160" y="2999232"/>
            <a:ext cx="4206240" cy="86868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40" name="Shape 38"/>
          <p:cNvSpPr/>
          <p:nvPr/>
        </p:nvSpPr>
        <p:spPr>
          <a:xfrm>
            <a:off x="4709160" y="2999232"/>
            <a:ext cx="4206240" cy="54864"/>
          </a:xfrm>
          <a:prstGeom prst="rect">
            <a:avLst/>
          </a:prstGeom>
          <a:solidFill>
            <a:srgbClr val="F0A500"/>
          </a:solidFill>
          <a:ln w="12700">
            <a:solidFill>
              <a:srgbClr val="F0A500"/>
            </a:solidFill>
            <a:prstDash val="solid"/>
          </a:ln>
        </p:spPr>
      </p:sp>
      <p:sp>
        <p:nvSpPr>
          <p:cNvPr id="41" name="Text 39"/>
          <p:cNvSpPr/>
          <p:nvPr/>
        </p:nvSpPr>
        <p:spPr>
          <a:xfrm>
            <a:off x="4800600" y="3090672"/>
            <a:ext cx="4023360" cy="201168"/>
          </a:xfrm>
          <a:prstGeom prst="rect">
            <a:avLst/>
          </a:prstGeom>
          <a:noFill/>
          <a:ln/>
        </p:spPr>
        <p:txBody>
          <a:bodyPr wrap="square" lIns="0" tIns="0" rIns="0" bIns="0" rtlCol="0" anchor="ctr"/>
          <a:lstStyle/>
          <a:p>
            <a:pPr marL="0" indent="0">
              <a:buNone/>
            </a:pPr>
            <a:r>
              <a:rPr lang="en-US" sz="900" b="1" dirty="0">
                <a:solidFill>
                  <a:srgbClr val="1A2B4A"/>
                </a:solidFill>
                <a:latin typeface="Calibri" pitchFamily="34" charset="0"/>
                <a:ea typeface="Calibri" pitchFamily="34" charset="-122"/>
                <a:cs typeface="Calibri" pitchFamily="34" charset="-120"/>
              </a:rPr>
              <a:t>Why [−0.5, 0.5] and not [0, 1]?</a:t>
            </a:r>
            <a:endParaRPr lang="en-US" sz="900" dirty="0"/>
          </a:p>
        </p:txBody>
      </p:sp>
      <p:sp>
        <p:nvSpPr>
          <p:cNvPr id="42" name="Text 40"/>
          <p:cNvSpPr/>
          <p:nvPr/>
        </p:nvSpPr>
        <p:spPr>
          <a:xfrm>
            <a:off x="4800600" y="3291840"/>
            <a:ext cx="4023360" cy="548640"/>
          </a:xfrm>
          <a:prstGeom prst="rect">
            <a:avLst/>
          </a:prstGeom>
          <a:noFill/>
          <a:ln/>
        </p:spPr>
        <p:txBody>
          <a:bodyPr wrap="square" lIns="0" tIns="0" rIns="0" bIns="0" rtlCol="0" anchor="t"/>
          <a:lstStyle/>
          <a:p>
            <a:pPr marL="0" indent="0">
              <a:buNone/>
            </a:pPr>
            <a:r>
              <a:rPr lang="en-US" sz="800" dirty="0">
                <a:solidFill>
                  <a:srgbClr val="3D5166"/>
                </a:solidFill>
                <a:latin typeface="Calibri" pitchFamily="34" charset="0"/>
                <a:ea typeface="Calibri" pitchFamily="34" charset="-122"/>
                <a:cs typeface="Calibri" pitchFamily="34" charset="-120"/>
              </a:rPr>
              <a:t>LeCun et al. (2012) showed analytically that inputs in [−0.5, 0.5] keep activations in the linear region of sigmoid/tanh, preventing gradient saturation. This specific range recommended for backpropagation efficiency.</a:t>
            </a:r>
            <a:endParaRPr lang="en-US" sz="800" dirty="0"/>
          </a:p>
        </p:txBody>
      </p:sp>
      <p:sp>
        <p:nvSpPr>
          <p:cNvPr id="43" name="Shape 41"/>
          <p:cNvSpPr/>
          <p:nvPr/>
        </p:nvSpPr>
        <p:spPr>
          <a:xfrm>
            <a:off x="274320" y="3959352"/>
            <a:ext cx="4206240" cy="86868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44" name="Shape 42"/>
          <p:cNvSpPr/>
          <p:nvPr/>
        </p:nvSpPr>
        <p:spPr>
          <a:xfrm>
            <a:off x="274320" y="3959352"/>
            <a:ext cx="4206240" cy="54864"/>
          </a:xfrm>
          <a:prstGeom prst="rect">
            <a:avLst/>
          </a:prstGeom>
          <a:solidFill>
            <a:srgbClr val="F0A500"/>
          </a:solidFill>
          <a:ln w="12700">
            <a:solidFill>
              <a:srgbClr val="F0A500"/>
            </a:solidFill>
            <a:prstDash val="solid"/>
          </a:ln>
        </p:spPr>
      </p:sp>
      <p:sp>
        <p:nvSpPr>
          <p:cNvPr id="45" name="Text 43"/>
          <p:cNvSpPr/>
          <p:nvPr/>
        </p:nvSpPr>
        <p:spPr>
          <a:xfrm>
            <a:off x="365760" y="4050792"/>
            <a:ext cx="4023360" cy="201168"/>
          </a:xfrm>
          <a:prstGeom prst="rect">
            <a:avLst/>
          </a:prstGeom>
          <a:noFill/>
          <a:ln/>
        </p:spPr>
        <p:txBody>
          <a:bodyPr wrap="square" lIns="0" tIns="0" rIns="0" bIns="0" rtlCol="0" anchor="ctr"/>
          <a:lstStyle/>
          <a:p>
            <a:pPr marL="0" indent="0">
              <a:buNone/>
            </a:pPr>
            <a:r>
              <a:rPr lang="en-US" sz="900" b="1" dirty="0">
                <a:solidFill>
                  <a:srgbClr val="1A2B4A"/>
                </a:solidFill>
                <a:latin typeface="Calibri" pitchFamily="34" charset="0"/>
                <a:ea typeface="Calibri" pitchFamily="34" charset="-122"/>
                <a:cs typeface="Calibri" pitchFamily="34" charset="-120"/>
              </a:rPr>
              <a:t>Why 104 bins (not 124)?</a:t>
            </a:r>
            <a:endParaRPr lang="en-US" sz="900" dirty="0"/>
          </a:p>
        </p:txBody>
      </p:sp>
      <p:sp>
        <p:nvSpPr>
          <p:cNvPr id="46" name="Text 44"/>
          <p:cNvSpPr/>
          <p:nvPr/>
        </p:nvSpPr>
        <p:spPr>
          <a:xfrm>
            <a:off x="365760" y="4251960"/>
            <a:ext cx="4023360" cy="548640"/>
          </a:xfrm>
          <a:prstGeom prst="rect">
            <a:avLst/>
          </a:prstGeom>
          <a:noFill/>
          <a:ln/>
        </p:spPr>
        <p:txBody>
          <a:bodyPr wrap="square" lIns="0" tIns="0" rIns="0" bIns="0" rtlCol="0" anchor="t"/>
          <a:lstStyle/>
          <a:p>
            <a:pPr marL="0" indent="0">
              <a:buNone/>
            </a:pPr>
            <a:r>
              <a:rPr lang="en-US" sz="800" dirty="0">
                <a:solidFill>
                  <a:srgbClr val="3D5166"/>
                </a:solidFill>
                <a:latin typeface="Calibri" pitchFamily="34" charset="0"/>
                <a:ea typeface="Calibri" pitchFamily="34" charset="-122"/>
                <a:cs typeface="Calibri" pitchFamily="34" charset="-120"/>
              </a:rPr>
              <a:t>Paper gets 124 bins on bakery data (higher variance). Rossmann sales distribution is less spread — percentile algorithm produced 104 distinct boundary points after applying the &gt;10% relative increase rule.</a:t>
            </a:r>
            <a:endParaRPr lang="en-US" sz="800" dirty="0"/>
          </a:p>
        </p:txBody>
      </p:sp>
      <p:sp>
        <p:nvSpPr>
          <p:cNvPr id="47" name="Shape 45"/>
          <p:cNvSpPr/>
          <p:nvPr/>
        </p:nvSpPr>
        <p:spPr>
          <a:xfrm>
            <a:off x="4709160" y="3959352"/>
            <a:ext cx="4206240" cy="86868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48" name="Shape 46"/>
          <p:cNvSpPr/>
          <p:nvPr/>
        </p:nvSpPr>
        <p:spPr>
          <a:xfrm>
            <a:off x="4709160" y="3959352"/>
            <a:ext cx="4206240" cy="54864"/>
          </a:xfrm>
          <a:prstGeom prst="rect">
            <a:avLst/>
          </a:prstGeom>
          <a:solidFill>
            <a:srgbClr val="F0A500"/>
          </a:solidFill>
          <a:ln w="12700">
            <a:solidFill>
              <a:srgbClr val="F0A500"/>
            </a:solidFill>
            <a:prstDash val="solid"/>
          </a:ln>
        </p:spPr>
      </p:sp>
      <p:sp>
        <p:nvSpPr>
          <p:cNvPr id="49" name="Text 47"/>
          <p:cNvSpPr/>
          <p:nvPr/>
        </p:nvSpPr>
        <p:spPr>
          <a:xfrm>
            <a:off x="4800600" y="4050792"/>
            <a:ext cx="4023360" cy="201168"/>
          </a:xfrm>
          <a:prstGeom prst="rect">
            <a:avLst/>
          </a:prstGeom>
          <a:noFill/>
          <a:ln/>
        </p:spPr>
        <p:txBody>
          <a:bodyPr wrap="square" lIns="0" tIns="0" rIns="0" bIns="0" rtlCol="0" anchor="ctr"/>
          <a:lstStyle/>
          <a:p>
            <a:pPr marL="0" indent="0">
              <a:buNone/>
            </a:pPr>
            <a:r>
              <a:rPr lang="en-US" sz="900" b="1" dirty="0">
                <a:solidFill>
                  <a:srgbClr val="1A2B4A"/>
                </a:solidFill>
                <a:latin typeface="Calibri" pitchFamily="34" charset="0"/>
                <a:ea typeface="Calibri" pitchFamily="34" charset="-122"/>
                <a:cs typeface="Calibri" pitchFamily="34" charset="-120"/>
              </a:rPr>
              <a:t>Why stratify CV by SD type?</a:t>
            </a:r>
            <a:endParaRPr lang="en-US" sz="900" dirty="0"/>
          </a:p>
        </p:txBody>
      </p:sp>
      <p:sp>
        <p:nvSpPr>
          <p:cNvPr id="50" name="Text 48"/>
          <p:cNvSpPr/>
          <p:nvPr/>
        </p:nvSpPr>
        <p:spPr>
          <a:xfrm>
            <a:off x="4800600" y="4251960"/>
            <a:ext cx="4023360" cy="548640"/>
          </a:xfrm>
          <a:prstGeom prst="rect">
            <a:avLst/>
          </a:prstGeom>
          <a:noFill/>
          <a:ln/>
        </p:spPr>
        <p:txBody>
          <a:bodyPr wrap="square" lIns="0" tIns="0" rIns="0" bIns="0" rtlCol="0" anchor="t"/>
          <a:lstStyle/>
          <a:p>
            <a:pPr marL="0" indent="0">
              <a:buNone/>
            </a:pPr>
            <a:r>
              <a:rPr lang="en-US" sz="800" dirty="0">
                <a:solidFill>
                  <a:srgbClr val="3D5166"/>
                </a:solidFill>
                <a:latin typeface="Calibri" pitchFamily="34" charset="0"/>
                <a:ea typeface="Calibri" pitchFamily="34" charset="-122"/>
                <a:cs typeface="Calibri" pitchFamily="34" charset="-120"/>
              </a:rPr>
              <a:t>SD1 is only 0.6–2% of data. Random splits might put zero SD1 rows in a validation fold — making it impossible to evaluate special day performance. Stratification guarantees each fold has proportional SD representation.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Text 1"/>
          <p:cNvSpPr/>
          <p:nvPr/>
        </p:nvSpPr>
        <p:spPr>
          <a:xfrm>
            <a:off x="274320" y="91440"/>
            <a:ext cx="77724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Baseline Models &amp; Why We Did Not Use ARIMA / ETS</a:t>
            </a:r>
            <a:endParaRPr lang="en-US" sz="2000" dirty="0"/>
          </a:p>
        </p:txBody>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lgn="r">
              <a:buNone/>
            </a:pPr>
            <a:r>
              <a:rPr lang="en-US" sz="1100" i="1" dirty="0">
                <a:solidFill>
                  <a:srgbClr val="14A9AE"/>
                </a:solidFill>
                <a:latin typeface="Calibri" pitchFamily="34" charset="0"/>
                <a:ea typeface="Calibri" pitchFamily="34" charset="-122"/>
                <a:cs typeface="Calibri" pitchFamily="34" charset="-120"/>
              </a:rPr>
              <a:t>Establishing the Benchmark Floor</a:t>
            </a:r>
            <a:endParaRPr lang="en-US" sz="1100" dirty="0"/>
          </a:p>
        </p:txBody>
      </p:sp>
      <p:sp>
        <p:nvSpPr>
          <p:cNvPr id="5" name="Shape 3"/>
          <p:cNvSpPr/>
          <p:nvPr/>
        </p:nvSpPr>
        <p:spPr>
          <a:xfrm>
            <a:off x="0" y="685800"/>
            <a:ext cx="9144000" cy="54864"/>
          </a:xfrm>
          <a:prstGeom prst="rect">
            <a:avLst/>
          </a:prstGeom>
          <a:solidFill>
            <a:srgbClr val="0D7377"/>
          </a:solidFill>
          <a:ln w="12700">
            <a:solidFill>
              <a:srgbClr val="0D7377"/>
            </a:solidFill>
            <a:prstDash val="solid"/>
          </a:ln>
        </p:spPr>
      </p:sp>
      <p:sp>
        <p:nvSpPr>
          <p:cNvPr id="6" name="Shape 4"/>
          <p:cNvSpPr/>
          <p:nvPr/>
        </p:nvSpPr>
        <p:spPr>
          <a:xfrm>
            <a:off x="274320" y="804672"/>
            <a:ext cx="2697480" cy="256032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7" name="Shape 5"/>
          <p:cNvSpPr/>
          <p:nvPr/>
        </p:nvSpPr>
        <p:spPr>
          <a:xfrm>
            <a:off x="274320" y="804672"/>
            <a:ext cx="2697480" cy="320040"/>
          </a:xfrm>
          <a:prstGeom prst="rect">
            <a:avLst/>
          </a:prstGeom>
          <a:solidFill>
            <a:srgbClr val="6B7280"/>
          </a:solidFill>
          <a:ln w="12700">
            <a:solidFill>
              <a:srgbClr val="6B7280"/>
            </a:solidFill>
            <a:prstDash val="solid"/>
          </a:ln>
        </p:spPr>
      </p:sp>
      <p:sp>
        <p:nvSpPr>
          <p:cNvPr id="8" name="Text 6"/>
          <p:cNvSpPr/>
          <p:nvPr/>
        </p:nvSpPr>
        <p:spPr>
          <a:xfrm>
            <a:off x="365760" y="804672"/>
            <a:ext cx="25146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S-Naive</a:t>
            </a:r>
            <a:endParaRPr lang="en-US" sz="1300" dirty="0"/>
          </a:p>
        </p:txBody>
      </p:sp>
      <p:sp>
        <p:nvSpPr>
          <p:cNvPr id="9" name="Shape 7"/>
          <p:cNvSpPr/>
          <p:nvPr/>
        </p:nvSpPr>
        <p:spPr>
          <a:xfrm>
            <a:off x="365760" y="1161288"/>
            <a:ext cx="2514600" cy="274320"/>
          </a:xfrm>
          <a:prstGeom prst="rect">
            <a:avLst/>
          </a:prstGeom>
          <a:solidFill>
            <a:srgbClr val="E8ECF1"/>
          </a:solidFill>
          <a:ln w="12700">
            <a:solidFill>
              <a:srgbClr val="E8ECF1"/>
            </a:solidFill>
            <a:prstDash val="solid"/>
          </a:ln>
        </p:spPr>
      </p:sp>
      <p:sp>
        <p:nvSpPr>
          <p:cNvPr id="10" name="Text 8"/>
          <p:cNvSpPr/>
          <p:nvPr/>
        </p:nvSpPr>
        <p:spPr>
          <a:xfrm>
            <a:off x="365760" y="1161288"/>
            <a:ext cx="2514600" cy="274320"/>
          </a:xfrm>
          <a:prstGeom prst="rect">
            <a:avLst/>
          </a:prstGeom>
          <a:noFill/>
          <a:ln/>
        </p:spPr>
        <p:txBody>
          <a:bodyPr wrap="square" lIns="0" tIns="0" rIns="0" bIns="0" rtlCol="0" anchor="ctr"/>
          <a:lstStyle/>
          <a:p>
            <a:pPr marL="0" indent="0" algn="ctr">
              <a:buNone/>
            </a:pPr>
            <a:r>
              <a:rPr lang="en-US" sz="850" i="1" dirty="0">
                <a:solidFill>
                  <a:srgbClr val="1A2B4A"/>
                </a:solidFill>
                <a:latin typeface="Calibri" pitchFamily="34" charset="0"/>
                <a:ea typeface="Calibri" pitchFamily="34" charset="-122"/>
                <a:cs typeface="Calibri" pitchFamily="34" charset="-120"/>
              </a:rPr>
              <a:t>ŷₜ = yₜ₋₇</a:t>
            </a:r>
            <a:endParaRPr lang="en-US" sz="850" dirty="0"/>
          </a:p>
        </p:txBody>
      </p:sp>
      <p:sp>
        <p:nvSpPr>
          <p:cNvPr id="11" name="Text 9"/>
          <p:cNvSpPr/>
          <p:nvPr/>
        </p:nvSpPr>
        <p:spPr>
          <a:xfrm>
            <a:off x="365760" y="1481328"/>
            <a:ext cx="2514600" cy="1078992"/>
          </a:xfrm>
          <a:prstGeom prst="rect">
            <a:avLst/>
          </a:prstGeom>
          <a:noFill/>
          <a:ln/>
        </p:spPr>
        <p:txBody>
          <a:bodyPr wrap="square" lIns="0" tIns="0" rIns="0" bIns="0" rtlCol="0" anchor="t"/>
          <a:lstStyle/>
          <a:p>
            <a:pPr marL="0" indent="0">
              <a:buNone/>
            </a:pPr>
            <a:r>
              <a:rPr lang="en-US" sz="850" dirty="0">
                <a:solidFill>
                  <a:srgbClr val="3D5166"/>
                </a:solidFill>
                <a:latin typeface="Calibri" pitchFamily="34" charset="0"/>
                <a:ea typeface="Calibri" pitchFamily="34" charset="-122"/>
                <a:cs typeface="Calibri" pitchFamily="34" charset="-120"/>
              </a:rPr>
              <a:t>Predict today = same weekday exactly 7 days ago. Industry standard in bakeries. Fatal flaw: if lag-7 is a holiday, you predict holiday sales for a normal day (SD4 contamination).</a:t>
            </a:r>
            <a:endParaRPr lang="en-US" sz="850" dirty="0"/>
          </a:p>
        </p:txBody>
      </p:sp>
      <p:sp>
        <p:nvSpPr>
          <p:cNvPr id="12" name="Shape 10"/>
          <p:cNvSpPr/>
          <p:nvPr/>
        </p:nvSpPr>
        <p:spPr>
          <a:xfrm>
            <a:off x="365760" y="2606040"/>
            <a:ext cx="1188720" cy="640080"/>
          </a:xfrm>
          <a:prstGeom prst="rect">
            <a:avLst/>
          </a:prstGeom>
          <a:solidFill>
            <a:srgbClr val="6B7280"/>
          </a:solidFill>
          <a:ln w="12700">
            <a:solidFill>
              <a:srgbClr val="6B7280"/>
            </a:solidFill>
            <a:prstDash val="solid"/>
          </a:ln>
        </p:spPr>
      </p:sp>
      <p:sp>
        <p:nvSpPr>
          <p:cNvPr id="13" name="Text 11"/>
          <p:cNvSpPr/>
          <p:nvPr/>
        </p:nvSpPr>
        <p:spPr>
          <a:xfrm>
            <a:off x="365760" y="2606040"/>
            <a:ext cx="1188720" cy="64008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MASE: 0.949</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MAE: 2,100</a:t>
            </a:r>
            <a:endParaRPr lang="en-US" sz="950" dirty="0"/>
          </a:p>
        </p:txBody>
      </p:sp>
      <p:sp>
        <p:nvSpPr>
          <p:cNvPr id="14" name="Shape 12"/>
          <p:cNvSpPr/>
          <p:nvPr/>
        </p:nvSpPr>
        <p:spPr>
          <a:xfrm>
            <a:off x="3172968" y="804672"/>
            <a:ext cx="2697480" cy="256032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15" name="Shape 13"/>
          <p:cNvSpPr/>
          <p:nvPr/>
        </p:nvSpPr>
        <p:spPr>
          <a:xfrm>
            <a:off x="3172968" y="804672"/>
            <a:ext cx="2697480" cy="320040"/>
          </a:xfrm>
          <a:prstGeom prst="rect">
            <a:avLst/>
          </a:prstGeom>
          <a:solidFill>
            <a:srgbClr val="4B5563"/>
          </a:solidFill>
          <a:ln w="12700">
            <a:solidFill>
              <a:srgbClr val="4B5563"/>
            </a:solidFill>
            <a:prstDash val="solid"/>
          </a:ln>
        </p:spPr>
      </p:sp>
      <p:sp>
        <p:nvSpPr>
          <p:cNvPr id="16" name="Text 14"/>
          <p:cNvSpPr/>
          <p:nvPr/>
        </p:nvSpPr>
        <p:spPr>
          <a:xfrm>
            <a:off x="3264408" y="804672"/>
            <a:ext cx="25146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S-Naive-Std</a:t>
            </a:r>
            <a:endParaRPr lang="en-US" sz="1300" dirty="0"/>
          </a:p>
        </p:txBody>
      </p:sp>
      <p:sp>
        <p:nvSpPr>
          <p:cNvPr id="17" name="Shape 15"/>
          <p:cNvSpPr/>
          <p:nvPr/>
        </p:nvSpPr>
        <p:spPr>
          <a:xfrm>
            <a:off x="3264408" y="1161288"/>
            <a:ext cx="2514600" cy="274320"/>
          </a:xfrm>
          <a:prstGeom prst="rect">
            <a:avLst/>
          </a:prstGeom>
          <a:solidFill>
            <a:srgbClr val="E8ECF1"/>
          </a:solidFill>
          <a:ln w="12700">
            <a:solidFill>
              <a:srgbClr val="E8ECF1"/>
            </a:solidFill>
            <a:prstDash val="solid"/>
          </a:ln>
        </p:spPr>
      </p:sp>
      <p:sp>
        <p:nvSpPr>
          <p:cNvPr id="18" name="Text 16"/>
          <p:cNvSpPr/>
          <p:nvPr/>
        </p:nvSpPr>
        <p:spPr>
          <a:xfrm>
            <a:off x="3264408" y="1161288"/>
            <a:ext cx="2514600" cy="274320"/>
          </a:xfrm>
          <a:prstGeom prst="rect">
            <a:avLst/>
          </a:prstGeom>
          <a:noFill/>
          <a:ln/>
        </p:spPr>
        <p:txBody>
          <a:bodyPr wrap="square" lIns="0" tIns="0" rIns="0" bIns="0" rtlCol="0" anchor="ctr"/>
          <a:lstStyle/>
          <a:p>
            <a:pPr marL="0" indent="0" algn="ctr">
              <a:buNone/>
            </a:pPr>
            <a:r>
              <a:rPr lang="en-US" sz="850" i="1" dirty="0">
                <a:solidFill>
                  <a:srgbClr val="1A2B4A"/>
                </a:solidFill>
                <a:latin typeface="Calibri" pitchFamily="34" charset="0"/>
                <a:ea typeface="Calibri" pitchFamily="34" charset="-122"/>
                <a:cs typeface="Calibri" pitchFamily="34" charset="-120"/>
              </a:rPr>
              <a:t>ŷₜ = yₜ₋₇ (SD1/2/3 replaced with last SD0)</a:t>
            </a:r>
            <a:endParaRPr lang="en-US" sz="850" dirty="0"/>
          </a:p>
        </p:txBody>
      </p:sp>
      <p:sp>
        <p:nvSpPr>
          <p:cNvPr id="19" name="Text 17"/>
          <p:cNvSpPr/>
          <p:nvPr/>
        </p:nvSpPr>
        <p:spPr>
          <a:xfrm>
            <a:off x="3264408" y="1481328"/>
            <a:ext cx="2514600" cy="1078992"/>
          </a:xfrm>
          <a:prstGeom prst="rect">
            <a:avLst/>
          </a:prstGeom>
          <a:noFill/>
          <a:ln/>
        </p:spPr>
        <p:txBody>
          <a:bodyPr wrap="square" lIns="0" tIns="0" rIns="0" bIns="0" rtlCol="0" anchor="t"/>
          <a:lstStyle/>
          <a:p>
            <a:pPr marL="0" indent="0">
              <a:buNone/>
            </a:pPr>
            <a:r>
              <a:rPr lang="en-US" sz="850" dirty="0">
                <a:solidFill>
                  <a:srgbClr val="3D5166"/>
                </a:solidFill>
                <a:latin typeface="Calibri" pitchFamily="34" charset="0"/>
                <a:ea typeface="Calibri" pitchFamily="34" charset="-122"/>
                <a:cs typeface="Calibri" pitchFamily="34" charset="-120"/>
              </a:rPr>
              <a:t>Same as S-Naive but history-cleaned: holiday observations replaced with last regular-day value before the holiday. Fixes SD4 contamination problem.</a:t>
            </a:r>
            <a:endParaRPr lang="en-US" sz="850" dirty="0"/>
          </a:p>
        </p:txBody>
      </p:sp>
      <p:sp>
        <p:nvSpPr>
          <p:cNvPr id="20" name="Shape 18"/>
          <p:cNvSpPr/>
          <p:nvPr/>
        </p:nvSpPr>
        <p:spPr>
          <a:xfrm>
            <a:off x="3264408" y="2606040"/>
            <a:ext cx="1188720" cy="640080"/>
          </a:xfrm>
          <a:prstGeom prst="rect">
            <a:avLst/>
          </a:prstGeom>
          <a:solidFill>
            <a:srgbClr val="4B5563"/>
          </a:solidFill>
          <a:ln w="12700">
            <a:solidFill>
              <a:srgbClr val="4B5563"/>
            </a:solidFill>
            <a:prstDash val="solid"/>
          </a:ln>
        </p:spPr>
      </p:sp>
      <p:sp>
        <p:nvSpPr>
          <p:cNvPr id="21" name="Text 19"/>
          <p:cNvSpPr/>
          <p:nvPr/>
        </p:nvSpPr>
        <p:spPr>
          <a:xfrm>
            <a:off x="3264408" y="2606040"/>
            <a:ext cx="1188720" cy="64008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MASE: 0.644</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MAE: 1,425</a:t>
            </a:r>
            <a:endParaRPr lang="en-US" sz="950" dirty="0"/>
          </a:p>
        </p:txBody>
      </p:sp>
      <p:sp>
        <p:nvSpPr>
          <p:cNvPr id="22" name="Shape 20"/>
          <p:cNvSpPr/>
          <p:nvPr/>
        </p:nvSpPr>
        <p:spPr>
          <a:xfrm>
            <a:off x="6071616" y="804672"/>
            <a:ext cx="2697480" cy="256032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23" name="Shape 21"/>
          <p:cNvSpPr/>
          <p:nvPr/>
        </p:nvSpPr>
        <p:spPr>
          <a:xfrm>
            <a:off x="6071616" y="804672"/>
            <a:ext cx="2697480" cy="320040"/>
          </a:xfrm>
          <a:prstGeom prst="rect">
            <a:avLst/>
          </a:prstGeom>
          <a:solidFill>
            <a:srgbClr val="374151"/>
          </a:solidFill>
          <a:ln w="12700">
            <a:solidFill>
              <a:srgbClr val="374151"/>
            </a:solidFill>
            <a:prstDash val="solid"/>
          </a:ln>
        </p:spPr>
      </p:sp>
      <p:sp>
        <p:nvSpPr>
          <p:cNvPr id="24" name="Text 22"/>
          <p:cNvSpPr/>
          <p:nvPr/>
        </p:nvSpPr>
        <p:spPr>
          <a:xfrm>
            <a:off x="6163056" y="804672"/>
            <a:ext cx="25146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S-Median</a:t>
            </a:r>
            <a:endParaRPr lang="en-US" sz="1300" dirty="0"/>
          </a:p>
        </p:txBody>
      </p:sp>
      <p:sp>
        <p:nvSpPr>
          <p:cNvPr id="25" name="Shape 23"/>
          <p:cNvSpPr/>
          <p:nvPr/>
        </p:nvSpPr>
        <p:spPr>
          <a:xfrm>
            <a:off x="6163056" y="1161288"/>
            <a:ext cx="2514600" cy="274320"/>
          </a:xfrm>
          <a:prstGeom prst="rect">
            <a:avLst/>
          </a:prstGeom>
          <a:solidFill>
            <a:srgbClr val="E8ECF1"/>
          </a:solidFill>
          <a:ln w="12700">
            <a:solidFill>
              <a:srgbClr val="E8ECF1"/>
            </a:solidFill>
            <a:prstDash val="solid"/>
          </a:ln>
        </p:spPr>
      </p:sp>
      <p:sp>
        <p:nvSpPr>
          <p:cNvPr id="26" name="Text 24"/>
          <p:cNvSpPr/>
          <p:nvPr/>
        </p:nvSpPr>
        <p:spPr>
          <a:xfrm>
            <a:off x="6163056" y="1161288"/>
            <a:ext cx="2514600" cy="274320"/>
          </a:xfrm>
          <a:prstGeom prst="rect">
            <a:avLst/>
          </a:prstGeom>
          <a:noFill/>
          <a:ln/>
        </p:spPr>
        <p:txBody>
          <a:bodyPr wrap="square" lIns="0" tIns="0" rIns="0" bIns="0" rtlCol="0" anchor="ctr"/>
          <a:lstStyle/>
          <a:p>
            <a:pPr marL="0" indent="0" algn="ctr">
              <a:buNone/>
            </a:pPr>
            <a:r>
              <a:rPr lang="en-US" sz="850" i="1" dirty="0">
                <a:solidFill>
                  <a:srgbClr val="1A2B4A"/>
                </a:solidFill>
                <a:latin typeface="Calibri" pitchFamily="34" charset="0"/>
                <a:ea typeface="Calibri" pitchFamily="34" charset="-122"/>
                <a:cs typeface="Calibri" pitchFamily="34" charset="-120"/>
              </a:rPr>
              <a:t>ŷₜ = median{yₜ₋₇, yₜ₋₁₄, yₜ₋₂₁, yₜ₋₂₈}</a:t>
            </a:r>
            <a:endParaRPr lang="en-US" sz="850" dirty="0"/>
          </a:p>
        </p:txBody>
      </p:sp>
      <p:sp>
        <p:nvSpPr>
          <p:cNvPr id="27" name="Text 25"/>
          <p:cNvSpPr/>
          <p:nvPr/>
        </p:nvSpPr>
        <p:spPr>
          <a:xfrm>
            <a:off x="6163056" y="1481328"/>
            <a:ext cx="2514600" cy="1078992"/>
          </a:xfrm>
          <a:prstGeom prst="rect">
            <a:avLst/>
          </a:prstGeom>
          <a:noFill/>
          <a:ln/>
        </p:spPr>
        <p:txBody>
          <a:bodyPr wrap="square" lIns="0" tIns="0" rIns="0" bIns="0" rtlCol="0" anchor="t"/>
          <a:lstStyle/>
          <a:p>
            <a:pPr marL="0" indent="0">
              <a:buNone/>
            </a:pPr>
            <a:r>
              <a:rPr lang="en-US" sz="850" dirty="0">
                <a:solidFill>
                  <a:srgbClr val="3D5166"/>
                </a:solidFill>
                <a:latin typeface="Calibri" pitchFamily="34" charset="0"/>
                <a:ea typeface="Calibri" pitchFamily="34" charset="-122"/>
                <a:cs typeface="Calibri" pitchFamily="34" charset="-120"/>
              </a:rPr>
              <a:t>Median of same weekday over 4 weeks. Median chosen because it minimises MAE: argmin_c E[|Y−c|] = median(Y). Robust to 1 holiday outlier in window.</a:t>
            </a:r>
            <a:endParaRPr lang="en-US" sz="850" dirty="0"/>
          </a:p>
        </p:txBody>
      </p:sp>
      <p:sp>
        <p:nvSpPr>
          <p:cNvPr id="28" name="Shape 26"/>
          <p:cNvSpPr/>
          <p:nvPr/>
        </p:nvSpPr>
        <p:spPr>
          <a:xfrm>
            <a:off x="6163056" y="2606040"/>
            <a:ext cx="1188720" cy="640080"/>
          </a:xfrm>
          <a:prstGeom prst="rect">
            <a:avLst/>
          </a:prstGeom>
          <a:solidFill>
            <a:srgbClr val="374151"/>
          </a:solidFill>
          <a:ln w="12700">
            <a:solidFill>
              <a:srgbClr val="374151"/>
            </a:solidFill>
            <a:prstDash val="solid"/>
          </a:ln>
        </p:spPr>
      </p:sp>
      <p:sp>
        <p:nvSpPr>
          <p:cNvPr id="29" name="Text 27"/>
          <p:cNvSpPr/>
          <p:nvPr/>
        </p:nvSpPr>
        <p:spPr>
          <a:xfrm>
            <a:off x="6163056" y="2606040"/>
            <a:ext cx="1188720" cy="64008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MASE: 0.565</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MAE: 1,249</a:t>
            </a:r>
            <a:endParaRPr lang="en-US" sz="950" dirty="0"/>
          </a:p>
        </p:txBody>
      </p:sp>
      <p:sp>
        <p:nvSpPr>
          <p:cNvPr id="30" name="Shape 28"/>
          <p:cNvSpPr/>
          <p:nvPr/>
        </p:nvSpPr>
        <p:spPr>
          <a:xfrm>
            <a:off x="274320" y="3493008"/>
            <a:ext cx="8595360" cy="256032"/>
          </a:xfrm>
          <a:prstGeom prst="rect">
            <a:avLst/>
          </a:prstGeom>
          <a:solidFill>
            <a:srgbClr val="1A2B4A"/>
          </a:solidFill>
          <a:ln w="12700">
            <a:solidFill>
              <a:srgbClr val="1A2B4A"/>
            </a:solidFill>
            <a:prstDash val="solid"/>
          </a:ln>
        </p:spPr>
      </p:sp>
      <p:sp>
        <p:nvSpPr>
          <p:cNvPr id="31" name="Text 29"/>
          <p:cNvSpPr/>
          <p:nvPr/>
        </p:nvSpPr>
        <p:spPr>
          <a:xfrm>
            <a:off x="274320" y="3493008"/>
            <a:ext cx="8595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WHY WE DID NOT USE ARIMA / ETS (mentioned in the paper)</a:t>
            </a:r>
            <a:endParaRPr lang="en-US" sz="900" dirty="0"/>
          </a:p>
        </p:txBody>
      </p:sp>
      <p:sp>
        <p:nvSpPr>
          <p:cNvPr id="32" name="Shape 30"/>
          <p:cNvSpPr/>
          <p:nvPr/>
        </p:nvSpPr>
        <p:spPr>
          <a:xfrm>
            <a:off x="274320" y="3794760"/>
            <a:ext cx="4206240" cy="530352"/>
          </a:xfrm>
          <a:prstGeom prst="rect">
            <a:avLst/>
          </a:prstGeom>
          <a:solidFill>
            <a:srgbClr val="FEF3F2"/>
          </a:solidFill>
          <a:ln w="12700">
            <a:solidFill>
              <a:srgbClr val="FCA5A5"/>
            </a:solidFill>
            <a:prstDash val="solid"/>
          </a:ln>
        </p:spPr>
      </p:sp>
      <p:sp>
        <p:nvSpPr>
          <p:cNvPr id="33" name="Text 31"/>
          <p:cNvSpPr/>
          <p:nvPr/>
        </p:nvSpPr>
        <p:spPr>
          <a:xfrm>
            <a:off x="365760" y="3831336"/>
            <a:ext cx="4023360" cy="182880"/>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  ARIMA / ARIMAX</a:t>
            </a:r>
            <a:endParaRPr lang="en-US" sz="900" dirty="0"/>
          </a:p>
        </p:txBody>
      </p:sp>
      <p:sp>
        <p:nvSpPr>
          <p:cNvPr id="34" name="Text 32"/>
          <p:cNvSpPr/>
          <p:nvPr/>
        </p:nvSpPr>
        <p:spPr>
          <a:xfrm>
            <a:off x="365760" y="4014216"/>
            <a:ext cx="4023360" cy="274320"/>
          </a:xfrm>
          <a:prstGeom prst="rect">
            <a:avLst/>
          </a:prstGeom>
          <a:noFill/>
          <a:ln/>
        </p:spPr>
        <p:txBody>
          <a:bodyPr wrap="square" lIns="0" tIns="0" rIns="0" bIns="0" rtlCol="0" anchor="ctr"/>
          <a:lstStyle/>
          <a:p>
            <a:pPr marL="0" indent="0">
              <a:buNone/>
            </a:pPr>
            <a:r>
              <a:rPr lang="en-US" sz="780" dirty="0">
                <a:solidFill>
                  <a:srgbClr val="3D5166"/>
                </a:solidFill>
                <a:latin typeface="Calibri" pitchFamily="34" charset="0"/>
                <a:ea typeface="Calibri" pitchFamily="34" charset="-122"/>
                <a:cs typeface="Calibri" pitchFamily="34" charset="-120"/>
              </a:rPr>
              <a:t>Univariate only — cannot incorporate SD-specific features (level, rel_change, store_class) that are critical for holiday prediction. Per-store fitting of 1,115 ARIMA models with holiday adjustments is operationally infeasible.</a:t>
            </a:r>
            <a:endParaRPr lang="en-US" sz="780" dirty="0"/>
          </a:p>
        </p:txBody>
      </p:sp>
      <p:sp>
        <p:nvSpPr>
          <p:cNvPr id="35" name="Shape 33"/>
          <p:cNvSpPr/>
          <p:nvPr/>
        </p:nvSpPr>
        <p:spPr>
          <a:xfrm>
            <a:off x="4709160" y="3794760"/>
            <a:ext cx="4206240" cy="530352"/>
          </a:xfrm>
          <a:prstGeom prst="rect">
            <a:avLst/>
          </a:prstGeom>
          <a:solidFill>
            <a:srgbClr val="FEF3F2"/>
          </a:solidFill>
          <a:ln w="12700">
            <a:solidFill>
              <a:srgbClr val="FCA5A5"/>
            </a:solidFill>
            <a:prstDash val="solid"/>
          </a:ln>
        </p:spPr>
      </p:sp>
      <p:sp>
        <p:nvSpPr>
          <p:cNvPr id="36" name="Text 34"/>
          <p:cNvSpPr/>
          <p:nvPr/>
        </p:nvSpPr>
        <p:spPr>
          <a:xfrm>
            <a:off x="4800600" y="3831336"/>
            <a:ext cx="4023360" cy="182880"/>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  ETS (Exponential Smoothing)</a:t>
            </a:r>
            <a:endParaRPr lang="en-US" sz="900" dirty="0"/>
          </a:p>
        </p:txBody>
      </p:sp>
      <p:sp>
        <p:nvSpPr>
          <p:cNvPr id="37" name="Text 35"/>
          <p:cNvSpPr/>
          <p:nvPr/>
        </p:nvSpPr>
        <p:spPr>
          <a:xfrm>
            <a:off x="4800600" y="4014216"/>
            <a:ext cx="4023360" cy="274320"/>
          </a:xfrm>
          <a:prstGeom prst="rect">
            <a:avLst/>
          </a:prstGeom>
          <a:noFill/>
          <a:ln/>
        </p:spPr>
        <p:txBody>
          <a:bodyPr wrap="square" lIns="0" tIns="0" rIns="0" bIns="0" rtlCol="0" anchor="ctr"/>
          <a:lstStyle/>
          <a:p>
            <a:pPr marL="0" indent="0">
              <a:buNone/>
            </a:pPr>
            <a:r>
              <a:rPr lang="en-US" sz="780" dirty="0">
                <a:solidFill>
                  <a:srgbClr val="3D5166"/>
                </a:solidFill>
                <a:latin typeface="Calibri" pitchFamily="34" charset="0"/>
                <a:ea typeface="Calibri" pitchFamily="34" charset="-122"/>
                <a:cs typeface="Calibri" pitchFamily="34" charset="-120"/>
              </a:rPr>
              <a:t>The paper evaluates ETS with post-processing adjustments. Best ETS variant (pct-cl) requires manual holiday adjustment rules. Our ML models make this obsolete by learning adjustments from data automatically.</a:t>
            </a:r>
            <a:endParaRPr lang="en-US" sz="780" dirty="0"/>
          </a:p>
        </p:txBody>
      </p:sp>
      <p:sp>
        <p:nvSpPr>
          <p:cNvPr id="38" name="Shape 36"/>
          <p:cNvSpPr/>
          <p:nvPr/>
        </p:nvSpPr>
        <p:spPr>
          <a:xfrm>
            <a:off x="274320" y="4389120"/>
            <a:ext cx="4206240" cy="530352"/>
          </a:xfrm>
          <a:prstGeom prst="rect">
            <a:avLst/>
          </a:prstGeom>
          <a:solidFill>
            <a:srgbClr val="FEF3F2"/>
          </a:solidFill>
          <a:ln w="12700">
            <a:solidFill>
              <a:srgbClr val="FCA5A5"/>
            </a:solidFill>
            <a:prstDash val="solid"/>
          </a:ln>
        </p:spPr>
      </p:sp>
      <p:sp>
        <p:nvSpPr>
          <p:cNvPr id="39" name="Text 37"/>
          <p:cNvSpPr/>
          <p:nvPr/>
        </p:nvSpPr>
        <p:spPr>
          <a:xfrm>
            <a:off x="365760" y="4425696"/>
            <a:ext cx="4023360" cy="182880"/>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  Prophet (Facebook)</a:t>
            </a:r>
            <a:endParaRPr lang="en-US" sz="900" dirty="0"/>
          </a:p>
        </p:txBody>
      </p:sp>
      <p:sp>
        <p:nvSpPr>
          <p:cNvPr id="40" name="Text 38"/>
          <p:cNvSpPr/>
          <p:nvPr/>
        </p:nvSpPr>
        <p:spPr>
          <a:xfrm>
            <a:off x="365760" y="4608576"/>
            <a:ext cx="4023360" cy="274320"/>
          </a:xfrm>
          <a:prstGeom prst="rect">
            <a:avLst/>
          </a:prstGeom>
          <a:noFill/>
          <a:ln/>
        </p:spPr>
        <p:txBody>
          <a:bodyPr wrap="square" lIns="0" tIns="0" rIns="0" bIns="0" rtlCol="0" anchor="ctr"/>
          <a:lstStyle/>
          <a:p>
            <a:pPr marL="0" indent="0">
              <a:buNone/>
            </a:pPr>
            <a:r>
              <a:rPr lang="en-US" sz="780" dirty="0">
                <a:solidFill>
                  <a:srgbClr val="3D5166"/>
                </a:solidFill>
                <a:latin typeface="Calibri" pitchFamily="34" charset="0"/>
                <a:ea typeface="Calibri" pitchFamily="34" charset="-122"/>
                <a:cs typeface="Calibri" pitchFamily="34" charset="-120"/>
              </a:rPr>
              <a:t>Designed for single time series — cannot pool across 1,115 stores simultaneously. Loses the global model advantage where 100 Easter observations across stores improves holiday forecasting.</a:t>
            </a:r>
            <a:endParaRPr lang="en-US" sz="780" dirty="0"/>
          </a:p>
        </p:txBody>
      </p:sp>
      <p:sp>
        <p:nvSpPr>
          <p:cNvPr id="41" name="Shape 39"/>
          <p:cNvSpPr/>
          <p:nvPr/>
        </p:nvSpPr>
        <p:spPr>
          <a:xfrm>
            <a:off x="4709160" y="4389120"/>
            <a:ext cx="4206240" cy="530352"/>
          </a:xfrm>
          <a:prstGeom prst="rect">
            <a:avLst/>
          </a:prstGeom>
          <a:solidFill>
            <a:srgbClr val="FEF3F2"/>
          </a:solidFill>
          <a:ln w="12700">
            <a:solidFill>
              <a:srgbClr val="FCA5A5"/>
            </a:solidFill>
            <a:prstDash val="solid"/>
          </a:ln>
        </p:spPr>
      </p:sp>
      <p:sp>
        <p:nvSpPr>
          <p:cNvPr id="42" name="Text 40"/>
          <p:cNvSpPr/>
          <p:nvPr/>
        </p:nvSpPr>
        <p:spPr>
          <a:xfrm>
            <a:off x="4800600" y="4425696"/>
            <a:ext cx="4023360" cy="182880"/>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  SVR (Support Vector Regression)</a:t>
            </a:r>
            <a:endParaRPr lang="en-US" sz="900" dirty="0"/>
          </a:p>
        </p:txBody>
      </p:sp>
      <p:sp>
        <p:nvSpPr>
          <p:cNvPr id="43" name="Text 41"/>
          <p:cNvSpPr/>
          <p:nvPr/>
        </p:nvSpPr>
        <p:spPr>
          <a:xfrm>
            <a:off x="4800600" y="4608576"/>
            <a:ext cx="4023360" cy="274320"/>
          </a:xfrm>
          <a:prstGeom prst="rect">
            <a:avLst/>
          </a:prstGeom>
          <a:noFill/>
          <a:ln/>
        </p:spPr>
        <p:txBody>
          <a:bodyPr wrap="square" lIns="0" tIns="0" rIns="0" bIns="0" rtlCol="0" anchor="ctr"/>
          <a:lstStyle/>
          <a:p>
            <a:pPr marL="0" indent="0">
              <a:buNone/>
            </a:pPr>
            <a:r>
              <a:rPr lang="en-US" sz="780" dirty="0">
                <a:solidFill>
                  <a:srgbClr val="3D5166"/>
                </a:solidFill>
                <a:latin typeface="Calibri" pitchFamily="34" charset="0"/>
                <a:ea typeface="Calibri" pitchFamily="34" charset="-122"/>
                <a:cs typeface="Calibri" pitchFamily="34" charset="-120"/>
              </a:rPr>
              <a:t>Scales as O(n² − n³) with dataset size. Infeasible for 800K rows. Cannot handle tabular data with 42 features at this scale.</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Text 1"/>
          <p:cNvSpPr/>
          <p:nvPr/>
        </p:nvSpPr>
        <p:spPr>
          <a:xfrm>
            <a:off x="274320" y="91440"/>
            <a:ext cx="77724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LASSO Linear Regression</a:t>
            </a:r>
            <a:endParaRPr lang="en-US" sz="2000" dirty="0"/>
          </a:p>
        </p:txBody>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lgn="r">
              <a:buNone/>
            </a:pPr>
            <a:r>
              <a:rPr lang="en-US" sz="1100" i="1" dirty="0">
                <a:solidFill>
                  <a:srgbClr val="14A9AE"/>
                </a:solidFill>
                <a:latin typeface="Calibri" pitchFamily="34" charset="0"/>
                <a:ea typeface="Calibri" pitchFamily="34" charset="-122"/>
                <a:cs typeface="Calibri" pitchFamily="34" charset="-120"/>
              </a:rPr>
              <a:t>Model 1 of 4  ·  Per-Store Global Model  ·  linreg.py</a:t>
            </a:r>
            <a:endParaRPr lang="en-US" sz="1100" dirty="0"/>
          </a:p>
        </p:txBody>
      </p:sp>
      <p:sp>
        <p:nvSpPr>
          <p:cNvPr id="5" name="Shape 3"/>
          <p:cNvSpPr/>
          <p:nvPr/>
        </p:nvSpPr>
        <p:spPr>
          <a:xfrm>
            <a:off x="0" y="685800"/>
            <a:ext cx="9144000" cy="54864"/>
          </a:xfrm>
          <a:prstGeom prst="rect">
            <a:avLst/>
          </a:prstGeom>
          <a:solidFill>
            <a:srgbClr val="0D7377"/>
          </a:solidFill>
          <a:ln w="12700">
            <a:solidFill>
              <a:srgbClr val="0D7377"/>
            </a:solidFill>
            <a:prstDash val="solid"/>
          </a:ln>
        </p:spPr>
      </p:sp>
      <p:sp>
        <p:nvSpPr>
          <p:cNvPr id="6" name="Shape 4"/>
          <p:cNvSpPr/>
          <p:nvPr/>
        </p:nvSpPr>
        <p:spPr>
          <a:xfrm>
            <a:off x="274320" y="822960"/>
            <a:ext cx="4114800" cy="411480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7" name="Shape 5"/>
          <p:cNvSpPr/>
          <p:nvPr/>
        </p:nvSpPr>
        <p:spPr>
          <a:xfrm>
            <a:off x="274320" y="822960"/>
            <a:ext cx="4114800" cy="274320"/>
          </a:xfrm>
          <a:prstGeom prst="rect">
            <a:avLst/>
          </a:prstGeom>
          <a:solidFill>
            <a:srgbClr val="2B6CB0"/>
          </a:solidFill>
          <a:ln w="12700">
            <a:solidFill>
              <a:srgbClr val="2B6CB0"/>
            </a:solidFill>
            <a:prstDash val="solid"/>
          </a:ln>
        </p:spPr>
      </p:sp>
      <p:sp>
        <p:nvSpPr>
          <p:cNvPr id="8" name="Text 6"/>
          <p:cNvSpPr/>
          <p:nvPr/>
        </p:nvSpPr>
        <p:spPr>
          <a:xfrm>
            <a:off x="365760" y="822960"/>
            <a:ext cx="393192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Mathematical Foundation</a:t>
            </a:r>
            <a:endParaRPr lang="en-US" sz="1000" dirty="0"/>
          </a:p>
        </p:txBody>
      </p:sp>
      <p:sp>
        <p:nvSpPr>
          <p:cNvPr id="9" name="Text 7"/>
          <p:cNvSpPr/>
          <p:nvPr/>
        </p:nvSpPr>
        <p:spPr>
          <a:xfrm>
            <a:off x="411480" y="1170432"/>
            <a:ext cx="3840480" cy="164592"/>
          </a:xfrm>
          <a:prstGeom prst="rect">
            <a:avLst/>
          </a:prstGeom>
          <a:noFill/>
          <a:ln/>
        </p:spPr>
        <p:txBody>
          <a:bodyPr wrap="square" lIns="0" tIns="0" rIns="0" bIns="0" rtlCol="0" anchor="ctr"/>
          <a:lstStyle/>
          <a:p>
            <a:pPr marL="0" indent="0">
              <a:buNone/>
            </a:pPr>
            <a:r>
              <a:rPr lang="en-US" sz="800" b="1" dirty="0">
                <a:solidFill>
                  <a:srgbClr val="2B6CB0"/>
                </a:solidFill>
                <a:latin typeface="Calibri" pitchFamily="34" charset="0"/>
                <a:ea typeface="Calibri" pitchFamily="34" charset="-122"/>
                <a:cs typeface="Calibri" pitchFamily="34" charset="-120"/>
              </a:rPr>
              <a:t>Model:</a:t>
            </a:r>
            <a:endParaRPr lang="en-US" sz="800" dirty="0"/>
          </a:p>
        </p:txBody>
      </p:sp>
      <p:sp>
        <p:nvSpPr>
          <p:cNvPr id="10" name="Text 8"/>
          <p:cNvSpPr/>
          <p:nvPr/>
        </p:nvSpPr>
        <p:spPr>
          <a:xfrm>
            <a:off x="411480" y="1335024"/>
            <a:ext cx="3840480" cy="182880"/>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ŷ = β₀ + β₁x₁ + β₂x₂ + ... + β₄₂x₄₂</a:t>
            </a:r>
            <a:endParaRPr lang="en-US" sz="850" dirty="0"/>
          </a:p>
        </p:txBody>
      </p:sp>
      <p:sp>
        <p:nvSpPr>
          <p:cNvPr id="11" name="Text 9"/>
          <p:cNvSpPr/>
          <p:nvPr/>
        </p:nvSpPr>
        <p:spPr>
          <a:xfrm>
            <a:off x="411480" y="1536192"/>
            <a:ext cx="3840480" cy="164592"/>
          </a:xfrm>
          <a:prstGeom prst="rect">
            <a:avLst/>
          </a:prstGeom>
          <a:noFill/>
          <a:ln/>
        </p:spPr>
        <p:txBody>
          <a:bodyPr wrap="square" lIns="0" tIns="0" rIns="0" bIns="0" rtlCol="0" anchor="ctr"/>
          <a:lstStyle/>
          <a:p>
            <a:pPr marL="0" indent="0">
              <a:buNone/>
            </a:pPr>
            <a:r>
              <a:rPr lang="en-US" sz="800" b="1" dirty="0">
                <a:solidFill>
                  <a:srgbClr val="2B6CB0"/>
                </a:solidFill>
                <a:latin typeface="Calibri" pitchFamily="34" charset="0"/>
                <a:ea typeface="Calibri" pitchFamily="34" charset="-122"/>
                <a:cs typeface="Calibri" pitchFamily="34" charset="-120"/>
              </a:rPr>
              <a:t>Loss Function (LASSO):</a:t>
            </a:r>
            <a:endParaRPr lang="en-US" sz="800" dirty="0"/>
          </a:p>
        </p:txBody>
      </p:sp>
      <p:sp>
        <p:nvSpPr>
          <p:cNvPr id="12" name="Text 10"/>
          <p:cNvSpPr/>
          <p:nvPr/>
        </p:nvSpPr>
        <p:spPr>
          <a:xfrm>
            <a:off x="411480" y="1700784"/>
            <a:ext cx="3840480" cy="182880"/>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L = (1/n)Σ(yᵢ − βᵀxᵢ)² + λΣ|βⱼ|</a:t>
            </a:r>
            <a:endParaRPr lang="en-US" sz="850" dirty="0"/>
          </a:p>
        </p:txBody>
      </p:sp>
      <p:sp>
        <p:nvSpPr>
          <p:cNvPr id="13" name="Text 11"/>
          <p:cNvSpPr/>
          <p:nvPr/>
        </p:nvSpPr>
        <p:spPr>
          <a:xfrm>
            <a:off x="411480" y="1901952"/>
            <a:ext cx="3840480" cy="182880"/>
          </a:xfrm>
          <a:prstGeom prst="rect">
            <a:avLst/>
          </a:prstGeom>
          <a:noFill/>
          <a:ln/>
        </p:spPr>
        <p:txBody>
          <a:bodyPr wrap="square" lIns="0" tIns="0" rIns="0" bIns="0" rtlCol="0" anchor="ctr"/>
          <a:lstStyle/>
          <a:p>
            <a:pPr marL="0" indent="0">
              <a:buNone/>
            </a:pPr>
            <a:r>
              <a:rPr lang="en-US" sz="850" i="1" dirty="0">
                <a:solidFill>
                  <a:srgbClr val="1A2B4A"/>
                </a:solidFill>
                <a:latin typeface="Calibri" pitchFamily="34" charset="0"/>
                <a:ea typeface="Calibri" pitchFamily="34" charset="-122"/>
                <a:cs typeface="Calibri" pitchFamily="34" charset="-120"/>
              </a:rPr>
              <a:t>   MSE term (fit data)  +  L1 penalty (sparsity)</a:t>
            </a:r>
            <a:endParaRPr lang="en-US" sz="850" dirty="0"/>
          </a:p>
        </p:txBody>
      </p:sp>
      <p:sp>
        <p:nvSpPr>
          <p:cNvPr id="14" name="Text 12"/>
          <p:cNvSpPr/>
          <p:nvPr/>
        </p:nvSpPr>
        <p:spPr>
          <a:xfrm>
            <a:off x="411480" y="2103120"/>
            <a:ext cx="3840480" cy="164592"/>
          </a:xfrm>
          <a:prstGeom prst="rect">
            <a:avLst/>
          </a:prstGeom>
          <a:noFill/>
          <a:ln/>
        </p:spPr>
        <p:txBody>
          <a:bodyPr wrap="square" lIns="0" tIns="0" rIns="0" bIns="0" rtlCol="0" anchor="ctr"/>
          <a:lstStyle/>
          <a:p>
            <a:pPr marL="0" indent="0">
              <a:buNone/>
            </a:pPr>
            <a:r>
              <a:rPr lang="en-US" sz="800" b="1" dirty="0">
                <a:solidFill>
                  <a:srgbClr val="2B6CB0"/>
                </a:solidFill>
                <a:latin typeface="Calibri" pitchFamily="34" charset="0"/>
                <a:ea typeface="Calibri" pitchFamily="34" charset="-122"/>
                <a:cs typeface="Calibri" pitchFamily="34" charset="-120"/>
              </a:rPr>
              <a:t>Soft Threshold Solution:</a:t>
            </a:r>
            <a:endParaRPr lang="en-US" sz="800" dirty="0"/>
          </a:p>
        </p:txBody>
      </p:sp>
      <p:sp>
        <p:nvSpPr>
          <p:cNvPr id="15" name="Text 13"/>
          <p:cNvSpPr/>
          <p:nvPr/>
        </p:nvSpPr>
        <p:spPr>
          <a:xfrm>
            <a:off x="411480" y="2267712"/>
            <a:ext cx="3840480" cy="182880"/>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β̂ⱼ = sign(zⱼ)(|zⱼ| − λ/2)₊</a:t>
            </a:r>
            <a:endParaRPr lang="en-US" sz="850" dirty="0"/>
          </a:p>
        </p:txBody>
      </p:sp>
      <p:sp>
        <p:nvSpPr>
          <p:cNvPr id="16" name="Text 14"/>
          <p:cNvSpPr/>
          <p:nvPr/>
        </p:nvSpPr>
        <p:spPr>
          <a:xfrm>
            <a:off x="411480" y="2468880"/>
            <a:ext cx="3840480" cy="182880"/>
          </a:xfrm>
          <a:prstGeom prst="rect">
            <a:avLst/>
          </a:prstGeom>
          <a:noFill/>
          <a:ln/>
        </p:spPr>
        <p:txBody>
          <a:bodyPr wrap="square" lIns="0" tIns="0" rIns="0" bIns="0" rtlCol="0" anchor="ctr"/>
          <a:lstStyle/>
          <a:p>
            <a:pPr marL="0" indent="0">
              <a:buNone/>
            </a:pPr>
            <a:r>
              <a:rPr lang="en-US" sz="850" i="1" dirty="0">
                <a:solidFill>
                  <a:srgbClr val="1A2B4A"/>
                </a:solidFill>
                <a:latin typeface="Calibri" pitchFamily="34" charset="0"/>
                <a:ea typeface="Calibri" pitchFamily="34" charset="-122"/>
                <a:cs typeface="Calibri" pitchFamily="34" charset="-120"/>
              </a:rPr>
              <a:t>   Where zⱼ = partial residual correlation</a:t>
            </a:r>
            <a:endParaRPr lang="en-US" sz="850" dirty="0"/>
          </a:p>
        </p:txBody>
      </p:sp>
      <p:sp>
        <p:nvSpPr>
          <p:cNvPr id="17" name="Text 15"/>
          <p:cNvSpPr/>
          <p:nvPr/>
        </p:nvSpPr>
        <p:spPr>
          <a:xfrm>
            <a:off x="411480" y="2670048"/>
            <a:ext cx="3840480" cy="182880"/>
          </a:xfrm>
          <a:prstGeom prst="rect">
            <a:avLst/>
          </a:prstGeom>
          <a:noFill/>
          <a:ln/>
        </p:spPr>
        <p:txBody>
          <a:bodyPr wrap="square" lIns="0" tIns="0" rIns="0" bIns="0" rtlCol="0" anchor="ctr"/>
          <a:lstStyle/>
          <a:p>
            <a:pPr marL="0" indent="0">
              <a:buNone/>
            </a:pPr>
            <a:r>
              <a:rPr lang="en-US" sz="850" i="1" dirty="0">
                <a:solidFill>
                  <a:srgbClr val="1A2B4A"/>
                </a:solidFill>
                <a:latin typeface="Calibri" pitchFamily="34" charset="0"/>
                <a:ea typeface="Calibri" pitchFamily="34" charset="-122"/>
                <a:cs typeface="Calibri" pitchFamily="34" charset="-120"/>
              </a:rPr>
              <a:t>   If |zⱼ| &lt; λ/2  →  β̂ⱼ = 0 exactly</a:t>
            </a:r>
            <a:endParaRPr lang="en-US" sz="850" dirty="0"/>
          </a:p>
        </p:txBody>
      </p:sp>
      <p:sp>
        <p:nvSpPr>
          <p:cNvPr id="18" name="Text 16"/>
          <p:cNvSpPr/>
          <p:nvPr/>
        </p:nvSpPr>
        <p:spPr>
          <a:xfrm>
            <a:off x="411480" y="2871216"/>
            <a:ext cx="3840480" cy="164592"/>
          </a:xfrm>
          <a:prstGeom prst="rect">
            <a:avLst/>
          </a:prstGeom>
          <a:noFill/>
          <a:ln/>
        </p:spPr>
        <p:txBody>
          <a:bodyPr wrap="square" lIns="0" tIns="0" rIns="0" bIns="0" rtlCol="0" anchor="ctr"/>
          <a:lstStyle/>
          <a:p>
            <a:pPr marL="0" indent="0">
              <a:buNone/>
            </a:pPr>
            <a:r>
              <a:rPr lang="en-US" sz="800" b="1" dirty="0">
                <a:solidFill>
                  <a:srgbClr val="2B6CB0"/>
                </a:solidFill>
                <a:latin typeface="Calibri" pitchFamily="34" charset="0"/>
                <a:ea typeface="Calibri" pitchFamily="34" charset="-122"/>
                <a:cs typeface="Calibri" pitchFamily="34" charset="-120"/>
              </a:rPr>
              <a:t>Optimizer:</a:t>
            </a:r>
            <a:endParaRPr lang="en-US" sz="800" dirty="0"/>
          </a:p>
        </p:txBody>
      </p:sp>
      <p:sp>
        <p:nvSpPr>
          <p:cNvPr id="19" name="Text 17"/>
          <p:cNvSpPr/>
          <p:nvPr/>
        </p:nvSpPr>
        <p:spPr>
          <a:xfrm>
            <a:off x="411480" y="3035808"/>
            <a:ext cx="3840480" cy="320040"/>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Coordinate Descent (LassoCV)</a:t>
            </a:r>
            <a:endParaRPr lang="en-US" sz="850" dirty="0"/>
          </a:p>
          <a:p>
            <a:pPr marL="0" indent="0">
              <a:buNone/>
            </a:pPr>
            <a:r>
              <a:rPr lang="en-US" sz="850" dirty="0">
                <a:solidFill>
                  <a:srgbClr val="1A2B4A"/>
                </a:solidFill>
                <a:latin typeface="Calibri" pitchFamily="34" charset="0"/>
                <a:ea typeface="Calibri" pitchFamily="34" charset="-122"/>
                <a:cs typeface="Calibri" pitchFamily="34" charset="-120"/>
              </a:rPr>
              <a:t>One coefficient at a time, cycle until convergence</a:t>
            </a:r>
            <a:endParaRPr lang="en-US" sz="850" dirty="0"/>
          </a:p>
        </p:txBody>
      </p:sp>
      <p:sp>
        <p:nvSpPr>
          <p:cNvPr id="20" name="Text 18"/>
          <p:cNvSpPr/>
          <p:nvPr/>
        </p:nvSpPr>
        <p:spPr>
          <a:xfrm>
            <a:off x="411480" y="3383280"/>
            <a:ext cx="3840480" cy="164592"/>
          </a:xfrm>
          <a:prstGeom prst="rect">
            <a:avLst/>
          </a:prstGeom>
          <a:noFill/>
          <a:ln/>
        </p:spPr>
        <p:txBody>
          <a:bodyPr wrap="square" lIns="0" tIns="0" rIns="0" bIns="0" rtlCol="0" anchor="ctr"/>
          <a:lstStyle/>
          <a:p>
            <a:pPr marL="0" indent="0">
              <a:buNone/>
            </a:pPr>
            <a:r>
              <a:rPr lang="en-US" sz="800" b="1" dirty="0">
                <a:solidFill>
                  <a:srgbClr val="2B6CB0"/>
                </a:solidFill>
                <a:latin typeface="Calibri" pitchFamily="34" charset="0"/>
                <a:ea typeface="Calibri" pitchFamily="34" charset="-122"/>
                <a:cs typeface="Calibri" pitchFamily="34" charset="-120"/>
              </a:rPr>
              <a:t>λ Selection:</a:t>
            </a:r>
            <a:endParaRPr lang="en-US" sz="800" dirty="0"/>
          </a:p>
        </p:txBody>
      </p:sp>
      <p:sp>
        <p:nvSpPr>
          <p:cNvPr id="21" name="Text 19"/>
          <p:cNvSpPr/>
          <p:nvPr/>
        </p:nvSpPr>
        <p:spPr>
          <a:xfrm>
            <a:off x="411480" y="3547872"/>
            <a:ext cx="3840480" cy="320040"/>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5-fold cross-validation over 100 λ values</a:t>
            </a:r>
            <a:endParaRPr lang="en-US" sz="850" dirty="0"/>
          </a:p>
          <a:p>
            <a:pPr marL="0" indent="0">
              <a:buNone/>
            </a:pPr>
            <a:r>
              <a:rPr lang="en-US" sz="850" dirty="0">
                <a:solidFill>
                  <a:srgbClr val="1A2B4A"/>
                </a:solidFill>
                <a:latin typeface="Calibri" pitchFamily="34" charset="0"/>
                <a:ea typeface="Calibri" pitchFamily="34" charset="-122"/>
                <a:cs typeface="Calibri" pitchFamily="34" charset="-120"/>
              </a:rPr>
              <a:t>   From λ_max (all zeros) to 0.001 × λ_max</a:t>
            </a:r>
            <a:endParaRPr lang="en-US" sz="850" dirty="0"/>
          </a:p>
        </p:txBody>
      </p:sp>
      <p:sp>
        <p:nvSpPr>
          <p:cNvPr id="22" name="Text 20"/>
          <p:cNvSpPr/>
          <p:nvPr/>
        </p:nvSpPr>
        <p:spPr>
          <a:xfrm>
            <a:off x="411480" y="3895344"/>
            <a:ext cx="3840480" cy="164592"/>
          </a:xfrm>
          <a:prstGeom prst="rect">
            <a:avLst/>
          </a:prstGeom>
          <a:noFill/>
          <a:ln/>
        </p:spPr>
        <p:txBody>
          <a:bodyPr wrap="square" lIns="0" tIns="0" rIns="0" bIns="0" rtlCol="0" anchor="ctr"/>
          <a:lstStyle/>
          <a:p>
            <a:pPr marL="0" indent="0">
              <a:buNone/>
            </a:pPr>
            <a:r>
              <a:rPr lang="en-US" sz="800" b="1" dirty="0">
                <a:solidFill>
                  <a:srgbClr val="2B6CB0"/>
                </a:solidFill>
                <a:latin typeface="Calibri" pitchFamily="34" charset="0"/>
                <a:ea typeface="Calibri" pitchFamily="34" charset="-122"/>
                <a:cs typeface="Calibri" pitchFamily="34" charset="-120"/>
              </a:rPr>
              <a:t>L1 Geometry:</a:t>
            </a:r>
            <a:endParaRPr lang="en-US" sz="800" dirty="0"/>
          </a:p>
        </p:txBody>
      </p:sp>
      <p:sp>
        <p:nvSpPr>
          <p:cNvPr id="23" name="Text 21"/>
          <p:cNvSpPr/>
          <p:nvPr/>
        </p:nvSpPr>
        <p:spPr>
          <a:xfrm>
            <a:off x="411480" y="4059936"/>
            <a:ext cx="3840480" cy="320040"/>
          </a:xfrm>
          <a:prstGeom prst="rect">
            <a:avLst/>
          </a:prstGeom>
          <a:noFill/>
          <a:ln/>
        </p:spPr>
        <p:txBody>
          <a:bodyPr wrap="square" lIns="0" tIns="0" rIns="0" bIns="0" rtlCol="0" anchor="ctr"/>
          <a:lstStyle/>
          <a:p>
            <a:pPr marL="0" indent="0">
              <a:buNone/>
            </a:pPr>
            <a:r>
              <a:rPr lang="en-US" sz="850" dirty="0">
                <a:solidFill>
                  <a:srgbClr val="1A2B4A"/>
                </a:solidFill>
                <a:latin typeface="Calibri" pitchFamily="34" charset="0"/>
                <a:ea typeface="Calibri" pitchFamily="34" charset="-122"/>
                <a:cs typeface="Calibri" pitchFamily="34" charset="-120"/>
              </a:rPr>
              <a:t>Diamond constraint region has CORNERS on axes</a:t>
            </a:r>
            <a:endParaRPr lang="en-US" sz="850" dirty="0"/>
          </a:p>
          <a:p>
            <a:pPr marL="0" indent="0">
              <a:buNone/>
            </a:pPr>
            <a:r>
              <a:rPr lang="en-US" sz="850" dirty="0">
                <a:solidFill>
                  <a:srgbClr val="1A2B4A"/>
                </a:solidFill>
                <a:latin typeface="Calibri" pitchFamily="34" charset="0"/>
                <a:ea typeface="Calibri" pitchFamily="34" charset="-122"/>
                <a:cs typeface="Calibri" pitchFamily="34" charset="-120"/>
              </a:rPr>
              <a:t>   MSE ellipse touches corner → βⱼ = 0 exactly</a:t>
            </a:r>
            <a:endParaRPr lang="en-US" sz="850" dirty="0"/>
          </a:p>
          <a:p>
            <a:pPr marL="0" indent="0">
              <a:buNone/>
            </a:pPr>
            <a:r>
              <a:rPr lang="en-US" sz="850" dirty="0">
                <a:solidFill>
                  <a:srgbClr val="1A2B4A"/>
                </a:solidFill>
                <a:latin typeface="Calibri" pitchFamily="34" charset="0"/>
                <a:ea typeface="Calibri" pitchFamily="34" charset="-122"/>
                <a:cs typeface="Calibri" pitchFamily="34" charset="-120"/>
              </a:rPr>
              <a:t>   L2 (Ridge) sphere has no corners → never zero</a:t>
            </a:r>
            <a:endParaRPr lang="en-US" sz="850" dirty="0"/>
          </a:p>
        </p:txBody>
      </p:sp>
      <p:sp>
        <p:nvSpPr>
          <p:cNvPr id="24" name="Shape 22"/>
          <p:cNvSpPr/>
          <p:nvPr/>
        </p:nvSpPr>
        <p:spPr>
          <a:xfrm>
            <a:off x="4663440" y="822960"/>
            <a:ext cx="4206240" cy="128016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25" name="Shape 23"/>
          <p:cNvSpPr/>
          <p:nvPr/>
        </p:nvSpPr>
        <p:spPr>
          <a:xfrm>
            <a:off x="4663440" y="822960"/>
            <a:ext cx="64008" cy="1280160"/>
          </a:xfrm>
          <a:prstGeom prst="rect">
            <a:avLst/>
          </a:prstGeom>
          <a:solidFill>
            <a:srgbClr val="2B6CB0"/>
          </a:solidFill>
          <a:ln w="12700">
            <a:solidFill>
              <a:srgbClr val="2B6CB0"/>
            </a:solidFill>
            <a:prstDash val="solid"/>
          </a:ln>
        </p:spPr>
      </p:sp>
      <p:sp>
        <p:nvSpPr>
          <p:cNvPr id="26" name="Text 24"/>
          <p:cNvSpPr/>
          <p:nvPr/>
        </p:nvSpPr>
        <p:spPr>
          <a:xfrm>
            <a:off x="4800600" y="877824"/>
            <a:ext cx="4023360" cy="256032"/>
          </a:xfrm>
          <a:prstGeom prst="rect">
            <a:avLst/>
          </a:prstGeom>
          <a:noFill/>
          <a:ln/>
        </p:spPr>
        <p:txBody>
          <a:bodyPr wrap="square" lIns="0" tIns="0" rIns="0" bIns="0" rtlCol="0" anchor="ctr"/>
          <a:lstStyle/>
          <a:p>
            <a:pPr marL="0" indent="0">
              <a:buNone/>
            </a:pPr>
            <a:r>
              <a:rPr lang="en-US" sz="1100" b="1" dirty="0">
                <a:solidFill>
                  <a:srgbClr val="2B6CB0"/>
                </a:solidFill>
                <a:latin typeface="Calibri" pitchFamily="34" charset="0"/>
                <a:ea typeface="Calibri" pitchFamily="34" charset="-122"/>
                <a:cs typeface="Calibri" pitchFamily="34" charset="-120"/>
              </a:rPr>
              <a:t>Why LASSO and not Ridge?</a:t>
            </a:r>
            <a:endParaRPr lang="en-US" sz="1100" dirty="0"/>
          </a:p>
        </p:txBody>
      </p:sp>
      <p:sp>
        <p:nvSpPr>
          <p:cNvPr id="27" name="Text 25"/>
          <p:cNvSpPr/>
          <p:nvPr/>
        </p:nvSpPr>
        <p:spPr>
          <a:xfrm>
            <a:off x="4800600" y="1143000"/>
            <a:ext cx="3977640" cy="868680"/>
          </a:xfrm>
          <a:prstGeom prst="rect">
            <a:avLst/>
          </a:prstGeom>
          <a:noFill/>
          <a:ln/>
        </p:spPr>
        <p:txBody>
          <a:bodyPr wrap="square" lIns="0" tIns="0" rIns="0" bIns="0" rtlCol="0" anchor="ctr"/>
          <a:lstStyle/>
          <a:p>
            <a:pPr marL="0" indent="0">
              <a:buNone/>
            </a:pPr>
            <a:r>
              <a:rPr lang="en-US" sz="950" dirty="0">
                <a:solidFill>
                  <a:srgbClr val="3D5166"/>
                </a:solidFill>
                <a:latin typeface="Calibri" pitchFamily="34" charset="0"/>
                <a:ea typeface="Calibri" pitchFamily="34" charset="-122"/>
                <a:cs typeface="Calibri" pitchFamily="34" charset="-120"/>
              </a:rPr>
              <a:t>Ridge (L2) shrinks weights toward zero but never makes them exactly zero. With 42 features across 1,115 stores, many features are irrelevant per store. LASSO's exact zeros give automatic feature selection — a store with no competition gets CompetitionDistance=0.</a:t>
            </a:r>
            <a:endParaRPr lang="en-US" sz="950" dirty="0"/>
          </a:p>
        </p:txBody>
      </p:sp>
      <p:sp>
        <p:nvSpPr>
          <p:cNvPr id="28" name="Shape 26"/>
          <p:cNvSpPr/>
          <p:nvPr/>
        </p:nvSpPr>
        <p:spPr>
          <a:xfrm>
            <a:off x="4663440" y="2194560"/>
            <a:ext cx="4206240" cy="128016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29" name="Shape 27"/>
          <p:cNvSpPr/>
          <p:nvPr/>
        </p:nvSpPr>
        <p:spPr>
          <a:xfrm>
            <a:off x="4663440" y="2194560"/>
            <a:ext cx="64008" cy="1280160"/>
          </a:xfrm>
          <a:prstGeom prst="rect">
            <a:avLst/>
          </a:prstGeom>
          <a:solidFill>
            <a:srgbClr val="0D7377"/>
          </a:solidFill>
          <a:ln w="12700">
            <a:solidFill>
              <a:srgbClr val="0D7377"/>
            </a:solidFill>
            <a:prstDash val="solid"/>
          </a:ln>
        </p:spPr>
      </p:sp>
      <p:sp>
        <p:nvSpPr>
          <p:cNvPr id="30" name="Text 28"/>
          <p:cNvSpPr/>
          <p:nvPr/>
        </p:nvSpPr>
        <p:spPr>
          <a:xfrm>
            <a:off x="4800600" y="2249424"/>
            <a:ext cx="4023360" cy="256032"/>
          </a:xfrm>
          <a:prstGeom prst="rect">
            <a:avLst/>
          </a:prstGeom>
          <a:noFill/>
          <a:ln/>
        </p:spPr>
        <p:txBody>
          <a:bodyPr wrap="square" lIns="0" tIns="0" rIns="0" bIns="0"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Why Per-Store, not Global?</a:t>
            </a:r>
            <a:endParaRPr lang="en-US" sz="1100" dirty="0"/>
          </a:p>
        </p:txBody>
      </p:sp>
      <p:sp>
        <p:nvSpPr>
          <p:cNvPr id="31" name="Text 29"/>
          <p:cNvSpPr/>
          <p:nvPr/>
        </p:nvSpPr>
        <p:spPr>
          <a:xfrm>
            <a:off x="4800600" y="2514600"/>
            <a:ext cx="3977640" cy="868680"/>
          </a:xfrm>
          <a:prstGeom prst="rect">
            <a:avLst/>
          </a:prstGeom>
          <a:noFill/>
          <a:ln/>
        </p:spPr>
        <p:txBody>
          <a:bodyPr wrap="square" lIns="0" tIns="0" rIns="0" bIns="0" rtlCol="0" anchor="ctr"/>
          <a:lstStyle/>
          <a:p>
            <a:pPr marL="0" indent="0">
              <a:buNone/>
            </a:pPr>
            <a:r>
              <a:rPr lang="en-US" sz="950" dirty="0">
                <a:solidFill>
                  <a:srgbClr val="3D5166"/>
                </a:solidFill>
                <a:latin typeface="Calibri" pitchFamily="34" charset="0"/>
                <a:ea typeface="Calibri" pitchFamily="34" charset="-122"/>
                <a:cs typeface="Calibri" pitchFamily="34" charset="-120"/>
              </a:rPr>
              <a:t>Paper confirms: 'pooling did not improve results' for linear regression. A global linear model needs 1,115 store dummy variables to learn different intercepts — creating curse of dimensionality. Per-store = different intercept by construction.</a:t>
            </a:r>
            <a:endParaRPr lang="en-US" sz="950" dirty="0"/>
          </a:p>
        </p:txBody>
      </p:sp>
      <p:sp>
        <p:nvSpPr>
          <p:cNvPr id="32" name="Shape 30"/>
          <p:cNvSpPr/>
          <p:nvPr/>
        </p:nvSpPr>
        <p:spPr>
          <a:xfrm>
            <a:off x="4663440" y="3566160"/>
            <a:ext cx="4206240" cy="128016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33" name="Shape 31"/>
          <p:cNvSpPr/>
          <p:nvPr/>
        </p:nvSpPr>
        <p:spPr>
          <a:xfrm>
            <a:off x="4663440" y="3566160"/>
            <a:ext cx="64008" cy="1280160"/>
          </a:xfrm>
          <a:prstGeom prst="rect">
            <a:avLst/>
          </a:prstGeom>
          <a:solidFill>
            <a:srgbClr val="1A2B4A"/>
          </a:solidFill>
          <a:ln w="12700">
            <a:solidFill>
              <a:srgbClr val="1A2B4A"/>
            </a:solidFill>
            <a:prstDash val="solid"/>
          </a:ln>
        </p:spPr>
      </p:sp>
      <p:sp>
        <p:nvSpPr>
          <p:cNvPr id="34" name="Text 32"/>
          <p:cNvSpPr/>
          <p:nvPr/>
        </p:nvSpPr>
        <p:spPr>
          <a:xfrm>
            <a:off x="4800600" y="3621024"/>
            <a:ext cx="4023360" cy="256032"/>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Results vs Baselines</a:t>
            </a:r>
            <a:endParaRPr lang="en-US" sz="1100" dirty="0"/>
          </a:p>
        </p:txBody>
      </p:sp>
      <p:sp>
        <p:nvSpPr>
          <p:cNvPr id="35" name="Text 33"/>
          <p:cNvSpPr/>
          <p:nvPr/>
        </p:nvSpPr>
        <p:spPr>
          <a:xfrm>
            <a:off x="4800600" y="3886200"/>
            <a:ext cx="3977640" cy="868680"/>
          </a:xfrm>
          <a:prstGeom prst="rect">
            <a:avLst/>
          </a:prstGeom>
          <a:noFill/>
          <a:ln/>
        </p:spPr>
        <p:txBody>
          <a:bodyPr wrap="square" lIns="0" tIns="0" rIns="0" bIns="0" rtlCol="0" anchor="ctr"/>
          <a:lstStyle/>
          <a:p>
            <a:pPr marL="0" indent="0">
              <a:buNone/>
            </a:pPr>
            <a:r>
              <a:rPr lang="en-US" sz="950" dirty="0">
                <a:solidFill>
                  <a:srgbClr val="3D5166"/>
                </a:solidFill>
                <a:latin typeface="Calibri" pitchFamily="34" charset="0"/>
                <a:ea typeface="Calibri" pitchFamily="34" charset="-122"/>
                <a:cs typeface="Calibri" pitchFamily="34" charset="-120"/>
              </a:rPr>
              <a:t>Overall MAE: 735 (S-Median: 1,249) → 41% improvement</a:t>
            </a:r>
            <a:endParaRPr lang="en-US" sz="950" dirty="0"/>
          </a:p>
          <a:p>
            <a:pPr marL="0" indent="0">
              <a:buNone/>
            </a:pPr>
            <a:r>
              <a:rPr lang="en-US" sz="950" dirty="0">
                <a:solidFill>
                  <a:srgbClr val="3D5166"/>
                </a:solidFill>
                <a:latin typeface="Calibri" pitchFamily="34" charset="0"/>
                <a:ea typeface="Calibri" pitchFamily="34" charset="-122"/>
                <a:cs typeface="Calibri" pitchFamily="34" charset="-120"/>
              </a:rPr>
              <a:t>SD2 MASE: 0.543 (S-Median: 0.910) → 40% improvement</a:t>
            </a:r>
            <a:endParaRPr lang="en-US" sz="950" dirty="0"/>
          </a:p>
          <a:p>
            <a:pPr marL="0" indent="0">
              <a:buNone/>
            </a:pPr>
            <a:r>
              <a:rPr lang="en-US" sz="950" dirty="0">
                <a:solidFill>
                  <a:srgbClr val="3D5166"/>
                </a:solidFill>
                <a:latin typeface="Calibri" pitchFamily="34" charset="0"/>
                <a:ea typeface="Calibri" pitchFamily="34" charset="-122"/>
                <a:cs typeface="Calibri" pitchFamily="34" charset="-120"/>
              </a:rPr>
              <a:t>SD3 only 2% better than S-Median — LASSO cannot capture the non-linear day-after patterns</a:t>
            </a:r>
            <a:endParaRPr lang="en-US" sz="950" dirty="0"/>
          </a:p>
        </p:txBody>
      </p:sp>
      <p:sp>
        <p:nvSpPr>
          <p:cNvPr id="36" name="Shape 34"/>
          <p:cNvSpPr/>
          <p:nvPr/>
        </p:nvSpPr>
        <p:spPr>
          <a:xfrm>
            <a:off x="274320" y="4892040"/>
            <a:ext cx="8595360" cy="201168"/>
          </a:xfrm>
          <a:prstGeom prst="rect">
            <a:avLst/>
          </a:prstGeom>
          <a:solidFill>
            <a:srgbClr val="2B6CB0"/>
          </a:solidFill>
          <a:ln w="12700">
            <a:solidFill>
              <a:srgbClr val="2B6CB0"/>
            </a:solidFill>
            <a:prstDash val="solid"/>
          </a:ln>
        </p:spPr>
      </p:sp>
      <p:sp>
        <p:nvSpPr>
          <p:cNvPr id="37" name="Text 35"/>
          <p:cNvSpPr/>
          <p:nvPr/>
        </p:nvSpPr>
        <p:spPr>
          <a:xfrm>
            <a:off x="274320" y="4892040"/>
            <a:ext cx="8595360" cy="201168"/>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LASSO Result: MAE=735 | MASE=0.332 | Loss: MSE + λΣ|β| | Optimizer: Coordinate Descent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Text 1"/>
          <p:cNvSpPr/>
          <p:nvPr/>
        </p:nvSpPr>
        <p:spPr>
          <a:xfrm>
            <a:off x="274320" y="91440"/>
            <a:ext cx="77724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LightGBM — Gradient Boosted Regression Trees</a:t>
            </a:r>
            <a:endParaRPr lang="en-US" sz="2000" dirty="0"/>
          </a:p>
        </p:txBody>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lgn="r">
              <a:buNone/>
            </a:pPr>
            <a:r>
              <a:rPr lang="en-US" sz="1100" i="1" dirty="0">
                <a:solidFill>
                  <a:srgbClr val="14A9AE"/>
                </a:solidFill>
                <a:latin typeface="Calibri" pitchFamily="34" charset="0"/>
                <a:ea typeface="Calibri" pitchFamily="34" charset="-122"/>
                <a:cs typeface="Calibri" pitchFamily="34" charset="-120"/>
              </a:rPr>
              <a:t>Model 2 of 4  ·  Global Model  ·  lgbm_model.py</a:t>
            </a:r>
            <a:endParaRPr lang="en-US" sz="1100" dirty="0"/>
          </a:p>
        </p:txBody>
      </p:sp>
      <p:sp>
        <p:nvSpPr>
          <p:cNvPr id="5" name="Shape 3"/>
          <p:cNvSpPr/>
          <p:nvPr/>
        </p:nvSpPr>
        <p:spPr>
          <a:xfrm>
            <a:off x="0" y="685800"/>
            <a:ext cx="9144000" cy="54864"/>
          </a:xfrm>
          <a:prstGeom prst="rect">
            <a:avLst/>
          </a:prstGeom>
          <a:solidFill>
            <a:srgbClr val="0D7377"/>
          </a:solidFill>
          <a:ln w="12700">
            <a:solidFill>
              <a:srgbClr val="0D7377"/>
            </a:solidFill>
            <a:prstDash val="solid"/>
          </a:ln>
        </p:spPr>
      </p:sp>
      <p:sp>
        <p:nvSpPr>
          <p:cNvPr id="6" name="Shape 4"/>
          <p:cNvSpPr/>
          <p:nvPr/>
        </p:nvSpPr>
        <p:spPr>
          <a:xfrm>
            <a:off x="274320" y="822960"/>
            <a:ext cx="4114800" cy="411480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7" name="Shape 5"/>
          <p:cNvSpPr/>
          <p:nvPr/>
        </p:nvSpPr>
        <p:spPr>
          <a:xfrm>
            <a:off x="274320" y="822960"/>
            <a:ext cx="4114800" cy="274320"/>
          </a:xfrm>
          <a:prstGeom prst="rect">
            <a:avLst/>
          </a:prstGeom>
          <a:solidFill>
            <a:srgbClr val="0D7377"/>
          </a:solidFill>
          <a:ln w="12700">
            <a:solidFill>
              <a:srgbClr val="0D7377"/>
            </a:solidFill>
            <a:prstDash val="solid"/>
          </a:ln>
        </p:spPr>
      </p:sp>
      <p:sp>
        <p:nvSpPr>
          <p:cNvPr id="8" name="Text 6"/>
          <p:cNvSpPr/>
          <p:nvPr/>
        </p:nvSpPr>
        <p:spPr>
          <a:xfrm>
            <a:off x="365760" y="822960"/>
            <a:ext cx="393192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Boosting Algorithm &amp; Mathematics</a:t>
            </a:r>
            <a:endParaRPr lang="en-US" sz="1000" dirty="0"/>
          </a:p>
        </p:txBody>
      </p:sp>
      <p:sp>
        <p:nvSpPr>
          <p:cNvPr id="9" name="Text 7"/>
          <p:cNvSpPr/>
          <p:nvPr/>
        </p:nvSpPr>
        <p:spPr>
          <a:xfrm>
            <a:off x="384048" y="1170432"/>
            <a:ext cx="1371600" cy="155448"/>
          </a:xfrm>
          <a:prstGeom prst="rect">
            <a:avLst/>
          </a:prstGeom>
          <a:noFill/>
          <a:ln/>
        </p:spPr>
        <p:txBody>
          <a:bodyPr wrap="square" lIns="0" tIns="0" rIns="0" bIns="0" rtlCol="0" anchor="ctr"/>
          <a:lstStyle/>
          <a:p>
            <a:pPr marL="0" indent="0">
              <a:buNone/>
            </a:pPr>
            <a:r>
              <a:rPr lang="en-US" sz="780" b="1" dirty="0">
                <a:solidFill>
                  <a:srgbClr val="0D7377"/>
                </a:solidFill>
                <a:latin typeface="Calibri" pitchFamily="34" charset="0"/>
                <a:ea typeface="Calibri" pitchFamily="34" charset="-122"/>
                <a:cs typeface="Calibri" pitchFamily="34" charset="-120"/>
              </a:rPr>
              <a:t>Boosting Type:</a:t>
            </a:r>
            <a:endParaRPr lang="en-US" sz="780" dirty="0"/>
          </a:p>
        </p:txBody>
      </p:sp>
      <p:sp>
        <p:nvSpPr>
          <p:cNvPr id="10" name="Text 8"/>
          <p:cNvSpPr/>
          <p:nvPr/>
        </p:nvSpPr>
        <p:spPr>
          <a:xfrm>
            <a:off x="1783080" y="1170432"/>
            <a:ext cx="2514600" cy="155448"/>
          </a:xfrm>
          <a:prstGeom prst="rect">
            <a:avLst/>
          </a:prstGeom>
          <a:noFill/>
          <a:ln/>
        </p:spPr>
        <p:txBody>
          <a:bodyPr wrap="square" lIns="0" tIns="0" rIns="0" bIns="0" rtlCol="0" anchor="ctr"/>
          <a:lstStyle/>
          <a:p>
            <a:pPr marL="0" indent="0">
              <a:buNone/>
            </a:pPr>
            <a:r>
              <a:rPr lang="en-US" sz="780" dirty="0">
                <a:solidFill>
                  <a:srgbClr val="1A2B4A"/>
                </a:solidFill>
                <a:latin typeface="Calibri" pitchFamily="34" charset="0"/>
                <a:ea typeface="Calibri" pitchFamily="34" charset="-122"/>
                <a:cs typeface="Calibri" pitchFamily="34" charset="-120"/>
              </a:rPr>
              <a:t>Newton Boosting (2nd-order Taylor expansion)</a:t>
            </a:r>
            <a:endParaRPr lang="en-US" sz="780" dirty="0"/>
          </a:p>
        </p:txBody>
      </p:sp>
      <p:sp>
        <p:nvSpPr>
          <p:cNvPr id="11" name="Text 9"/>
          <p:cNvSpPr/>
          <p:nvPr/>
        </p:nvSpPr>
        <p:spPr>
          <a:xfrm>
            <a:off x="384048" y="1353312"/>
            <a:ext cx="1371600" cy="155448"/>
          </a:xfrm>
          <a:prstGeom prst="rect">
            <a:avLst/>
          </a:prstGeom>
          <a:noFill/>
          <a:ln/>
        </p:spPr>
        <p:txBody>
          <a:bodyPr wrap="square" lIns="0" tIns="0" rIns="0" bIns="0" rtlCol="0" anchor="ctr"/>
          <a:lstStyle/>
          <a:p>
            <a:pPr marL="0" indent="0">
              <a:buNone/>
            </a:pPr>
            <a:r>
              <a:rPr lang="en-US" sz="780" b="1" dirty="0">
                <a:solidFill>
                  <a:srgbClr val="0D7377"/>
                </a:solidFill>
                <a:latin typeface="Calibri" pitchFamily="34" charset="0"/>
                <a:ea typeface="Calibri" pitchFamily="34" charset="-122"/>
                <a:cs typeface="Calibri" pitchFamily="34" charset="-120"/>
              </a:rPr>
              <a:t>Objective:</a:t>
            </a:r>
            <a:endParaRPr lang="en-US" sz="780" dirty="0"/>
          </a:p>
        </p:txBody>
      </p:sp>
      <p:sp>
        <p:nvSpPr>
          <p:cNvPr id="12" name="Text 10"/>
          <p:cNvSpPr/>
          <p:nvPr/>
        </p:nvSpPr>
        <p:spPr>
          <a:xfrm>
            <a:off x="1783080" y="1353312"/>
            <a:ext cx="2514600" cy="155448"/>
          </a:xfrm>
          <a:prstGeom prst="rect">
            <a:avLst/>
          </a:prstGeom>
          <a:noFill/>
          <a:ln/>
        </p:spPr>
        <p:txBody>
          <a:bodyPr wrap="square" lIns="0" tIns="0" rIns="0" bIns="0" rtlCol="0" anchor="ctr"/>
          <a:lstStyle/>
          <a:p>
            <a:pPr marL="0" indent="0">
              <a:buNone/>
            </a:pPr>
            <a:r>
              <a:rPr lang="en-US" sz="780" dirty="0">
                <a:solidFill>
                  <a:srgbClr val="1A2B4A"/>
                </a:solidFill>
                <a:latin typeface="Calibri" pitchFamily="34" charset="0"/>
                <a:ea typeface="Calibri" pitchFamily="34" charset="-122"/>
                <a:cs typeface="Calibri" pitchFamily="34" charset="-120"/>
              </a:rPr>
              <a:t>regression_l1  →  MAE loss</a:t>
            </a:r>
            <a:endParaRPr lang="en-US" sz="780" dirty="0"/>
          </a:p>
        </p:txBody>
      </p:sp>
      <p:sp>
        <p:nvSpPr>
          <p:cNvPr id="13" name="Text 11"/>
          <p:cNvSpPr/>
          <p:nvPr/>
        </p:nvSpPr>
        <p:spPr>
          <a:xfrm>
            <a:off x="384048" y="1536192"/>
            <a:ext cx="1371600" cy="155448"/>
          </a:xfrm>
          <a:prstGeom prst="rect">
            <a:avLst/>
          </a:prstGeom>
          <a:noFill/>
          <a:ln/>
        </p:spPr>
        <p:txBody>
          <a:bodyPr wrap="square" lIns="0" tIns="0" rIns="0" bIns="0" rtlCol="0" anchor="ctr"/>
          <a:lstStyle/>
          <a:p>
            <a:pPr marL="0" indent="0">
              <a:buNone/>
            </a:pPr>
            <a:r>
              <a:rPr lang="en-US" sz="780" b="1" dirty="0">
                <a:solidFill>
                  <a:srgbClr val="0D7377"/>
                </a:solidFill>
                <a:latin typeface="Calibri" pitchFamily="34" charset="0"/>
                <a:ea typeface="Calibri" pitchFamily="34" charset="-122"/>
                <a:cs typeface="Calibri" pitchFamily="34" charset="-120"/>
              </a:rPr>
              <a:t>Prediction:</a:t>
            </a:r>
            <a:endParaRPr lang="en-US" sz="780" dirty="0"/>
          </a:p>
        </p:txBody>
      </p:sp>
      <p:sp>
        <p:nvSpPr>
          <p:cNvPr id="14" name="Text 12"/>
          <p:cNvSpPr/>
          <p:nvPr/>
        </p:nvSpPr>
        <p:spPr>
          <a:xfrm>
            <a:off x="1783080" y="1536192"/>
            <a:ext cx="2514600" cy="155448"/>
          </a:xfrm>
          <a:prstGeom prst="rect">
            <a:avLst/>
          </a:prstGeom>
          <a:noFill/>
          <a:ln/>
        </p:spPr>
        <p:txBody>
          <a:bodyPr wrap="square" lIns="0" tIns="0" rIns="0" bIns="0" rtlCol="0" anchor="ctr"/>
          <a:lstStyle/>
          <a:p>
            <a:pPr marL="0" indent="0">
              <a:buNone/>
            </a:pPr>
            <a:r>
              <a:rPr lang="en-US" sz="780" dirty="0">
                <a:solidFill>
                  <a:srgbClr val="1A2B4A"/>
                </a:solidFill>
                <a:latin typeface="Calibri" pitchFamily="34" charset="0"/>
                <a:ea typeface="Calibri" pitchFamily="34" charset="-122"/>
                <a:cs typeface="Calibri" pitchFamily="34" charset="-120"/>
              </a:rPr>
              <a:t>f(x) = Σ ηhₖ(x)  (sum of K trees)</a:t>
            </a:r>
            <a:endParaRPr lang="en-US" sz="780" dirty="0"/>
          </a:p>
        </p:txBody>
      </p:sp>
      <p:sp>
        <p:nvSpPr>
          <p:cNvPr id="15" name="Text 13"/>
          <p:cNvSpPr/>
          <p:nvPr/>
        </p:nvSpPr>
        <p:spPr>
          <a:xfrm>
            <a:off x="384048" y="1719072"/>
            <a:ext cx="1371600" cy="155448"/>
          </a:xfrm>
          <a:prstGeom prst="rect">
            <a:avLst/>
          </a:prstGeom>
          <a:noFill/>
          <a:ln/>
        </p:spPr>
        <p:txBody>
          <a:bodyPr wrap="square" lIns="0" tIns="0" rIns="0" bIns="0" rtlCol="0" anchor="ctr"/>
          <a:lstStyle/>
          <a:p>
            <a:pPr marL="0" indent="0">
              <a:buNone/>
            </a:pPr>
            <a:r>
              <a:rPr lang="en-US" sz="780" b="1" dirty="0">
                <a:solidFill>
                  <a:srgbClr val="0D7377"/>
                </a:solidFill>
                <a:latin typeface="Calibri" pitchFamily="34" charset="0"/>
                <a:ea typeface="Calibri" pitchFamily="34" charset="-122"/>
                <a:cs typeface="Calibri" pitchFamily="34" charset="-120"/>
              </a:rPr>
              <a:t>Pseudo-residuals:</a:t>
            </a:r>
            <a:endParaRPr lang="en-US" sz="780" dirty="0"/>
          </a:p>
        </p:txBody>
      </p:sp>
      <p:sp>
        <p:nvSpPr>
          <p:cNvPr id="16" name="Text 14"/>
          <p:cNvSpPr/>
          <p:nvPr/>
        </p:nvSpPr>
        <p:spPr>
          <a:xfrm>
            <a:off x="1783080" y="1719072"/>
            <a:ext cx="2514600" cy="155448"/>
          </a:xfrm>
          <a:prstGeom prst="rect">
            <a:avLst/>
          </a:prstGeom>
          <a:noFill/>
          <a:ln/>
        </p:spPr>
        <p:txBody>
          <a:bodyPr wrap="square" lIns="0" tIns="0" rIns="0" bIns="0" rtlCol="0" anchor="ctr"/>
          <a:lstStyle/>
          <a:p>
            <a:pPr marL="0" indent="0">
              <a:buNone/>
            </a:pPr>
            <a:r>
              <a:rPr lang="en-US" sz="780" dirty="0">
                <a:solidFill>
                  <a:srgbClr val="1A2B4A"/>
                </a:solidFill>
                <a:latin typeface="Calibri" pitchFamily="34" charset="0"/>
                <a:ea typeface="Calibri" pitchFamily="34" charset="-122"/>
                <a:cs typeface="Calibri" pitchFamily="34" charset="-120"/>
              </a:rPr>
              <a:t>gᵢ = ∂L/∂ŷᵢ = sign(ŷᵢ − yᵢ)  ∈ {−1, +1}</a:t>
            </a:r>
            <a:endParaRPr lang="en-US" sz="780" dirty="0"/>
          </a:p>
        </p:txBody>
      </p:sp>
      <p:sp>
        <p:nvSpPr>
          <p:cNvPr id="17" name="Text 15"/>
          <p:cNvSpPr/>
          <p:nvPr/>
        </p:nvSpPr>
        <p:spPr>
          <a:xfrm>
            <a:off x="384048" y="1901952"/>
            <a:ext cx="1371600" cy="155448"/>
          </a:xfrm>
          <a:prstGeom prst="rect">
            <a:avLst/>
          </a:prstGeom>
          <a:noFill/>
          <a:ln/>
        </p:spPr>
        <p:txBody>
          <a:bodyPr wrap="square" lIns="0" tIns="0" rIns="0" bIns="0" rtlCol="0" anchor="ctr"/>
          <a:lstStyle/>
          <a:p>
            <a:pPr marL="0" indent="0">
              <a:buNone/>
            </a:pPr>
            <a:r>
              <a:rPr lang="en-US" sz="780" b="1" dirty="0">
                <a:solidFill>
                  <a:srgbClr val="0D7377"/>
                </a:solidFill>
                <a:latin typeface="Calibri" pitchFamily="34" charset="0"/>
                <a:ea typeface="Calibri" pitchFamily="34" charset="-122"/>
                <a:cs typeface="Calibri" pitchFamily="34" charset="-120"/>
              </a:rPr>
              <a:t>Optimal Leaf Wt:</a:t>
            </a:r>
            <a:endParaRPr lang="en-US" sz="780" dirty="0"/>
          </a:p>
        </p:txBody>
      </p:sp>
      <p:sp>
        <p:nvSpPr>
          <p:cNvPr id="18" name="Text 16"/>
          <p:cNvSpPr/>
          <p:nvPr/>
        </p:nvSpPr>
        <p:spPr>
          <a:xfrm>
            <a:off x="1783080" y="1901952"/>
            <a:ext cx="2514600" cy="155448"/>
          </a:xfrm>
          <a:prstGeom prst="rect">
            <a:avLst/>
          </a:prstGeom>
          <a:noFill/>
          <a:ln/>
        </p:spPr>
        <p:txBody>
          <a:bodyPr wrap="square" lIns="0" tIns="0" rIns="0" bIns="0" rtlCol="0" anchor="ctr"/>
          <a:lstStyle/>
          <a:p>
            <a:pPr marL="0" indent="0">
              <a:buNone/>
            </a:pPr>
            <a:r>
              <a:rPr lang="en-US" sz="780" dirty="0">
                <a:solidFill>
                  <a:srgbClr val="1A2B4A"/>
                </a:solidFill>
                <a:latin typeface="Calibri" pitchFamily="34" charset="0"/>
                <a:ea typeface="Calibri" pitchFamily="34" charset="-122"/>
                <a:cs typeface="Calibri" pitchFamily="34" charset="-120"/>
              </a:rPr>
              <a:t>w*ⱼ = −Gⱼ / (Hⱼ + λ)</a:t>
            </a:r>
            <a:endParaRPr lang="en-US" sz="780" dirty="0"/>
          </a:p>
        </p:txBody>
      </p:sp>
      <p:sp>
        <p:nvSpPr>
          <p:cNvPr id="19" name="Text 17"/>
          <p:cNvSpPr/>
          <p:nvPr/>
        </p:nvSpPr>
        <p:spPr>
          <a:xfrm>
            <a:off x="384048" y="2084832"/>
            <a:ext cx="1371600" cy="155448"/>
          </a:xfrm>
          <a:prstGeom prst="rect">
            <a:avLst/>
          </a:prstGeom>
          <a:noFill/>
          <a:ln/>
        </p:spPr>
        <p:txBody>
          <a:bodyPr wrap="square" lIns="0" tIns="0" rIns="0" bIns="0" rtlCol="0" anchor="ctr"/>
          <a:lstStyle/>
          <a:p>
            <a:pPr marL="0" indent="0">
              <a:buNone/>
            </a:pPr>
            <a:r>
              <a:rPr lang="en-US" sz="780" b="1" dirty="0">
                <a:solidFill>
                  <a:srgbClr val="0D7377"/>
                </a:solidFill>
                <a:latin typeface="Calibri" pitchFamily="34" charset="0"/>
                <a:ea typeface="Calibri" pitchFamily="34" charset="-122"/>
                <a:cs typeface="Calibri" pitchFamily="34" charset="-120"/>
              </a:rPr>
              <a:t>Split Gain:</a:t>
            </a:r>
            <a:endParaRPr lang="en-US" sz="780" dirty="0"/>
          </a:p>
        </p:txBody>
      </p:sp>
      <p:sp>
        <p:nvSpPr>
          <p:cNvPr id="20" name="Text 18"/>
          <p:cNvSpPr/>
          <p:nvPr/>
        </p:nvSpPr>
        <p:spPr>
          <a:xfrm>
            <a:off x="1783080" y="2084832"/>
            <a:ext cx="2514600" cy="155448"/>
          </a:xfrm>
          <a:prstGeom prst="rect">
            <a:avLst/>
          </a:prstGeom>
          <a:noFill/>
          <a:ln/>
        </p:spPr>
        <p:txBody>
          <a:bodyPr wrap="square" lIns="0" tIns="0" rIns="0" bIns="0" rtlCol="0" anchor="ctr"/>
          <a:lstStyle/>
          <a:p>
            <a:pPr marL="0" indent="0">
              <a:buNone/>
            </a:pPr>
            <a:r>
              <a:rPr lang="en-US" sz="780" dirty="0">
                <a:solidFill>
                  <a:srgbClr val="1A2B4A"/>
                </a:solidFill>
                <a:latin typeface="Calibri" pitchFamily="34" charset="0"/>
                <a:ea typeface="Calibri" pitchFamily="34" charset="-122"/>
                <a:cs typeface="Calibri" pitchFamily="34" charset="-120"/>
              </a:rPr>
              <a:t>½[GL²/(HL+λ) + GR²/(HR+λ) − (GL+GR)²/(HL+HR+λ)] − γ</a:t>
            </a:r>
            <a:endParaRPr lang="en-US" sz="780" dirty="0"/>
          </a:p>
        </p:txBody>
      </p:sp>
      <p:sp>
        <p:nvSpPr>
          <p:cNvPr id="21" name="Text 19"/>
          <p:cNvSpPr/>
          <p:nvPr/>
        </p:nvSpPr>
        <p:spPr>
          <a:xfrm>
            <a:off x="384048" y="2267712"/>
            <a:ext cx="1371600" cy="155448"/>
          </a:xfrm>
          <a:prstGeom prst="rect">
            <a:avLst/>
          </a:prstGeom>
          <a:noFill/>
          <a:ln/>
        </p:spPr>
        <p:txBody>
          <a:bodyPr wrap="square" lIns="0" tIns="0" rIns="0" bIns="0" rtlCol="0" anchor="ctr"/>
          <a:lstStyle/>
          <a:p>
            <a:pPr marL="0" indent="0">
              <a:buNone/>
            </a:pPr>
            <a:r>
              <a:rPr lang="en-US" sz="780" b="1" dirty="0">
                <a:solidFill>
                  <a:srgbClr val="0D7377"/>
                </a:solidFill>
                <a:latin typeface="Calibri" pitchFamily="34" charset="0"/>
                <a:ea typeface="Calibri" pitchFamily="34" charset="-122"/>
                <a:cs typeface="Calibri" pitchFamily="34" charset="-120"/>
              </a:rPr>
              <a:t>GOSS Sampling:</a:t>
            </a:r>
            <a:endParaRPr lang="en-US" sz="780" dirty="0"/>
          </a:p>
        </p:txBody>
      </p:sp>
      <p:sp>
        <p:nvSpPr>
          <p:cNvPr id="22" name="Text 20"/>
          <p:cNvSpPr/>
          <p:nvPr/>
        </p:nvSpPr>
        <p:spPr>
          <a:xfrm>
            <a:off x="1783080" y="2267712"/>
            <a:ext cx="2514600" cy="292608"/>
          </a:xfrm>
          <a:prstGeom prst="rect">
            <a:avLst/>
          </a:prstGeom>
          <a:noFill/>
          <a:ln/>
        </p:spPr>
        <p:txBody>
          <a:bodyPr wrap="square" lIns="0" tIns="0" rIns="0" bIns="0" rtlCol="0" anchor="ctr"/>
          <a:lstStyle/>
          <a:p>
            <a:pPr marL="0" indent="0">
              <a:buNone/>
            </a:pPr>
            <a:r>
              <a:rPr lang="en-US" sz="780" dirty="0">
                <a:solidFill>
                  <a:srgbClr val="1A2B4A"/>
                </a:solidFill>
                <a:latin typeface="Calibri" pitchFamily="34" charset="0"/>
                <a:ea typeface="Calibri" pitchFamily="34" charset="-122"/>
                <a:cs typeface="Calibri" pitchFamily="34" charset="-120"/>
              </a:rPr>
              <a:t>Keep top-a% large-gradient instances always</a:t>
            </a:r>
            <a:endParaRPr lang="en-US" sz="780" dirty="0"/>
          </a:p>
          <a:p>
            <a:pPr marL="0" indent="0">
              <a:buNone/>
            </a:pPr>
            <a:r>
              <a:rPr lang="en-US" sz="780" dirty="0">
                <a:solidFill>
                  <a:srgbClr val="1A2B4A"/>
                </a:solidFill>
                <a:latin typeface="Calibri" pitchFamily="34" charset="0"/>
                <a:ea typeface="Calibri" pitchFamily="34" charset="-122"/>
                <a:cs typeface="Calibri" pitchFamily="34" charset="-120"/>
              </a:rPr>
              <a:t>   + sample b% from small-gradient instances</a:t>
            </a:r>
            <a:endParaRPr lang="en-US" sz="780" dirty="0"/>
          </a:p>
        </p:txBody>
      </p:sp>
      <p:sp>
        <p:nvSpPr>
          <p:cNvPr id="23" name="Text 21"/>
          <p:cNvSpPr/>
          <p:nvPr/>
        </p:nvSpPr>
        <p:spPr>
          <a:xfrm>
            <a:off x="384048" y="2596896"/>
            <a:ext cx="1371600" cy="155448"/>
          </a:xfrm>
          <a:prstGeom prst="rect">
            <a:avLst/>
          </a:prstGeom>
          <a:noFill/>
          <a:ln/>
        </p:spPr>
        <p:txBody>
          <a:bodyPr wrap="square" lIns="0" tIns="0" rIns="0" bIns="0" rtlCol="0" anchor="ctr"/>
          <a:lstStyle/>
          <a:p>
            <a:pPr marL="0" indent="0">
              <a:buNone/>
            </a:pPr>
            <a:r>
              <a:rPr lang="en-US" sz="780" b="1" dirty="0">
                <a:solidFill>
                  <a:srgbClr val="0D7377"/>
                </a:solidFill>
                <a:latin typeface="Calibri" pitchFamily="34" charset="0"/>
                <a:ea typeface="Calibri" pitchFamily="34" charset="-122"/>
                <a:cs typeface="Calibri" pitchFamily="34" charset="-120"/>
              </a:rPr>
              <a:t>EFB Bundling:</a:t>
            </a:r>
            <a:endParaRPr lang="en-US" sz="780" dirty="0"/>
          </a:p>
        </p:txBody>
      </p:sp>
      <p:sp>
        <p:nvSpPr>
          <p:cNvPr id="24" name="Text 22"/>
          <p:cNvSpPr/>
          <p:nvPr/>
        </p:nvSpPr>
        <p:spPr>
          <a:xfrm>
            <a:off x="1783080" y="2596896"/>
            <a:ext cx="2514600" cy="292608"/>
          </a:xfrm>
          <a:prstGeom prst="rect">
            <a:avLst/>
          </a:prstGeom>
          <a:noFill/>
          <a:ln/>
        </p:spPr>
        <p:txBody>
          <a:bodyPr wrap="square" lIns="0" tIns="0" rIns="0" bIns="0" rtlCol="0" anchor="ctr"/>
          <a:lstStyle/>
          <a:p>
            <a:pPr marL="0" indent="0">
              <a:buNone/>
            </a:pPr>
            <a:r>
              <a:rPr lang="en-US" sz="780" dirty="0">
                <a:solidFill>
                  <a:srgbClr val="1A2B4A"/>
                </a:solidFill>
                <a:latin typeface="Calibri" pitchFamily="34" charset="0"/>
                <a:ea typeface="Calibri" pitchFamily="34" charset="-122"/>
                <a:cs typeface="Calibri" pitchFamily="34" charset="-120"/>
              </a:rPr>
              <a:t>Bundle exclusive sparse features (e.g. IsSD1–IsSD4)</a:t>
            </a:r>
            <a:endParaRPr lang="en-US" sz="780" dirty="0"/>
          </a:p>
          <a:p>
            <a:pPr marL="0" indent="0">
              <a:buNone/>
            </a:pPr>
            <a:r>
              <a:rPr lang="en-US" sz="780" dirty="0">
                <a:solidFill>
                  <a:srgbClr val="1A2B4A"/>
                </a:solidFill>
                <a:latin typeface="Calibri" pitchFamily="34" charset="0"/>
                <a:ea typeface="Calibri" pitchFamily="34" charset="-122"/>
                <a:cs typeface="Calibri" pitchFamily="34" charset="-120"/>
              </a:rPr>
              <a:t>   Reduces effective feature count</a:t>
            </a:r>
            <a:endParaRPr lang="en-US" sz="780" dirty="0"/>
          </a:p>
        </p:txBody>
      </p:sp>
      <p:sp>
        <p:nvSpPr>
          <p:cNvPr id="25" name="Text 23"/>
          <p:cNvSpPr/>
          <p:nvPr/>
        </p:nvSpPr>
        <p:spPr>
          <a:xfrm>
            <a:off x="384048" y="2926080"/>
            <a:ext cx="1371600" cy="155448"/>
          </a:xfrm>
          <a:prstGeom prst="rect">
            <a:avLst/>
          </a:prstGeom>
          <a:noFill/>
          <a:ln/>
        </p:spPr>
        <p:txBody>
          <a:bodyPr wrap="square" lIns="0" tIns="0" rIns="0" bIns="0" rtlCol="0" anchor="ctr"/>
          <a:lstStyle/>
          <a:p>
            <a:pPr marL="0" indent="0">
              <a:buNone/>
            </a:pPr>
            <a:r>
              <a:rPr lang="en-US" sz="780" b="1" dirty="0">
                <a:solidFill>
                  <a:srgbClr val="0D7377"/>
                </a:solidFill>
                <a:latin typeface="Calibri" pitchFamily="34" charset="0"/>
                <a:ea typeface="Calibri" pitchFamily="34" charset="-122"/>
                <a:cs typeface="Calibri" pitchFamily="34" charset="-120"/>
              </a:rPr>
              <a:t>Histogram Splits:</a:t>
            </a:r>
            <a:endParaRPr lang="en-US" sz="780" dirty="0"/>
          </a:p>
        </p:txBody>
      </p:sp>
      <p:sp>
        <p:nvSpPr>
          <p:cNvPr id="26" name="Text 24"/>
          <p:cNvSpPr/>
          <p:nvPr/>
        </p:nvSpPr>
        <p:spPr>
          <a:xfrm>
            <a:off x="1783080" y="2926080"/>
            <a:ext cx="2514600" cy="292608"/>
          </a:xfrm>
          <a:prstGeom prst="rect">
            <a:avLst/>
          </a:prstGeom>
          <a:noFill/>
          <a:ln/>
        </p:spPr>
        <p:txBody>
          <a:bodyPr wrap="square" lIns="0" tIns="0" rIns="0" bIns="0" rtlCol="0" anchor="ctr"/>
          <a:lstStyle/>
          <a:p>
            <a:pPr marL="0" indent="0">
              <a:buNone/>
            </a:pPr>
            <a:r>
              <a:rPr lang="en-US" sz="780" dirty="0">
                <a:solidFill>
                  <a:srgbClr val="1A2B4A"/>
                </a:solidFill>
                <a:latin typeface="Calibri" pitchFamily="34" charset="0"/>
                <a:ea typeface="Calibri" pitchFamily="34" charset="-122"/>
                <a:cs typeface="Calibri" pitchFamily="34" charset="-120"/>
              </a:rPr>
              <a:t>Discretise to 255 bins  →  O(nB) vs O(n²)</a:t>
            </a:r>
            <a:endParaRPr lang="en-US" sz="780" dirty="0"/>
          </a:p>
          <a:p>
            <a:pPr marL="0" indent="0">
              <a:buNone/>
            </a:pPr>
            <a:r>
              <a:rPr lang="en-US" sz="780" dirty="0">
                <a:solidFill>
                  <a:srgbClr val="1A2B4A"/>
                </a:solidFill>
                <a:latin typeface="Calibri" pitchFamily="34" charset="0"/>
                <a:ea typeface="Calibri" pitchFamily="34" charset="-122"/>
                <a:cs typeface="Calibri" pitchFamily="34" charset="-120"/>
              </a:rPr>
              <a:t>   Parent−child histogram subtraction trick</a:t>
            </a:r>
            <a:endParaRPr lang="en-US" sz="780" dirty="0"/>
          </a:p>
        </p:txBody>
      </p:sp>
      <p:sp>
        <p:nvSpPr>
          <p:cNvPr id="27" name="Text 25"/>
          <p:cNvSpPr/>
          <p:nvPr/>
        </p:nvSpPr>
        <p:spPr>
          <a:xfrm>
            <a:off x="384048" y="3255264"/>
            <a:ext cx="1371600" cy="155448"/>
          </a:xfrm>
          <a:prstGeom prst="rect">
            <a:avLst/>
          </a:prstGeom>
          <a:noFill/>
          <a:ln/>
        </p:spPr>
        <p:txBody>
          <a:bodyPr wrap="square" lIns="0" tIns="0" rIns="0" bIns="0" rtlCol="0" anchor="ctr"/>
          <a:lstStyle/>
          <a:p>
            <a:pPr marL="0" indent="0">
              <a:buNone/>
            </a:pPr>
            <a:r>
              <a:rPr lang="en-US" sz="780" b="1" dirty="0">
                <a:solidFill>
                  <a:srgbClr val="0D7377"/>
                </a:solidFill>
                <a:latin typeface="Calibri" pitchFamily="34" charset="0"/>
                <a:ea typeface="Calibri" pitchFamily="34" charset="-122"/>
                <a:cs typeface="Calibri" pitchFamily="34" charset="-120"/>
              </a:rPr>
              <a:t>Early Stopped @:</a:t>
            </a:r>
            <a:endParaRPr lang="en-US" sz="780" dirty="0"/>
          </a:p>
        </p:txBody>
      </p:sp>
      <p:sp>
        <p:nvSpPr>
          <p:cNvPr id="28" name="Text 26"/>
          <p:cNvSpPr/>
          <p:nvPr/>
        </p:nvSpPr>
        <p:spPr>
          <a:xfrm>
            <a:off x="1783080" y="3255264"/>
            <a:ext cx="2514600" cy="155448"/>
          </a:xfrm>
          <a:prstGeom prst="rect">
            <a:avLst/>
          </a:prstGeom>
          <a:noFill/>
          <a:ln/>
        </p:spPr>
        <p:txBody>
          <a:bodyPr wrap="square" lIns="0" tIns="0" rIns="0" bIns="0" rtlCol="0" anchor="ctr"/>
          <a:lstStyle/>
          <a:p>
            <a:pPr marL="0" indent="0">
              <a:buNone/>
            </a:pPr>
            <a:r>
              <a:rPr lang="en-US" sz="780" dirty="0">
                <a:solidFill>
                  <a:srgbClr val="1A2B4A"/>
                </a:solidFill>
                <a:latin typeface="Calibri" pitchFamily="34" charset="0"/>
                <a:ea typeface="Calibri" pitchFamily="34" charset="-122"/>
                <a:cs typeface="Calibri" pitchFamily="34" charset="-120"/>
              </a:rPr>
              <a:t>Round 764  (patience=50 rounds, val MAE)</a:t>
            </a:r>
            <a:endParaRPr lang="en-US" sz="780" dirty="0"/>
          </a:p>
        </p:txBody>
      </p:sp>
      <p:sp>
        <p:nvSpPr>
          <p:cNvPr id="29" name="Shape 27"/>
          <p:cNvSpPr/>
          <p:nvPr/>
        </p:nvSpPr>
        <p:spPr>
          <a:xfrm>
            <a:off x="4663440" y="822960"/>
            <a:ext cx="4206240" cy="274320"/>
          </a:xfrm>
          <a:prstGeom prst="rect">
            <a:avLst/>
          </a:prstGeom>
          <a:solidFill>
            <a:srgbClr val="0D7377"/>
          </a:solidFill>
          <a:ln w="12700">
            <a:solidFill>
              <a:srgbClr val="0D7377"/>
            </a:solidFill>
            <a:prstDash val="solid"/>
          </a:ln>
        </p:spPr>
      </p:sp>
      <p:sp>
        <p:nvSpPr>
          <p:cNvPr id="30" name="Text 28"/>
          <p:cNvSpPr/>
          <p:nvPr/>
        </p:nvSpPr>
        <p:spPr>
          <a:xfrm>
            <a:off x="4709160" y="822960"/>
            <a:ext cx="411480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Hyperparameters &amp; Why These Values</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663440" y="1115568"/>
          <a:ext cx="4206240" cy="1892808"/>
        </p:xfrm>
        <a:graphic>
          <a:graphicData uri="http://schemas.openxmlformats.org/drawingml/2006/table">
            <a:tbl>
              <a:tblPr/>
              <a:tblGrid>
                <a:gridCol w="12801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201168">
                <a:tc>
                  <a:txBody>
                    <a:bodyPr/>
                    <a:lstStyle/>
                    <a:p>
                      <a:pPr marL="0" indent="0">
                        <a:buNone/>
                      </a:pPr>
                      <a:r>
                        <a:rPr lang="en-US" sz="780" b="1" dirty="0">
                          <a:solidFill>
                            <a:srgbClr val="3D5166"/>
                          </a:solidFill>
                          <a:latin typeface="Calibri" pitchFamily="34" charset="0"/>
                          <a:ea typeface="Calibri" pitchFamily="34" charset="-122"/>
                          <a:cs typeface="Calibri" pitchFamily="34" charset="-120"/>
                        </a:rPr>
                        <a:t>Parameter</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buNone/>
                      </a:pPr>
                      <a:r>
                        <a:rPr lang="en-US" sz="780" b="1" dirty="0">
                          <a:solidFill>
                            <a:srgbClr val="3D5166"/>
                          </a:solidFill>
                          <a:latin typeface="Calibri" pitchFamily="34" charset="0"/>
                          <a:ea typeface="Calibri" pitchFamily="34" charset="-122"/>
                          <a:cs typeface="Calibri" pitchFamily="34" charset="-120"/>
                        </a:rPr>
                        <a:t>Value</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buNone/>
                      </a:pPr>
                      <a:r>
                        <a:rPr lang="en-US" sz="780" b="1" dirty="0">
                          <a:solidFill>
                            <a:srgbClr val="3D5166"/>
                          </a:solidFill>
                          <a:latin typeface="Calibri" pitchFamily="34" charset="0"/>
                          <a:ea typeface="Calibri" pitchFamily="34" charset="-122"/>
                          <a:cs typeface="Calibri" pitchFamily="34" charset="-120"/>
                        </a:rPr>
                        <a:t>Why</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extLst>
                  <a:ext uri="{0D108BD9-81ED-4DB2-BD59-A6C34878D82A}">
                    <a16:rowId xmlns:a16="http://schemas.microsoft.com/office/drawing/2014/main" val="10000"/>
                  </a:ext>
                </a:extLst>
              </a:tr>
              <a:tr h="201168">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num_leaves</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63</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Max complexity (2⁶−1 balanced tree)</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1"/>
                  </a:ext>
                </a:extLst>
              </a:tr>
              <a:tr h="201168">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min_data_in_leaf</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50</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Prevents overfitting rare store-holiday combos</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2"/>
                  </a:ext>
                </a:extLst>
              </a:tr>
              <a:tr h="201168">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learning_rate</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0.05</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Slow+stable; paired with early stopping</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3"/>
                  </a:ext>
                </a:extLst>
              </a:tr>
              <a:tr h="201168">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feature_fraction</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0.8</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Prevents Store_enc dominating all trees</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4"/>
                  </a:ext>
                </a:extLst>
              </a:tr>
              <a:tr h="201168">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bagging_fraction</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0.8</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Stochastic boosting — reduces variance</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5"/>
                  </a:ext>
                </a:extLst>
              </a:tr>
              <a:tr h="201168">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bagging_freq</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5</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Resample every 5 rounds for stability</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6"/>
                  </a:ext>
                </a:extLst>
              </a:tr>
              <a:tr h="201168">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lambda_l1/l2</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0.1</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L1: sparse leaves; L2: smooth leaf weights</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7"/>
                  </a:ext>
                </a:extLst>
              </a:tr>
              <a:tr h="201168">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No target transform</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780" dirty="0">
                          <a:solidFill>
                            <a:srgbClr val="3D5166"/>
                          </a:solidFill>
                          <a:latin typeface="Calibri" pitchFamily="34" charset="0"/>
                          <a:ea typeface="Calibri" pitchFamily="34" charset="-122"/>
                          <a:cs typeface="Calibri" pitchFamily="34" charset="-120"/>
                        </a:rPr>
                        <a:t>Trees order-invariant; transform gives no gain</a:t>
                      </a:r>
                      <a:endParaRPr lang="en-US" sz="78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32" name="Shape 29"/>
          <p:cNvSpPr/>
          <p:nvPr/>
        </p:nvSpPr>
        <p:spPr>
          <a:xfrm>
            <a:off x="4663440" y="3090672"/>
            <a:ext cx="4206240" cy="256032"/>
          </a:xfrm>
          <a:prstGeom prst="rect">
            <a:avLst/>
          </a:prstGeom>
          <a:solidFill>
            <a:srgbClr val="1A2B4A"/>
          </a:solidFill>
          <a:ln w="12700">
            <a:solidFill>
              <a:srgbClr val="1A2B4A"/>
            </a:solidFill>
            <a:prstDash val="solid"/>
          </a:ln>
        </p:spPr>
      </p:sp>
      <p:sp>
        <p:nvSpPr>
          <p:cNvPr id="33" name="Text 30"/>
          <p:cNvSpPr/>
          <p:nvPr/>
        </p:nvSpPr>
        <p:spPr>
          <a:xfrm>
            <a:off x="4663440" y="3090672"/>
            <a:ext cx="42062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Top Feature Importance (by Gain)</a:t>
            </a:r>
            <a:endParaRPr lang="en-US" sz="900" dirty="0"/>
          </a:p>
        </p:txBody>
      </p:sp>
      <p:sp>
        <p:nvSpPr>
          <p:cNvPr id="34" name="Text 31"/>
          <p:cNvSpPr/>
          <p:nvPr/>
        </p:nvSpPr>
        <p:spPr>
          <a:xfrm>
            <a:off x="4709160" y="3401568"/>
            <a:ext cx="1371600" cy="201168"/>
          </a:xfrm>
          <a:prstGeom prst="rect">
            <a:avLst/>
          </a:prstGeom>
          <a:noFill/>
          <a:ln/>
        </p:spPr>
        <p:txBody>
          <a:bodyPr wrap="square" lIns="0" tIns="0" rIns="0" bIns="0" rtlCol="0" anchor="ctr"/>
          <a:lstStyle/>
          <a:p>
            <a:pPr marL="0" indent="0">
              <a:buNone/>
            </a:pPr>
            <a:r>
              <a:rPr lang="en-US" sz="750" dirty="0">
                <a:solidFill>
                  <a:srgbClr val="1A2B4A"/>
                </a:solidFill>
                <a:latin typeface="Calibri" pitchFamily="34" charset="0"/>
                <a:ea typeface="Calibri" pitchFamily="34" charset="-122"/>
                <a:cs typeface="Calibri" pitchFamily="34" charset="-120"/>
              </a:rPr>
              <a:t>Store_enc</a:t>
            </a:r>
            <a:endParaRPr lang="en-US" sz="750" dirty="0"/>
          </a:p>
        </p:txBody>
      </p:sp>
      <p:sp>
        <p:nvSpPr>
          <p:cNvPr id="35" name="Shape 32"/>
          <p:cNvSpPr/>
          <p:nvPr/>
        </p:nvSpPr>
        <p:spPr>
          <a:xfrm>
            <a:off x="6126480" y="3447288"/>
            <a:ext cx="1865376" cy="118872"/>
          </a:xfrm>
          <a:prstGeom prst="rect">
            <a:avLst/>
          </a:prstGeom>
          <a:solidFill>
            <a:srgbClr val="F0A500"/>
          </a:solidFill>
          <a:ln w="12700">
            <a:solidFill>
              <a:srgbClr val="F0A500"/>
            </a:solidFill>
            <a:prstDash val="solid"/>
          </a:ln>
        </p:spPr>
      </p:sp>
      <p:sp>
        <p:nvSpPr>
          <p:cNvPr id="36" name="Text 33"/>
          <p:cNvSpPr/>
          <p:nvPr/>
        </p:nvSpPr>
        <p:spPr>
          <a:xfrm>
            <a:off x="8366760" y="3401568"/>
            <a:ext cx="457200" cy="201168"/>
          </a:xfrm>
          <a:prstGeom prst="rect">
            <a:avLst/>
          </a:prstGeom>
          <a:noFill/>
          <a:ln/>
        </p:spPr>
        <p:txBody>
          <a:bodyPr wrap="square" lIns="0" tIns="0" rIns="0" bIns="0" rtlCol="0" anchor="ctr"/>
          <a:lstStyle/>
          <a:p>
            <a:pPr marL="0" indent="0">
              <a:buNone/>
            </a:pPr>
            <a:r>
              <a:rPr lang="en-US" sz="700" dirty="0">
                <a:solidFill>
                  <a:srgbClr val="8896A5"/>
                </a:solidFill>
                <a:latin typeface="Calibri" pitchFamily="34" charset="0"/>
                <a:ea typeface="Calibri" pitchFamily="34" charset="-122"/>
                <a:cs typeface="Calibri" pitchFamily="34" charset="-120"/>
              </a:rPr>
              <a:t>179,942</a:t>
            </a:r>
            <a:endParaRPr lang="en-US" sz="700" dirty="0"/>
          </a:p>
        </p:txBody>
      </p:sp>
      <p:sp>
        <p:nvSpPr>
          <p:cNvPr id="37" name="Text 34"/>
          <p:cNvSpPr/>
          <p:nvPr/>
        </p:nvSpPr>
        <p:spPr>
          <a:xfrm>
            <a:off x="4709160" y="3630168"/>
            <a:ext cx="1371600" cy="201168"/>
          </a:xfrm>
          <a:prstGeom prst="rect">
            <a:avLst/>
          </a:prstGeom>
          <a:noFill/>
          <a:ln/>
        </p:spPr>
        <p:txBody>
          <a:bodyPr wrap="square" lIns="0" tIns="0" rIns="0" bIns="0" rtlCol="0" anchor="ctr"/>
          <a:lstStyle/>
          <a:p>
            <a:pPr marL="0" indent="0">
              <a:buNone/>
            </a:pPr>
            <a:r>
              <a:rPr lang="en-US" sz="750" dirty="0">
                <a:solidFill>
                  <a:srgbClr val="1A2B4A"/>
                </a:solidFill>
                <a:latin typeface="Calibri" pitchFamily="34" charset="0"/>
                <a:ea typeface="Calibri" pitchFamily="34" charset="-122"/>
                <a:cs typeface="Calibri" pitchFamily="34" charset="-120"/>
              </a:rPr>
              <a:t>Promo</a:t>
            </a:r>
            <a:endParaRPr lang="en-US" sz="750" dirty="0"/>
          </a:p>
        </p:txBody>
      </p:sp>
      <p:sp>
        <p:nvSpPr>
          <p:cNvPr id="38" name="Shape 35"/>
          <p:cNvSpPr/>
          <p:nvPr/>
        </p:nvSpPr>
        <p:spPr>
          <a:xfrm>
            <a:off x="6126480" y="3675888"/>
            <a:ext cx="768096" cy="118872"/>
          </a:xfrm>
          <a:prstGeom prst="rect">
            <a:avLst/>
          </a:prstGeom>
          <a:solidFill>
            <a:srgbClr val="0D7377"/>
          </a:solidFill>
          <a:ln w="12700">
            <a:solidFill>
              <a:srgbClr val="0D7377"/>
            </a:solidFill>
            <a:prstDash val="solid"/>
          </a:ln>
        </p:spPr>
      </p:sp>
      <p:sp>
        <p:nvSpPr>
          <p:cNvPr id="39" name="Text 36"/>
          <p:cNvSpPr/>
          <p:nvPr/>
        </p:nvSpPr>
        <p:spPr>
          <a:xfrm>
            <a:off x="8366760" y="3630168"/>
            <a:ext cx="457200" cy="201168"/>
          </a:xfrm>
          <a:prstGeom prst="rect">
            <a:avLst/>
          </a:prstGeom>
          <a:noFill/>
          <a:ln/>
        </p:spPr>
        <p:txBody>
          <a:bodyPr wrap="square" lIns="0" tIns="0" rIns="0" bIns="0" rtlCol="0" anchor="ctr"/>
          <a:lstStyle/>
          <a:p>
            <a:pPr marL="0" indent="0">
              <a:buNone/>
            </a:pPr>
            <a:r>
              <a:rPr lang="en-US" sz="700" dirty="0">
                <a:solidFill>
                  <a:srgbClr val="8896A5"/>
                </a:solidFill>
                <a:latin typeface="Calibri" pitchFamily="34" charset="0"/>
                <a:ea typeface="Calibri" pitchFamily="34" charset="-122"/>
                <a:cs typeface="Calibri" pitchFamily="34" charset="-120"/>
              </a:rPr>
              <a:t>73,339</a:t>
            </a:r>
            <a:endParaRPr lang="en-US" sz="700" dirty="0"/>
          </a:p>
        </p:txBody>
      </p:sp>
      <p:sp>
        <p:nvSpPr>
          <p:cNvPr id="40" name="Text 37"/>
          <p:cNvSpPr/>
          <p:nvPr/>
        </p:nvSpPr>
        <p:spPr>
          <a:xfrm>
            <a:off x="4709160" y="3858768"/>
            <a:ext cx="1371600" cy="201168"/>
          </a:xfrm>
          <a:prstGeom prst="rect">
            <a:avLst/>
          </a:prstGeom>
          <a:noFill/>
          <a:ln/>
        </p:spPr>
        <p:txBody>
          <a:bodyPr wrap="square" lIns="0" tIns="0" rIns="0" bIns="0" rtlCol="0" anchor="ctr"/>
          <a:lstStyle/>
          <a:p>
            <a:pPr marL="0" indent="0">
              <a:buNone/>
            </a:pPr>
            <a:r>
              <a:rPr lang="en-US" sz="750" dirty="0">
                <a:solidFill>
                  <a:srgbClr val="1A2B4A"/>
                </a:solidFill>
                <a:latin typeface="Calibri" pitchFamily="34" charset="0"/>
                <a:ea typeface="Calibri" pitchFamily="34" charset="-122"/>
                <a:cs typeface="Calibri" pitchFamily="34" charset="-120"/>
              </a:rPr>
              <a:t>Sales_rolling_median</a:t>
            </a:r>
            <a:endParaRPr lang="en-US" sz="750" dirty="0"/>
          </a:p>
        </p:txBody>
      </p:sp>
      <p:sp>
        <p:nvSpPr>
          <p:cNvPr id="41" name="Shape 38"/>
          <p:cNvSpPr/>
          <p:nvPr/>
        </p:nvSpPr>
        <p:spPr>
          <a:xfrm>
            <a:off x="6126480" y="3904488"/>
            <a:ext cx="636422" cy="118872"/>
          </a:xfrm>
          <a:prstGeom prst="rect">
            <a:avLst/>
          </a:prstGeom>
          <a:solidFill>
            <a:srgbClr val="0D7377"/>
          </a:solidFill>
          <a:ln w="12700">
            <a:solidFill>
              <a:srgbClr val="0D7377"/>
            </a:solidFill>
            <a:prstDash val="solid"/>
          </a:ln>
        </p:spPr>
      </p:sp>
      <p:sp>
        <p:nvSpPr>
          <p:cNvPr id="42" name="Text 39"/>
          <p:cNvSpPr/>
          <p:nvPr/>
        </p:nvSpPr>
        <p:spPr>
          <a:xfrm>
            <a:off x="8366760" y="3858768"/>
            <a:ext cx="457200" cy="201168"/>
          </a:xfrm>
          <a:prstGeom prst="rect">
            <a:avLst/>
          </a:prstGeom>
          <a:noFill/>
          <a:ln/>
        </p:spPr>
        <p:txBody>
          <a:bodyPr wrap="square" lIns="0" tIns="0" rIns="0" bIns="0" rtlCol="0" anchor="ctr"/>
          <a:lstStyle/>
          <a:p>
            <a:pPr marL="0" indent="0">
              <a:buNone/>
            </a:pPr>
            <a:r>
              <a:rPr lang="en-US" sz="700" dirty="0">
                <a:solidFill>
                  <a:srgbClr val="8896A5"/>
                </a:solidFill>
                <a:latin typeface="Calibri" pitchFamily="34" charset="0"/>
                <a:ea typeface="Calibri" pitchFamily="34" charset="-122"/>
                <a:cs typeface="Calibri" pitchFamily="34" charset="-120"/>
              </a:rPr>
              <a:t>62,156</a:t>
            </a:r>
            <a:endParaRPr lang="en-US" sz="700" dirty="0"/>
          </a:p>
        </p:txBody>
      </p:sp>
      <p:sp>
        <p:nvSpPr>
          <p:cNvPr id="43" name="Text 40"/>
          <p:cNvSpPr/>
          <p:nvPr/>
        </p:nvSpPr>
        <p:spPr>
          <a:xfrm>
            <a:off x="4709160" y="4087368"/>
            <a:ext cx="1371600" cy="201168"/>
          </a:xfrm>
          <a:prstGeom prst="rect">
            <a:avLst/>
          </a:prstGeom>
          <a:noFill/>
          <a:ln/>
        </p:spPr>
        <p:txBody>
          <a:bodyPr wrap="square" lIns="0" tIns="0" rIns="0" bIns="0" rtlCol="0" anchor="ctr"/>
          <a:lstStyle/>
          <a:p>
            <a:pPr marL="0" indent="0">
              <a:buNone/>
            </a:pPr>
            <a:r>
              <a:rPr lang="en-US" sz="750" dirty="0">
                <a:solidFill>
                  <a:srgbClr val="1A2B4A"/>
                </a:solidFill>
                <a:latin typeface="Calibri" pitchFamily="34" charset="0"/>
                <a:ea typeface="Calibri" pitchFamily="34" charset="-122"/>
                <a:cs typeface="Calibri" pitchFamily="34" charset="-120"/>
              </a:rPr>
              <a:t>Sales_lag_6</a:t>
            </a:r>
            <a:endParaRPr lang="en-US" sz="750" dirty="0"/>
          </a:p>
        </p:txBody>
      </p:sp>
      <p:sp>
        <p:nvSpPr>
          <p:cNvPr id="44" name="Shape 41"/>
          <p:cNvSpPr/>
          <p:nvPr/>
        </p:nvSpPr>
        <p:spPr>
          <a:xfrm>
            <a:off x="6126480" y="4133088"/>
            <a:ext cx="416966" cy="118872"/>
          </a:xfrm>
          <a:prstGeom prst="rect">
            <a:avLst/>
          </a:prstGeom>
          <a:solidFill>
            <a:srgbClr val="0D7377"/>
          </a:solidFill>
          <a:ln w="12700">
            <a:solidFill>
              <a:srgbClr val="0D7377"/>
            </a:solidFill>
            <a:prstDash val="solid"/>
          </a:ln>
        </p:spPr>
      </p:sp>
      <p:sp>
        <p:nvSpPr>
          <p:cNvPr id="45" name="Text 42"/>
          <p:cNvSpPr/>
          <p:nvPr/>
        </p:nvSpPr>
        <p:spPr>
          <a:xfrm>
            <a:off x="8366760" y="4087368"/>
            <a:ext cx="457200" cy="201168"/>
          </a:xfrm>
          <a:prstGeom prst="rect">
            <a:avLst/>
          </a:prstGeom>
          <a:noFill/>
          <a:ln/>
        </p:spPr>
        <p:txBody>
          <a:bodyPr wrap="square" lIns="0" tIns="0" rIns="0" bIns="0" rtlCol="0" anchor="ctr"/>
          <a:lstStyle/>
          <a:p>
            <a:pPr marL="0" indent="0">
              <a:buNone/>
            </a:pPr>
            <a:r>
              <a:rPr lang="en-US" sz="700" dirty="0">
                <a:solidFill>
                  <a:srgbClr val="8896A5"/>
                </a:solidFill>
                <a:latin typeface="Calibri" pitchFamily="34" charset="0"/>
                <a:ea typeface="Calibri" pitchFamily="34" charset="-122"/>
                <a:cs typeface="Calibri" pitchFamily="34" charset="-120"/>
              </a:rPr>
              <a:t>39,834</a:t>
            </a:r>
            <a:endParaRPr lang="en-US" sz="700" dirty="0"/>
          </a:p>
        </p:txBody>
      </p:sp>
      <p:sp>
        <p:nvSpPr>
          <p:cNvPr id="46" name="Text 43"/>
          <p:cNvSpPr/>
          <p:nvPr/>
        </p:nvSpPr>
        <p:spPr>
          <a:xfrm>
            <a:off x="4709160" y="4315968"/>
            <a:ext cx="1371600" cy="201168"/>
          </a:xfrm>
          <a:prstGeom prst="rect">
            <a:avLst/>
          </a:prstGeom>
          <a:noFill/>
          <a:ln/>
        </p:spPr>
        <p:txBody>
          <a:bodyPr wrap="square" lIns="0" tIns="0" rIns="0" bIns="0" rtlCol="0" anchor="ctr"/>
          <a:lstStyle/>
          <a:p>
            <a:pPr marL="0" indent="0">
              <a:buNone/>
            </a:pPr>
            <a:r>
              <a:rPr lang="en-US" sz="750" dirty="0">
                <a:solidFill>
                  <a:srgbClr val="1A2B4A"/>
                </a:solidFill>
                <a:latin typeface="Calibri" pitchFamily="34" charset="0"/>
                <a:ea typeface="Calibri" pitchFamily="34" charset="-122"/>
                <a:cs typeface="Calibri" pitchFamily="34" charset="-120"/>
              </a:rPr>
              <a:t>DayOfMonth</a:t>
            </a:r>
            <a:endParaRPr lang="en-US" sz="750" dirty="0"/>
          </a:p>
        </p:txBody>
      </p:sp>
      <p:sp>
        <p:nvSpPr>
          <p:cNvPr id="47" name="Shape 44"/>
          <p:cNvSpPr/>
          <p:nvPr/>
        </p:nvSpPr>
        <p:spPr>
          <a:xfrm>
            <a:off x="6126480" y="4361688"/>
            <a:ext cx="395021" cy="118872"/>
          </a:xfrm>
          <a:prstGeom prst="rect">
            <a:avLst/>
          </a:prstGeom>
          <a:solidFill>
            <a:srgbClr val="0D7377"/>
          </a:solidFill>
          <a:ln w="12700">
            <a:solidFill>
              <a:srgbClr val="0D7377"/>
            </a:solidFill>
            <a:prstDash val="solid"/>
          </a:ln>
        </p:spPr>
      </p:sp>
      <p:sp>
        <p:nvSpPr>
          <p:cNvPr id="48" name="Text 45"/>
          <p:cNvSpPr/>
          <p:nvPr/>
        </p:nvSpPr>
        <p:spPr>
          <a:xfrm>
            <a:off x="8366760" y="4315968"/>
            <a:ext cx="457200" cy="201168"/>
          </a:xfrm>
          <a:prstGeom prst="rect">
            <a:avLst/>
          </a:prstGeom>
          <a:noFill/>
          <a:ln/>
        </p:spPr>
        <p:txBody>
          <a:bodyPr wrap="square" lIns="0" tIns="0" rIns="0" bIns="0" rtlCol="0" anchor="ctr"/>
          <a:lstStyle/>
          <a:p>
            <a:pPr marL="0" indent="0">
              <a:buNone/>
            </a:pPr>
            <a:r>
              <a:rPr lang="en-US" sz="700" dirty="0">
                <a:solidFill>
                  <a:srgbClr val="8896A5"/>
                </a:solidFill>
                <a:latin typeface="Calibri" pitchFamily="34" charset="0"/>
                <a:ea typeface="Calibri" pitchFamily="34" charset="-122"/>
                <a:cs typeface="Calibri" pitchFamily="34" charset="-120"/>
              </a:rPr>
              <a:t>37,900</a:t>
            </a:r>
            <a:endParaRPr lang="en-US" sz="700" dirty="0"/>
          </a:p>
        </p:txBody>
      </p:sp>
      <p:sp>
        <p:nvSpPr>
          <p:cNvPr id="49" name="Text 46"/>
          <p:cNvSpPr/>
          <p:nvPr/>
        </p:nvSpPr>
        <p:spPr>
          <a:xfrm>
            <a:off x="4709160" y="4544568"/>
            <a:ext cx="1371600" cy="201168"/>
          </a:xfrm>
          <a:prstGeom prst="rect">
            <a:avLst/>
          </a:prstGeom>
          <a:noFill/>
          <a:ln/>
        </p:spPr>
        <p:txBody>
          <a:bodyPr wrap="square" lIns="0" tIns="0" rIns="0" bIns="0" rtlCol="0" anchor="ctr"/>
          <a:lstStyle/>
          <a:p>
            <a:pPr marL="0" indent="0">
              <a:buNone/>
            </a:pPr>
            <a:r>
              <a:rPr lang="en-US" sz="750" dirty="0">
                <a:solidFill>
                  <a:srgbClr val="1A2B4A"/>
                </a:solidFill>
                <a:latin typeface="Calibri" pitchFamily="34" charset="0"/>
                <a:ea typeface="Calibri" pitchFamily="34" charset="-122"/>
                <a:cs typeface="Calibri" pitchFamily="34" charset="-120"/>
              </a:rPr>
              <a:t>sd_rel_change</a:t>
            </a:r>
            <a:endParaRPr lang="en-US" sz="750" dirty="0"/>
          </a:p>
        </p:txBody>
      </p:sp>
      <p:sp>
        <p:nvSpPr>
          <p:cNvPr id="50" name="Shape 47"/>
          <p:cNvSpPr/>
          <p:nvPr/>
        </p:nvSpPr>
        <p:spPr>
          <a:xfrm>
            <a:off x="6126480" y="4590288"/>
            <a:ext cx="197510" cy="118872"/>
          </a:xfrm>
          <a:prstGeom prst="rect">
            <a:avLst/>
          </a:prstGeom>
          <a:solidFill>
            <a:srgbClr val="0D7377"/>
          </a:solidFill>
          <a:ln w="12700">
            <a:solidFill>
              <a:srgbClr val="0D7377"/>
            </a:solidFill>
            <a:prstDash val="solid"/>
          </a:ln>
        </p:spPr>
      </p:sp>
      <p:sp>
        <p:nvSpPr>
          <p:cNvPr id="51" name="Text 48"/>
          <p:cNvSpPr/>
          <p:nvPr/>
        </p:nvSpPr>
        <p:spPr>
          <a:xfrm>
            <a:off x="8366760" y="4544568"/>
            <a:ext cx="457200" cy="201168"/>
          </a:xfrm>
          <a:prstGeom prst="rect">
            <a:avLst/>
          </a:prstGeom>
          <a:noFill/>
          <a:ln/>
        </p:spPr>
        <p:txBody>
          <a:bodyPr wrap="square" lIns="0" tIns="0" rIns="0" bIns="0" rtlCol="0" anchor="ctr"/>
          <a:lstStyle/>
          <a:p>
            <a:pPr marL="0" indent="0">
              <a:buNone/>
            </a:pPr>
            <a:r>
              <a:rPr lang="en-US" sz="700" dirty="0">
                <a:solidFill>
                  <a:srgbClr val="8896A5"/>
                </a:solidFill>
                <a:latin typeface="Calibri" pitchFamily="34" charset="0"/>
                <a:ea typeface="Calibri" pitchFamily="34" charset="-122"/>
                <a:cs typeface="Calibri" pitchFamily="34" charset="-120"/>
              </a:rPr>
              <a:t>~19,000</a:t>
            </a:r>
            <a:endParaRPr lang="en-US" sz="700" dirty="0"/>
          </a:p>
        </p:txBody>
      </p:sp>
      <p:sp>
        <p:nvSpPr>
          <p:cNvPr id="52" name="Shape 49"/>
          <p:cNvSpPr/>
          <p:nvPr/>
        </p:nvSpPr>
        <p:spPr>
          <a:xfrm>
            <a:off x="4663440" y="4828032"/>
            <a:ext cx="4206240" cy="246888"/>
          </a:xfrm>
          <a:prstGeom prst="rect">
            <a:avLst/>
          </a:prstGeom>
          <a:solidFill>
            <a:srgbClr val="E6FFF9"/>
          </a:solidFill>
          <a:ln w="12700">
            <a:solidFill>
              <a:srgbClr val="0D7377"/>
            </a:solidFill>
            <a:prstDash val="solid"/>
          </a:ln>
        </p:spPr>
      </p:sp>
      <p:sp>
        <p:nvSpPr>
          <p:cNvPr id="53" name="Text 50"/>
          <p:cNvSpPr/>
          <p:nvPr/>
        </p:nvSpPr>
        <p:spPr>
          <a:xfrm>
            <a:off x="4709160" y="4828032"/>
            <a:ext cx="4114800" cy="246888"/>
          </a:xfrm>
          <a:prstGeom prst="rect">
            <a:avLst/>
          </a:prstGeom>
          <a:noFill/>
          <a:ln/>
        </p:spPr>
        <p:txBody>
          <a:bodyPr wrap="square" lIns="0" tIns="0" rIns="0" bIns="0" rtlCol="0" anchor="ctr"/>
          <a:lstStyle/>
          <a:p>
            <a:pPr marL="0" indent="0">
              <a:buNone/>
            </a:pPr>
            <a:r>
              <a:rPr lang="en-US" sz="780" i="1" dirty="0">
                <a:solidFill>
                  <a:srgbClr val="0D7377"/>
                </a:solidFill>
                <a:latin typeface="Calibri" pitchFamily="34" charset="0"/>
                <a:ea typeface="Calibri" pitchFamily="34" charset="-122"/>
                <a:cs typeface="Calibri" pitchFamily="34" charset="-120"/>
              </a:rPr>
              <a:t>Store_enc dominates because 1,115 stores have vastly different demand levels — the global model must learn them all</a:t>
            </a:r>
            <a:endParaRPr lang="en-US" sz="780" dirty="0"/>
          </a:p>
        </p:txBody>
      </p:sp>
      <p:sp>
        <p:nvSpPr>
          <p:cNvPr id="54" name="Shape 51"/>
          <p:cNvSpPr/>
          <p:nvPr/>
        </p:nvSpPr>
        <p:spPr>
          <a:xfrm>
            <a:off x="274320" y="4892040"/>
            <a:ext cx="4114800" cy="201168"/>
          </a:xfrm>
          <a:prstGeom prst="rect">
            <a:avLst/>
          </a:prstGeom>
          <a:solidFill>
            <a:srgbClr val="0D7377"/>
          </a:solidFill>
          <a:ln w="12700">
            <a:solidFill>
              <a:srgbClr val="0D7377"/>
            </a:solidFill>
            <a:prstDash val="solid"/>
          </a:ln>
        </p:spPr>
      </p:sp>
      <p:sp>
        <p:nvSpPr>
          <p:cNvPr id="55" name="Text 52"/>
          <p:cNvSpPr/>
          <p:nvPr/>
        </p:nvSpPr>
        <p:spPr>
          <a:xfrm>
            <a:off x="274320" y="4892040"/>
            <a:ext cx="411480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BEST OVERALL: MAE=604  |  MASE=0.273  |  52% better than S-Median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Text 1"/>
          <p:cNvSpPr/>
          <p:nvPr/>
        </p:nvSpPr>
        <p:spPr>
          <a:xfrm>
            <a:off x="274320" y="91440"/>
            <a:ext cx="77724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MLP — Multi-Layer Perceptron</a:t>
            </a:r>
            <a:endParaRPr lang="en-US" sz="2000" dirty="0"/>
          </a:p>
        </p:txBody>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lgn="r">
              <a:buNone/>
            </a:pPr>
            <a:r>
              <a:rPr lang="en-US" sz="1100" i="1" dirty="0">
                <a:solidFill>
                  <a:srgbClr val="14A9AE"/>
                </a:solidFill>
                <a:latin typeface="Calibri" pitchFamily="34" charset="0"/>
                <a:ea typeface="Calibri" pitchFamily="34" charset="-122"/>
                <a:cs typeface="Calibri" pitchFamily="34" charset="-120"/>
              </a:rPr>
              <a:t>Model 3 of 4  ·  REG + CL(max) + CL(median)  ·  mlp_model.py</a:t>
            </a:r>
            <a:endParaRPr lang="en-US" sz="1100" dirty="0"/>
          </a:p>
        </p:txBody>
      </p:sp>
      <p:sp>
        <p:nvSpPr>
          <p:cNvPr id="5" name="Shape 3"/>
          <p:cNvSpPr/>
          <p:nvPr/>
        </p:nvSpPr>
        <p:spPr>
          <a:xfrm>
            <a:off x="0" y="685800"/>
            <a:ext cx="9144000" cy="54864"/>
          </a:xfrm>
          <a:prstGeom prst="rect">
            <a:avLst/>
          </a:prstGeom>
          <a:solidFill>
            <a:srgbClr val="0D7377"/>
          </a:solidFill>
          <a:ln w="12700">
            <a:solidFill>
              <a:srgbClr val="0D7377"/>
            </a:solidFill>
            <a:prstDash val="solid"/>
          </a:ln>
        </p:spPr>
      </p:sp>
      <p:sp>
        <p:nvSpPr>
          <p:cNvPr id="6" name="Shape 4"/>
          <p:cNvSpPr/>
          <p:nvPr/>
        </p:nvSpPr>
        <p:spPr>
          <a:xfrm>
            <a:off x="274320" y="822960"/>
            <a:ext cx="3017520" cy="411480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7" name="Shape 5"/>
          <p:cNvSpPr/>
          <p:nvPr/>
        </p:nvSpPr>
        <p:spPr>
          <a:xfrm>
            <a:off x="274320" y="822960"/>
            <a:ext cx="3017520" cy="274320"/>
          </a:xfrm>
          <a:prstGeom prst="rect">
            <a:avLst/>
          </a:prstGeom>
          <a:solidFill>
            <a:srgbClr val="7C3AED"/>
          </a:solidFill>
          <a:ln w="12700">
            <a:solidFill>
              <a:srgbClr val="7C3AED"/>
            </a:solidFill>
            <a:prstDash val="solid"/>
          </a:ln>
        </p:spPr>
      </p:sp>
      <p:sp>
        <p:nvSpPr>
          <p:cNvPr id="8" name="Text 6"/>
          <p:cNvSpPr/>
          <p:nvPr/>
        </p:nvSpPr>
        <p:spPr>
          <a:xfrm>
            <a:off x="320040" y="822960"/>
            <a:ext cx="292608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Architecture</a:t>
            </a:r>
            <a:endParaRPr lang="en-US" sz="1000" dirty="0"/>
          </a:p>
        </p:txBody>
      </p:sp>
      <p:sp>
        <p:nvSpPr>
          <p:cNvPr id="9" name="Shape 7"/>
          <p:cNvSpPr/>
          <p:nvPr/>
        </p:nvSpPr>
        <p:spPr>
          <a:xfrm>
            <a:off x="411480" y="1152144"/>
            <a:ext cx="2743200" cy="320040"/>
          </a:xfrm>
          <a:prstGeom prst="rect">
            <a:avLst/>
          </a:prstGeom>
          <a:solidFill>
            <a:srgbClr val="1A2B4A"/>
          </a:solidFill>
          <a:ln w="12700">
            <a:solidFill>
              <a:srgbClr val="1A2B4A"/>
            </a:solidFill>
            <a:prstDash val="solid"/>
          </a:ln>
        </p:spPr>
      </p:sp>
      <p:sp>
        <p:nvSpPr>
          <p:cNvPr id="10" name="Text 8"/>
          <p:cNvSpPr/>
          <p:nvPr/>
        </p:nvSpPr>
        <p:spPr>
          <a:xfrm>
            <a:off x="411480" y="1152144"/>
            <a:ext cx="274320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Input Layer</a:t>
            </a:r>
            <a:endParaRPr lang="en-US" sz="750" dirty="0"/>
          </a:p>
        </p:txBody>
      </p:sp>
      <p:sp>
        <p:nvSpPr>
          <p:cNvPr id="11" name="Text 9"/>
          <p:cNvSpPr/>
          <p:nvPr/>
        </p:nvSpPr>
        <p:spPr>
          <a:xfrm>
            <a:off x="411480" y="1335024"/>
            <a:ext cx="2743200" cy="137160"/>
          </a:xfrm>
          <a:prstGeom prst="rect">
            <a:avLst/>
          </a:prstGeom>
          <a:noFill/>
          <a:ln/>
        </p:spPr>
        <p:txBody>
          <a:bodyPr wrap="square" lIns="0" tIns="0" rIns="0" bIns="0" rtlCol="0" anchor="ctr"/>
          <a:lstStyle/>
          <a:p>
            <a:pPr marL="0" indent="0" algn="ctr">
              <a:buNone/>
            </a:pPr>
            <a:r>
              <a:rPr lang="en-US" sz="650" i="1" dirty="0">
                <a:solidFill>
                  <a:srgbClr val="FFFFFF"/>
                </a:solidFill>
                <a:latin typeface="Calibri" pitchFamily="34" charset="0"/>
                <a:ea typeface="Calibri" pitchFamily="34" charset="-122"/>
                <a:cs typeface="Calibri" pitchFamily="34" charset="-120"/>
              </a:rPr>
              <a:t>42 features</a:t>
            </a:r>
            <a:endParaRPr lang="en-US" sz="650" dirty="0"/>
          </a:p>
        </p:txBody>
      </p:sp>
      <p:sp>
        <p:nvSpPr>
          <p:cNvPr id="12" name="Shape 10"/>
          <p:cNvSpPr/>
          <p:nvPr/>
        </p:nvSpPr>
        <p:spPr>
          <a:xfrm>
            <a:off x="1645920" y="1472184"/>
            <a:ext cx="0" cy="64008"/>
          </a:xfrm>
          <a:prstGeom prst="line">
            <a:avLst/>
          </a:prstGeom>
          <a:noFill/>
          <a:ln w="12700">
            <a:solidFill>
              <a:srgbClr val="8896A5"/>
            </a:solidFill>
            <a:prstDash val="solid"/>
          </a:ln>
        </p:spPr>
      </p:sp>
      <p:sp>
        <p:nvSpPr>
          <p:cNvPr id="13" name="Shape 11"/>
          <p:cNvSpPr/>
          <p:nvPr/>
        </p:nvSpPr>
        <p:spPr>
          <a:xfrm>
            <a:off x="411480" y="1536192"/>
            <a:ext cx="2743200" cy="320040"/>
          </a:xfrm>
          <a:prstGeom prst="rect">
            <a:avLst/>
          </a:prstGeom>
          <a:solidFill>
            <a:srgbClr val="7C3AED"/>
          </a:solidFill>
          <a:ln w="12700">
            <a:solidFill>
              <a:srgbClr val="7C3AED"/>
            </a:solidFill>
            <a:prstDash val="solid"/>
          </a:ln>
        </p:spPr>
      </p:sp>
      <p:sp>
        <p:nvSpPr>
          <p:cNvPr id="14" name="Text 12"/>
          <p:cNvSpPr/>
          <p:nvPr/>
        </p:nvSpPr>
        <p:spPr>
          <a:xfrm>
            <a:off x="411480" y="1536192"/>
            <a:ext cx="2743200" cy="201168"/>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Dense(256) + BN + ReLU + Dropout(0.2)</a:t>
            </a:r>
            <a:endParaRPr lang="en-US" sz="750" dirty="0"/>
          </a:p>
        </p:txBody>
      </p:sp>
      <p:sp>
        <p:nvSpPr>
          <p:cNvPr id="15" name="Text 13"/>
          <p:cNvSpPr/>
          <p:nvPr/>
        </p:nvSpPr>
        <p:spPr>
          <a:xfrm>
            <a:off x="411480" y="1719072"/>
            <a:ext cx="2743200" cy="137160"/>
          </a:xfrm>
          <a:prstGeom prst="rect">
            <a:avLst/>
          </a:prstGeom>
          <a:noFill/>
          <a:ln/>
        </p:spPr>
        <p:txBody>
          <a:bodyPr wrap="square" lIns="0" tIns="0" rIns="0" bIns="0" rtlCol="0" anchor="ctr"/>
          <a:lstStyle/>
          <a:p>
            <a:pPr marL="0" indent="0" algn="ctr">
              <a:buNone/>
            </a:pPr>
            <a:r>
              <a:rPr lang="en-US" sz="650" i="1" dirty="0">
                <a:solidFill>
                  <a:srgbClr val="FFFFFF"/>
                </a:solidFill>
                <a:latin typeface="Calibri" pitchFamily="34" charset="0"/>
                <a:ea typeface="Calibri" pitchFamily="34" charset="-122"/>
                <a:cs typeface="Calibri" pitchFamily="34" charset="-120"/>
              </a:rPr>
              <a:t>REG hidden 1</a:t>
            </a:r>
            <a:endParaRPr lang="en-US" sz="650" dirty="0"/>
          </a:p>
        </p:txBody>
      </p:sp>
      <p:sp>
        <p:nvSpPr>
          <p:cNvPr id="16" name="Shape 14"/>
          <p:cNvSpPr/>
          <p:nvPr/>
        </p:nvSpPr>
        <p:spPr>
          <a:xfrm>
            <a:off x="1645920" y="1856232"/>
            <a:ext cx="0" cy="64008"/>
          </a:xfrm>
          <a:prstGeom prst="line">
            <a:avLst/>
          </a:prstGeom>
          <a:noFill/>
          <a:ln w="12700">
            <a:solidFill>
              <a:srgbClr val="8896A5"/>
            </a:solidFill>
            <a:prstDash val="solid"/>
          </a:ln>
        </p:spPr>
      </p:sp>
      <p:sp>
        <p:nvSpPr>
          <p:cNvPr id="17" name="Shape 15"/>
          <p:cNvSpPr/>
          <p:nvPr/>
        </p:nvSpPr>
        <p:spPr>
          <a:xfrm>
            <a:off x="411480" y="1920240"/>
            <a:ext cx="2743200" cy="320040"/>
          </a:xfrm>
          <a:prstGeom prst="rect">
            <a:avLst/>
          </a:prstGeom>
          <a:solidFill>
            <a:srgbClr val="7C3AED"/>
          </a:solidFill>
          <a:ln w="12700">
            <a:solidFill>
              <a:srgbClr val="7C3AED"/>
            </a:solidFill>
            <a:prstDash val="solid"/>
          </a:ln>
        </p:spPr>
      </p:sp>
      <p:sp>
        <p:nvSpPr>
          <p:cNvPr id="18" name="Text 16"/>
          <p:cNvSpPr/>
          <p:nvPr/>
        </p:nvSpPr>
        <p:spPr>
          <a:xfrm>
            <a:off x="411480" y="1920240"/>
            <a:ext cx="2743200" cy="201168"/>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Dense(128) + BN + ReLU + Dropout(0.2)</a:t>
            </a:r>
            <a:endParaRPr lang="en-US" sz="750" dirty="0"/>
          </a:p>
        </p:txBody>
      </p:sp>
      <p:sp>
        <p:nvSpPr>
          <p:cNvPr id="19" name="Text 17"/>
          <p:cNvSpPr/>
          <p:nvPr/>
        </p:nvSpPr>
        <p:spPr>
          <a:xfrm>
            <a:off x="411480" y="2103120"/>
            <a:ext cx="2743200" cy="137160"/>
          </a:xfrm>
          <a:prstGeom prst="rect">
            <a:avLst/>
          </a:prstGeom>
          <a:noFill/>
          <a:ln/>
        </p:spPr>
        <p:txBody>
          <a:bodyPr wrap="square" lIns="0" tIns="0" rIns="0" bIns="0" rtlCol="0" anchor="ctr"/>
          <a:lstStyle/>
          <a:p>
            <a:pPr marL="0" indent="0" algn="ctr">
              <a:buNone/>
            </a:pPr>
            <a:r>
              <a:rPr lang="en-US" sz="650" i="1" dirty="0">
                <a:solidFill>
                  <a:srgbClr val="FFFFFF"/>
                </a:solidFill>
                <a:latin typeface="Calibri" pitchFamily="34" charset="0"/>
                <a:ea typeface="Calibri" pitchFamily="34" charset="-122"/>
                <a:cs typeface="Calibri" pitchFamily="34" charset="-120"/>
              </a:rPr>
              <a:t>REG hidden 2</a:t>
            </a:r>
            <a:endParaRPr lang="en-US" sz="650" dirty="0"/>
          </a:p>
        </p:txBody>
      </p:sp>
      <p:sp>
        <p:nvSpPr>
          <p:cNvPr id="20" name="Shape 18"/>
          <p:cNvSpPr/>
          <p:nvPr/>
        </p:nvSpPr>
        <p:spPr>
          <a:xfrm>
            <a:off x="1645920" y="2240280"/>
            <a:ext cx="0" cy="64008"/>
          </a:xfrm>
          <a:prstGeom prst="line">
            <a:avLst/>
          </a:prstGeom>
          <a:noFill/>
          <a:ln w="12700">
            <a:solidFill>
              <a:srgbClr val="8896A5"/>
            </a:solidFill>
            <a:prstDash val="solid"/>
          </a:ln>
        </p:spPr>
      </p:sp>
      <p:sp>
        <p:nvSpPr>
          <p:cNvPr id="21" name="Shape 19"/>
          <p:cNvSpPr/>
          <p:nvPr/>
        </p:nvSpPr>
        <p:spPr>
          <a:xfrm>
            <a:off x="411480" y="2304288"/>
            <a:ext cx="2743200" cy="320040"/>
          </a:xfrm>
          <a:prstGeom prst="rect">
            <a:avLst/>
          </a:prstGeom>
          <a:solidFill>
            <a:srgbClr val="0D7377"/>
          </a:solidFill>
          <a:ln w="12700">
            <a:solidFill>
              <a:srgbClr val="0D7377"/>
            </a:solidFill>
            <a:prstDash val="solid"/>
          </a:ln>
        </p:spPr>
      </p:sp>
      <p:sp>
        <p:nvSpPr>
          <p:cNvPr id="22" name="Text 20"/>
          <p:cNvSpPr/>
          <p:nvPr/>
        </p:nvSpPr>
        <p:spPr>
          <a:xfrm>
            <a:off x="411480" y="2304288"/>
            <a:ext cx="2743200" cy="201168"/>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Dense(1, Linear)</a:t>
            </a:r>
            <a:endParaRPr lang="en-US" sz="750" dirty="0"/>
          </a:p>
        </p:txBody>
      </p:sp>
      <p:sp>
        <p:nvSpPr>
          <p:cNvPr id="23" name="Text 21"/>
          <p:cNvSpPr/>
          <p:nvPr/>
        </p:nvSpPr>
        <p:spPr>
          <a:xfrm>
            <a:off x="411480" y="2487168"/>
            <a:ext cx="2743200" cy="137160"/>
          </a:xfrm>
          <a:prstGeom prst="rect">
            <a:avLst/>
          </a:prstGeom>
          <a:noFill/>
          <a:ln/>
        </p:spPr>
        <p:txBody>
          <a:bodyPr wrap="square" lIns="0" tIns="0" rIns="0" bIns="0" rtlCol="0" anchor="ctr"/>
          <a:lstStyle/>
          <a:p>
            <a:pPr marL="0" indent="0" algn="ctr">
              <a:buNone/>
            </a:pPr>
            <a:r>
              <a:rPr lang="en-US" sz="650" i="1" dirty="0">
                <a:solidFill>
                  <a:srgbClr val="FFFFFF"/>
                </a:solidFill>
                <a:latin typeface="Calibri" pitchFamily="34" charset="0"/>
                <a:ea typeface="Calibri" pitchFamily="34" charset="-122"/>
                <a:cs typeface="Calibri" pitchFamily="34" charset="-120"/>
              </a:rPr>
              <a:t>MLP-REG output</a:t>
            </a:r>
            <a:endParaRPr lang="en-US" sz="650" dirty="0"/>
          </a:p>
        </p:txBody>
      </p:sp>
      <p:sp>
        <p:nvSpPr>
          <p:cNvPr id="24" name="Shape 22"/>
          <p:cNvSpPr/>
          <p:nvPr/>
        </p:nvSpPr>
        <p:spPr>
          <a:xfrm>
            <a:off x="1645920" y="2624328"/>
            <a:ext cx="0" cy="64008"/>
          </a:xfrm>
          <a:prstGeom prst="line">
            <a:avLst/>
          </a:prstGeom>
          <a:noFill/>
          <a:ln w="12700">
            <a:solidFill>
              <a:srgbClr val="8896A5"/>
            </a:solidFill>
            <a:prstDash val="solid"/>
          </a:ln>
        </p:spPr>
      </p:sp>
      <p:sp>
        <p:nvSpPr>
          <p:cNvPr id="25" name="Shape 23"/>
          <p:cNvSpPr/>
          <p:nvPr/>
        </p:nvSpPr>
        <p:spPr>
          <a:xfrm>
            <a:off x="411480" y="2688336"/>
            <a:ext cx="2743200" cy="320040"/>
          </a:xfrm>
          <a:prstGeom prst="rect">
            <a:avLst/>
          </a:prstGeom>
          <a:solidFill>
            <a:srgbClr val="D1D5DB"/>
          </a:solidFill>
          <a:ln w="12700">
            <a:solidFill>
              <a:srgbClr val="D1D5DB"/>
            </a:solidFill>
            <a:prstDash val="solid"/>
          </a:ln>
        </p:spPr>
      </p:sp>
      <p:sp>
        <p:nvSpPr>
          <p:cNvPr id="26" name="Text 24"/>
          <p:cNvSpPr/>
          <p:nvPr/>
        </p:nvSpPr>
        <p:spPr>
          <a:xfrm>
            <a:off x="411480" y="2688336"/>
            <a:ext cx="2743200" cy="201168"/>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  OR  ─</a:t>
            </a:r>
            <a:endParaRPr lang="en-US" sz="750" dirty="0"/>
          </a:p>
        </p:txBody>
      </p:sp>
      <p:sp>
        <p:nvSpPr>
          <p:cNvPr id="27" name="Shape 25"/>
          <p:cNvSpPr/>
          <p:nvPr/>
        </p:nvSpPr>
        <p:spPr>
          <a:xfrm>
            <a:off x="411480" y="3072384"/>
            <a:ext cx="2743200" cy="320040"/>
          </a:xfrm>
          <a:prstGeom prst="rect">
            <a:avLst/>
          </a:prstGeom>
          <a:solidFill>
            <a:srgbClr val="9333EA"/>
          </a:solidFill>
          <a:ln w="12700">
            <a:solidFill>
              <a:srgbClr val="9333EA"/>
            </a:solidFill>
            <a:prstDash val="solid"/>
          </a:ln>
        </p:spPr>
      </p:sp>
      <p:sp>
        <p:nvSpPr>
          <p:cNvPr id="28" name="Text 26"/>
          <p:cNvSpPr/>
          <p:nvPr/>
        </p:nvSpPr>
        <p:spPr>
          <a:xfrm>
            <a:off x="411480" y="3072384"/>
            <a:ext cx="2743200" cy="201168"/>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Dense(128) + BN + ReLU + Dropout(0.2)</a:t>
            </a:r>
            <a:endParaRPr lang="en-US" sz="750" dirty="0"/>
          </a:p>
        </p:txBody>
      </p:sp>
      <p:sp>
        <p:nvSpPr>
          <p:cNvPr id="29" name="Text 27"/>
          <p:cNvSpPr/>
          <p:nvPr/>
        </p:nvSpPr>
        <p:spPr>
          <a:xfrm>
            <a:off x="411480" y="3255264"/>
            <a:ext cx="2743200" cy="137160"/>
          </a:xfrm>
          <a:prstGeom prst="rect">
            <a:avLst/>
          </a:prstGeom>
          <a:noFill/>
          <a:ln/>
        </p:spPr>
        <p:txBody>
          <a:bodyPr wrap="square" lIns="0" tIns="0" rIns="0" bIns="0" rtlCol="0" anchor="ctr"/>
          <a:lstStyle/>
          <a:p>
            <a:pPr marL="0" indent="0" algn="ctr">
              <a:buNone/>
            </a:pPr>
            <a:r>
              <a:rPr lang="en-US" sz="650" i="1" dirty="0">
                <a:solidFill>
                  <a:srgbClr val="FFFFFF"/>
                </a:solidFill>
                <a:latin typeface="Calibri" pitchFamily="34" charset="0"/>
                <a:ea typeface="Calibri" pitchFamily="34" charset="-122"/>
                <a:cs typeface="Calibri" pitchFamily="34" charset="-120"/>
              </a:rPr>
              <a:t>CL hidden 1  [smaller!]</a:t>
            </a:r>
            <a:endParaRPr lang="en-US" sz="650" dirty="0"/>
          </a:p>
        </p:txBody>
      </p:sp>
      <p:sp>
        <p:nvSpPr>
          <p:cNvPr id="30" name="Shape 28"/>
          <p:cNvSpPr/>
          <p:nvPr/>
        </p:nvSpPr>
        <p:spPr>
          <a:xfrm>
            <a:off x="1645920" y="3392424"/>
            <a:ext cx="0" cy="64008"/>
          </a:xfrm>
          <a:prstGeom prst="line">
            <a:avLst/>
          </a:prstGeom>
          <a:noFill/>
          <a:ln w="12700">
            <a:solidFill>
              <a:srgbClr val="8896A5"/>
            </a:solidFill>
            <a:prstDash val="solid"/>
          </a:ln>
        </p:spPr>
      </p:sp>
      <p:sp>
        <p:nvSpPr>
          <p:cNvPr id="31" name="Shape 29"/>
          <p:cNvSpPr/>
          <p:nvPr/>
        </p:nvSpPr>
        <p:spPr>
          <a:xfrm>
            <a:off x="411480" y="3456432"/>
            <a:ext cx="2743200" cy="320040"/>
          </a:xfrm>
          <a:prstGeom prst="rect">
            <a:avLst/>
          </a:prstGeom>
          <a:solidFill>
            <a:srgbClr val="9333EA"/>
          </a:solidFill>
          <a:ln w="12700">
            <a:solidFill>
              <a:srgbClr val="9333EA"/>
            </a:solidFill>
            <a:prstDash val="solid"/>
          </a:ln>
        </p:spPr>
      </p:sp>
      <p:sp>
        <p:nvSpPr>
          <p:cNvPr id="32" name="Text 30"/>
          <p:cNvSpPr/>
          <p:nvPr/>
        </p:nvSpPr>
        <p:spPr>
          <a:xfrm>
            <a:off x="411480" y="3456432"/>
            <a:ext cx="2743200" cy="201168"/>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Dense(64) + BN + ReLU + Dropout(0.2)</a:t>
            </a:r>
            <a:endParaRPr lang="en-US" sz="750" dirty="0"/>
          </a:p>
        </p:txBody>
      </p:sp>
      <p:sp>
        <p:nvSpPr>
          <p:cNvPr id="33" name="Text 31"/>
          <p:cNvSpPr/>
          <p:nvPr/>
        </p:nvSpPr>
        <p:spPr>
          <a:xfrm>
            <a:off x="411480" y="3639312"/>
            <a:ext cx="2743200" cy="137160"/>
          </a:xfrm>
          <a:prstGeom prst="rect">
            <a:avLst/>
          </a:prstGeom>
          <a:noFill/>
          <a:ln/>
        </p:spPr>
        <p:txBody>
          <a:bodyPr wrap="square" lIns="0" tIns="0" rIns="0" bIns="0" rtlCol="0" anchor="ctr"/>
          <a:lstStyle/>
          <a:p>
            <a:pPr marL="0" indent="0" algn="ctr">
              <a:buNone/>
            </a:pPr>
            <a:r>
              <a:rPr lang="en-US" sz="650" i="1" dirty="0">
                <a:solidFill>
                  <a:srgbClr val="FFFFFF"/>
                </a:solidFill>
                <a:latin typeface="Calibri" pitchFamily="34" charset="0"/>
                <a:ea typeface="Calibri" pitchFamily="34" charset="-122"/>
                <a:cs typeface="Calibri" pitchFamily="34" charset="-120"/>
              </a:rPr>
              <a:t>CL hidden 2</a:t>
            </a:r>
            <a:endParaRPr lang="en-US" sz="650" dirty="0"/>
          </a:p>
        </p:txBody>
      </p:sp>
      <p:sp>
        <p:nvSpPr>
          <p:cNvPr id="34" name="Shape 32"/>
          <p:cNvSpPr/>
          <p:nvPr/>
        </p:nvSpPr>
        <p:spPr>
          <a:xfrm>
            <a:off x="1645920" y="3776472"/>
            <a:ext cx="0" cy="64008"/>
          </a:xfrm>
          <a:prstGeom prst="line">
            <a:avLst/>
          </a:prstGeom>
          <a:noFill/>
          <a:ln w="12700">
            <a:solidFill>
              <a:srgbClr val="8896A5"/>
            </a:solidFill>
            <a:prstDash val="solid"/>
          </a:ln>
        </p:spPr>
      </p:sp>
      <p:sp>
        <p:nvSpPr>
          <p:cNvPr id="35" name="Shape 33"/>
          <p:cNvSpPr/>
          <p:nvPr/>
        </p:nvSpPr>
        <p:spPr>
          <a:xfrm>
            <a:off x="411480" y="3840480"/>
            <a:ext cx="2743200" cy="320040"/>
          </a:xfrm>
          <a:prstGeom prst="rect">
            <a:avLst/>
          </a:prstGeom>
          <a:solidFill>
            <a:srgbClr val="F0A500"/>
          </a:solidFill>
          <a:ln w="12700">
            <a:solidFill>
              <a:srgbClr val="F0A500"/>
            </a:solidFill>
            <a:prstDash val="solid"/>
          </a:ln>
        </p:spPr>
      </p:sp>
      <p:sp>
        <p:nvSpPr>
          <p:cNvPr id="36" name="Text 34"/>
          <p:cNvSpPr/>
          <p:nvPr/>
        </p:nvSpPr>
        <p:spPr>
          <a:xfrm>
            <a:off x="411480" y="3840480"/>
            <a:ext cx="2743200" cy="201168"/>
          </a:xfrm>
          <a:prstGeom prst="rect">
            <a:avLst/>
          </a:prstGeom>
          <a:noFill/>
          <a:ln/>
        </p:spPr>
        <p:txBody>
          <a:bodyPr wrap="square" lIns="0" tIns="0" rIns="0" bIns="0"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Dense(104, Softmax)</a:t>
            </a:r>
            <a:endParaRPr lang="en-US" sz="750" dirty="0"/>
          </a:p>
        </p:txBody>
      </p:sp>
      <p:sp>
        <p:nvSpPr>
          <p:cNvPr id="37" name="Text 35"/>
          <p:cNvSpPr/>
          <p:nvPr/>
        </p:nvSpPr>
        <p:spPr>
          <a:xfrm>
            <a:off x="411480" y="4023360"/>
            <a:ext cx="2743200" cy="137160"/>
          </a:xfrm>
          <a:prstGeom prst="rect">
            <a:avLst/>
          </a:prstGeom>
          <a:noFill/>
          <a:ln/>
        </p:spPr>
        <p:txBody>
          <a:bodyPr wrap="square" lIns="0" tIns="0" rIns="0" bIns="0" rtlCol="0" anchor="ctr"/>
          <a:lstStyle/>
          <a:p>
            <a:pPr marL="0" indent="0" algn="ctr">
              <a:buNone/>
            </a:pPr>
            <a:r>
              <a:rPr lang="en-US" sz="650" i="1" dirty="0">
                <a:solidFill>
                  <a:srgbClr val="FFFFFF"/>
                </a:solidFill>
                <a:latin typeface="Calibri" pitchFamily="34" charset="0"/>
                <a:ea typeface="Calibri" pitchFamily="34" charset="-122"/>
                <a:cs typeface="Calibri" pitchFamily="34" charset="-120"/>
              </a:rPr>
              <a:t>MLP-CL output</a:t>
            </a:r>
            <a:endParaRPr lang="en-US" sz="650" dirty="0"/>
          </a:p>
        </p:txBody>
      </p:sp>
      <p:sp>
        <p:nvSpPr>
          <p:cNvPr id="38" name="Shape 36"/>
          <p:cNvSpPr/>
          <p:nvPr/>
        </p:nvSpPr>
        <p:spPr>
          <a:xfrm>
            <a:off x="3474720" y="822960"/>
            <a:ext cx="2651760" cy="128016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39" name="Shape 37"/>
          <p:cNvSpPr/>
          <p:nvPr/>
        </p:nvSpPr>
        <p:spPr>
          <a:xfrm>
            <a:off x="3474720" y="822960"/>
            <a:ext cx="2651760" cy="256032"/>
          </a:xfrm>
          <a:prstGeom prst="rect">
            <a:avLst/>
          </a:prstGeom>
          <a:solidFill>
            <a:srgbClr val="7C3AED"/>
          </a:solidFill>
          <a:ln w="12700">
            <a:solidFill>
              <a:srgbClr val="7C3AED"/>
            </a:solidFill>
            <a:prstDash val="solid"/>
          </a:ln>
        </p:spPr>
      </p:sp>
      <p:sp>
        <p:nvSpPr>
          <p:cNvPr id="40" name="Text 38"/>
          <p:cNvSpPr/>
          <p:nvPr/>
        </p:nvSpPr>
        <p:spPr>
          <a:xfrm>
            <a:off x="3547872" y="822960"/>
            <a:ext cx="2487168" cy="25603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Forward Pass &amp; Loss</a:t>
            </a:r>
            <a:endParaRPr lang="en-US" sz="850" dirty="0"/>
          </a:p>
        </p:txBody>
      </p:sp>
      <p:sp>
        <p:nvSpPr>
          <p:cNvPr id="41" name="Text 39"/>
          <p:cNvSpPr/>
          <p:nvPr/>
        </p:nvSpPr>
        <p:spPr>
          <a:xfrm>
            <a:off x="3547872" y="1115568"/>
            <a:ext cx="2487168" cy="932688"/>
          </a:xfrm>
          <a:prstGeom prst="rect">
            <a:avLst/>
          </a:prstGeom>
          <a:noFill/>
          <a:ln/>
        </p:spPr>
        <p:txBody>
          <a:bodyPr wrap="square" lIns="0" tIns="0" rIns="0" bIns="0" rtlCol="0" anchor="t"/>
          <a:lstStyle/>
          <a:p>
            <a:pPr marL="0" indent="0">
              <a:buNone/>
            </a:pPr>
            <a:r>
              <a:rPr lang="en-US" sz="780" dirty="0">
                <a:solidFill>
                  <a:srgbClr val="3D5166"/>
                </a:solidFill>
                <a:latin typeface="Calibri" pitchFamily="34" charset="0"/>
                <a:ea typeface="Calibri" pitchFamily="34" charset="-122"/>
                <a:cs typeface="Calibri" pitchFamily="34" charset="-120"/>
              </a:rPr>
              <a:t>h⁽ᵏ⁾(x) = σ⁽ᵏ⁾(b⁽ᵏ⁾ + W⁽ᵏ⁾h⁽ᵏ⁻¹⁾(x))</a:t>
            </a:r>
            <a:endParaRPr lang="en-US" sz="780" dirty="0"/>
          </a:p>
          <a:p>
            <a:pPr marL="0" indent="0">
              <a:buNone/>
            </a:pPr>
            <a:endParaRPr lang="en-US" sz="780" dirty="0"/>
          </a:p>
          <a:p>
            <a:pPr marL="0" indent="0">
              <a:buNone/>
            </a:pPr>
            <a:r>
              <a:rPr lang="en-US" sz="780" dirty="0">
                <a:solidFill>
                  <a:srgbClr val="3D5166"/>
                </a:solidFill>
                <a:latin typeface="Calibri" pitchFamily="34" charset="0"/>
                <a:ea typeface="Calibri" pitchFamily="34" charset="-122"/>
                <a:cs typeface="Calibri" pitchFamily="34" charset="-120"/>
              </a:rPr>
              <a:t>REG Loss: MSE = (1/n)Σ(yᵢ − ŷᵢ)²</a:t>
            </a:r>
            <a:endParaRPr lang="en-US" sz="780" dirty="0"/>
          </a:p>
          <a:p>
            <a:pPr marL="0" indent="0">
              <a:buNone/>
            </a:pPr>
            <a:r>
              <a:rPr lang="en-US" sz="780" dirty="0">
                <a:solidFill>
                  <a:srgbClr val="3D5166"/>
                </a:solidFill>
                <a:latin typeface="Calibri" pitchFamily="34" charset="0"/>
                <a:ea typeface="Calibri" pitchFamily="34" charset="-122"/>
                <a:cs typeface="Calibri" pitchFamily="34" charset="-120"/>
              </a:rPr>
              <a:t>(Train MSE, evaluate MAE)</a:t>
            </a:r>
            <a:endParaRPr lang="en-US" sz="780" dirty="0"/>
          </a:p>
          <a:p>
            <a:pPr marL="0" indent="0">
              <a:buNone/>
            </a:pPr>
            <a:endParaRPr lang="en-US" sz="780" dirty="0"/>
          </a:p>
          <a:p>
            <a:pPr marL="0" indent="0">
              <a:buNone/>
            </a:pPr>
            <a:r>
              <a:rPr lang="en-US" sz="780" dirty="0">
                <a:solidFill>
                  <a:srgbClr val="3D5166"/>
                </a:solidFill>
                <a:latin typeface="Calibri" pitchFamily="34" charset="0"/>
                <a:ea typeface="Calibri" pitchFamily="34" charset="-122"/>
                <a:cs typeface="Calibri" pitchFamily="34" charset="-120"/>
              </a:rPr>
              <a:t>CL Loss: Cross-Entropy = −Σ yₖ log(pₖ)</a:t>
            </a:r>
            <a:endParaRPr lang="en-US" sz="780" dirty="0"/>
          </a:p>
          <a:p>
            <a:pPr marL="0" indent="0">
              <a:buNone/>
            </a:pPr>
            <a:r>
              <a:rPr lang="en-US" sz="780" dirty="0">
                <a:solidFill>
                  <a:srgbClr val="3D5166"/>
                </a:solidFill>
                <a:latin typeface="Calibri" pitchFamily="34" charset="0"/>
                <a:ea typeface="Calibri" pitchFamily="34" charset="-122"/>
                <a:cs typeface="Calibri" pitchFamily="34" charset="-120"/>
              </a:rPr>
              <a:t>Gradient of CE+softmax: pₖ − yₖ</a:t>
            </a:r>
            <a:endParaRPr lang="en-US" sz="780" dirty="0"/>
          </a:p>
        </p:txBody>
      </p:sp>
      <p:sp>
        <p:nvSpPr>
          <p:cNvPr id="42" name="Shape 40"/>
          <p:cNvSpPr/>
          <p:nvPr/>
        </p:nvSpPr>
        <p:spPr>
          <a:xfrm>
            <a:off x="3474720" y="2194560"/>
            <a:ext cx="2651760" cy="128016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43" name="Shape 41"/>
          <p:cNvSpPr/>
          <p:nvPr/>
        </p:nvSpPr>
        <p:spPr>
          <a:xfrm>
            <a:off x="3474720" y="2194560"/>
            <a:ext cx="2651760" cy="256032"/>
          </a:xfrm>
          <a:prstGeom prst="rect">
            <a:avLst/>
          </a:prstGeom>
          <a:solidFill>
            <a:srgbClr val="1A2B4A"/>
          </a:solidFill>
          <a:ln w="12700">
            <a:solidFill>
              <a:srgbClr val="1A2B4A"/>
            </a:solidFill>
            <a:prstDash val="solid"/>
          </a:ln>
        </p:spPr>
      </p:sp>
      <p:sp>
        <p:nvSpPr>
          <p:cNvPr id="44" name="Text 42"/>
          <p:cNvSpPr/>
          <p:nvPr/>
        </p:nvSpPr>
        <p:spPr>
          <a:xfrm>
            <a:off x="3547872" y="2194560"/>
            <a:ext cx="2487168" cy="25603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ADAM Optimizer</a:t>
            </a:r>
            <a:endParaRPr lang="en-US" sz="850" dirty="0"/>
          </a:p>
        </p:txBody>
      </p:sp>
      <p:sp>
        <p:nvSpPr>
          <p:cNvPr id="45" name="Text 43"/>
          <p:cNvSpPr/>
          <p:nvPr/>
        </p:nvSpPr>
        <p:spPr>
          <a:xfrm>
            <a:off x="3547872" y="2487168"/>
            <a:ext cx="2487168" cy="932688"/>
          </a:xfrm>
          <a:prstGeom prst="rect">
            <a:avLst/>
          </a:prstGeom>
          <a:noFill/>
          <a:ln/>
        </p:spPr>
        <p:txBody>
          <a:bodyPr wrap="square" lIns="0" tIns="0" rIns="0" bIns="0" rtlCol="0" anchor="t"/>
          <a:lstStyle/>
          <a:p>
            <a:pPr marL="0" indent="0">
              <a:buNone/>
            </a:pPr>
            <a:r>
              <a:rPr lang="en-US" sz="780" dirty="0">
                <a:solidFill>
                  <a:srgbClr val="3D5166"/>
                </a:solidFill>
                <a:latin typeface="Calibri" pitchFamily="34" charset="0"/>
                <a:ea typeface="Calibri" pitchFamily="34" charset="-122"/>
                <a:cs typeface="Calibri" pitchFamily="34" charset="-120"/>
              </a:rPr>
              <a:t>mₜ = β₁mₜ₋₁ + (1−β₁)∇L  [momentum β₁=0.9]</a:t>
            </a:r>
            <a:endParaRPr lang="en-US" sz="780" dirty="0"/>
          </a:p>
          <a:p>
            <a:pPr marL="0" indent="0">
              <a:buNone/>
            </a:pPr>
            <a:r>
              <a:rPr lang="en-US" sz="780" dirty="0">
                <a:solidFill>
                  <a:srgbClr val="3D5166"/>
                </a:solidFill>
                <a:latin typeface="Calibri" pitchFamily="34" charset="0"/>
                <a:ea typeface="Calibri" pitchFamily="34" charset="-122"/>
                <a:cs typeface="Calibri" pitchFamily="34" charset="-120"/>
              </a:rPr>
              <a:t>vₜ = β₂vₜ₋₁ + (1−β₂)(∇L)² [variance β₂=0.999]</a:t>
            </a:r>
            <a:endParaRPr lang="en-US" sz="780" dirty="0"/>
          </a:p>
          <a:p>
            <a:pPr marL="0" indent="0">
              <a:buNone/>
            </a:pPr>
            <a:r>
              <a:rPr lang="en-US" sz="780" dirty="0">
                <a:solidFill>
                  <a:srgbClr val="3D5166"/>
                </a:solidFill>
                <a:latin typeface="Calibri" pitchFamily="34" charset="0"/>
                <a:ea typeface="Calibri" pitchFamily="34" charset="-122"/>
                <a:cs typeface="Calibri" pitchFamily="34" charset="-120"/>
              </a:rPr>
              <a:t>θ ← θ − α·m̂ₜ/(√v̂ₜ+ε)  [α=0.001]</a:t>
            </a:r>
            <a:endParaRPr lang="en-US" sz="780" dirty="0"/>
          </a:p>
          <a:p>
            <a:pPr marL="0" indent="0">
              <a:buNone/>
            </a:pPr>
            <a:endParaRPr lang="en-US" sz="780" dirty="0"/>
          </a:p>
          <a:p>
            <a:pPr marL="0" indent="0">
              <a:buNone/>
            </a:pPr>
            <a:r>
              <a:rPr lang="en-US" sz="780" dirty="0">
                <a:solidFill>
                  <a:srgbClr val="3D5166"/>
                </a:solidFill>
                <a:latin typeface="Calibri" pitchFamily="34" charset="0"/>
                <a:ea typeface="Calibri" pitchFamily="34" charset="-122"/>
                <a:cs typeface="Calibri" pitchFamily="34" charset="-120"/>
              </a:rPr>
              <a:t>Why ADAM: SD features active only 16% of time.</a:t>
            </a:r>
            <a:endParaRPr lang="en-US" sz="780" dirty="0"/>
          </a:p>
          <a:p>
            <a:pPr marL="0" indent="0">
              <a:buNone/>
            </a:pPr>
            <a:r>
              <a:rPr lang="en-US" sz="780" dirty="0">
                <a:solidFill>
                  <a:srgbClr val="3D5166"/>
                </a:solidFill>
                <a:latin typeface="Calibri" pitchFamily="34" charset="0"/>
                <a:ea typeface="Calibri" pitchFamily="34" charset="-122"/>
                <a:cs typeface="Calibri" pitchFamily="34" charset="-120"/>
              </a:rPr>
              <a:t>ADAM gives sparse features larger effective LR via</a:t>
            </a:r>
            <a:endParaRPr lang="en-US" sz="780" dirty="0"/>
          </a:p>
          <a:p>
            <a:pPr marL="0" indent="0">
              <a:buNone/>
            </a:pPr>
            <a:r>
              <a:rPr lang="en-US" sz="780" dirty="0">
                <a:solidFill>
                  <a:srgbClr val="3D5166"/>
                </a:solidFill>
                <a:latin typeface="Calibri" pitchFamily="34" charset="0"/>
                <a:ea typeface="Calibri" pitchFamily="34" charset="-122"/>
                <a:cs typeface="Calibri" pitchFamily="34" charset="-120"/>
              </a:rPr>
              <a:t>small vₜ → large α/√vₜ</a:t>
            </a:r>
            <a:endParaRPr lang="en-US" sz="780" dirty="0"/>
          </a:p>
        </p:txBody>
      </p:sp>
      <p:sp>
        <p:nvSpPr>
          <p:cNvPr id="46" name="Shape 44"/>
          <p:cNvSpPr/>
          <p:nvPr/>
        </p:nvSpPr>
        <p:spPr>
          <a:xfrm>
            <a:off x="3474720" y="3566160"/>
            <a:ext cx="2651760" cy="128016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47" name="Shape 45"/>
          <p:cNvSpPr/>
          <p:nvPr/>
        </p:nvSpPr>
        <p:spPr>
          <a:xfrm>
            <a:off x="3474720" y="3566160"/>
            <a:ext cx="2651760" cy="256032"/>
          </a:xfrm>
          <a:prstGeom prst="rect">
            <a:avLst/>
          </a:prstGeom>
          <a:solidFill>
            <a:srgbClr val="C0392B"/>
          </a:solidFill>
          <a:ln w="12700">
            <a:solidFill>
              <a:srgbClr val="C0392B"/>
            </a:solidFill>
            <a:prstDash val="solid"/>
          </a:ln>
        </p:spPr>
      </p:sp>
      <p:sp>
        <p:nvSpPr>
          <p:cNvPr id="48" name="Text 46"/>
          <p:cNvSpPr/>
          <p:nvPr/>
        </p:nvSpPr>
        <p:spPr>
          <a:xfrm>
            <a:off x="3547872" y="3566160"/>
            <a:ext cx="2487168" cy="25603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CL(median) vs CL(max) — Core Finding</a:t>
            </a:r>
            <a:endParaRPr lang="en-US" sz="850" dirty="0"/>
          </a:p>
        </p:txBody>
      </p:sp>
      <p:sp>
        <p:nvSpPr>
          <p:cNvPr id="49" name="Text 47"/>
          <p:cNvSpPr/>
          <p:nvPr/>
        </p:nvSpPr>
        <p:spPr>
          <a:xfrm>
            <a:off x="3547872" y="3858768"/>
            <a:ext cx="2487168" cy="932688"/>
          </a:xfrm>
          <a:prstGeom prst="rect">
            <a:avLst/>
          </a:prstGeom>
          <a:noFill/>
          <a:ln/>
        </p:spPr>
        <p:txBody>
          <a:bodyPr wrap="square" lIns="0" tIns="0" rIns="0" bIns="0" rtlCol="0" anchor="t"/>
          <a:lstStyle/>
          <a:p>
            <a:pPr marL="0" indent="0">
              <a:buNone/>
            </a:pPr>
            <a:r>
              <a:rPr lang="en-US" sz="780" dirty="0">
                <a:solidFill>
                  <a:srgbClr val="3D5166"/>
                </a:solidFill>
                <a:latin typeface="Calibri" pitchFamily="34" charset="0"/>
                <a:ea typeface="Calibri" pitchFamily="34" charset="-122"/>
                <a:cs typeface="Calibri" pitchFamily="34" charset="-120"/>
              </a:rPr>
              <a:t>CL(max): ŷ = bin_midpoint[argmax pₖ]  ← MODE</a:t>
            </a:r>
            <a:endParaRPr lang="en-US" sz="780" dirty="0"/>
          </a:p>
          <a:p>
            <a:pPr marL="0" indent="0">
              <a:buNone/>
            </a:pPr>
            <a:r>
              <a:rPr lang="en-US" sz="780" dirty="0">
                <a:solidFill>
                  <a:srgbClr val="3D5166"/>
                </a:solidFill>
                <a:latin typeface="Calibri" pitchFamily="34" charset="0"/>
                <a:ea typeface="Calibri" pitchFamily="34" charset="-122"/>
                <a:cs typeface="Calibri" pitchFamily="34" charset="-120"/>
              </a:rPr>
              <a:t>CL(median): ŷ = bin at cumsum ≥ 0.5   ← MEDIAN</a:t>
            </a:r>
            <a:endParaRPr lang="en-US" sz="780" dirty="0"/>
          </a:p>
          <a:p>
            <a:pPr marL="0" indent="0">
              <a:buNone/>
            </a:pPr>
            <a:endParaRPr lang="en-US" sz="780" dirty="0"/>
          </a:p>
          <a:p>
            <a:pPr marL="0" indent="0">
              <a:buNone/>
            </a:pPr>
            <a:r>
              <a:rPr lang="en-US" sz="780" dirty="0">
                <a:solidFill>
                  <a:srgbClr val="3D5166"/>
                </a:solidFill>
                <a:latin typeface="Calibri" pitchFamily="34" charset="0"/>
                <a:ea typeface="Calibri" pitchFamily="34" charset="-122"/>
                <a:cs typeface="Calibri" pitchFamily="34" charset="-120"/>
              </a:rPr>
              <a:t>Proof: d/dc E[|Y−c|] = 2F(c)−1 = 0 → F(c*)=0.5</a:t>
            </a:r>
            <a:endParaRPr lang="en-US" sz="780" dirty="0"/>
          </a:p>
          <a:p>
            <a:pPr marL="0" indent="0">
              <a:buNone/>
            </a:pPr>
            <a:r>
              <a:rPr lang="en-US" sz="780" dirty="0">
                <a:solidFill>
                  <a:srgbClr val="3D5166"/>
                </a:solidFill>
                <a:latin typeface="Calibri" pitchFamily="34" charset="0"/>
                <a:ea typeface="Calibri" pitchFamily="34" charset="-122"/>
                <a:cs typeface="Calibri" pitchFamily="34" charset="-120"/>
              </a:rPr>
              <a:t>∴ MAE minimised by median, not mode!</a:t>
            </a:r>
            <a:endParaRPr lang="en-US" sz="780" dirty="0"/>
          </a:p>
          <a:p>
            <a:pPr marL="0" indent="0">
              <a:buNone/>
            </a:pPr>
            <a:endParaRPr lang="en-US" sz="780" dirty="0"/>
          </a:p>
          <a:p>
            <a:pPr marL="0" indent="0">
              <a:buNone/>
            </a:pPr>
            <a:r>
              <a:rPr lang="en-US" sz="780" dirty="0">
                <a:solidFill>
                  <a:srgbClr val="3D5166"/>
                </a:solidFill>
                <a:latin typeface="Calibri" pitchFamily="34" charset="0"/>
                <a:ea typeface="Calibri" pitchFamily="34" charset="-122"/>
                <a:cs typeface="Calibri" pitchFamily="34" charset="-120"/>
              </a:rPr>
              <a:t>MLP-CL(median) MASE 0.333 vs CL(max) 0.374 → 11% gain</a:t>
            </a:r>
            <a:endParaRPr lang="en-US" sz="780" dirty="0"/>
          </a:p>
        </p:txBody>
      </p:sp>
      <p:sp>
        <p:nvSpPr>
          <p:cNvPr id="50" name="Shape 48"/>
          <p:cNvSpPr/>
          <p:nvPr/>
        </p:nvSpPr>
        <p:spPr>
          <a:xfrm>
            <a:off x="6355080" y="822960"/>
            <a:ext cx="2514600" cy="274320"/>
          </a:xfrm>
          <a:prstGeom prst="rect">
            <a:avLst/>
          </a:prstGeom>
          <a:solidFill>
            <a:srgbClr val="7C3AED"/>
          </a:solidFill>
          <a:ln w="12700">
            <a:solidFill>
              <a:srgbClr val="7C3AED"/>
            </a:solidFill>
            <a:prstDash val="solid"/>
          </a:ln>
        </p:spPr>
      </p:sp>
      <p:sp>
        <p:nvSpPr>
          <p:cNvPr id="51" name="Text 49"/>
          <p:cNvSpPr/>
          <p:nvPr/>
        </p:nvSpPr>
        <p:spPr>
          <a:xfrm>
            <a:off x="6355080" y="822960"/>
            <a:ext cx="25146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Results</a:t>
            </a:r>
            <a:endParaRPr lang="en-US" sz="1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6355080" y="1124712"/>
          <a:ext cx="2514600" cy="1104900"/>
        </p:xfrm>
        <a:graphic>
          <a:graphicData uri="http://schemas.openxmlformats.org/drawingml/2006/table">
            <a:tbl>
              <a:tblPr/>
              <a:tblGrid>
                <a:gridCol w="128016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tblGrid>
              <a:tr h="201168">
                <a:tc>
                  <a:txBody>
                    <a:bodyPr/>
                    <a:lstStyle/>
                    <a:p>
                      <a:pPr marL="0" indent="0">
                        <a:buNone/>
                      </a:pPr>
                      <a:r>
                        <a:rPr lang="en-US" sz="850" b="1" dirty="0">
                          <a:solidFill>
                            <a:srgbClr val="3D5166"/>
                          </a:solidFill>
                          <a:latin typeface="Calibri" pitchFamily="34" charset="0"/>
                          <a:ea typeface="Calibri" pitchFamily="34" charset="-122"/>
                          <a:cs typeface="Calibri" pitchFamily="34" charset="-120"/>
                        </a:rPr>
                        <a:t>Variant</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buNone/>
                      </a:pPr>
                      <a:r>
                        <a:rPr lang="en-US" sz="850" b="1" dirty="0">
                          <a:solidFill>
                            <a:srgbClr val="3D5166"/>
                          </a:solidFill>
                          <a:latin typeface="Calibri" pitchFamily="34" charset="0"/>
                          <a:ea typeface="Calibri" pitchFamily="34" charset="-122"/>
                          <a:cs typeface="Calibri" pitchFamily="34" charset="-120"/>
                        </a:rPr>
                        <a:t>MAE</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buNone/>
                      </a:pPr>
                      <a:r>
                        <a:rPr lang="en-US" sz="850" b="1" dirty="0">
                          <a:solidFill>
                            <a:srgbClr val="3D5166"/>
                          </a:solidFill>
                          <a:latin typeface="Calibri" pitchFamily="34" charset="0"/>
                          <a:ea typeface="Calibri" pitchFamily="34" charset="-122"/>
                          <a:cs typeface="Calibri" pitchFamily="34" charset="-120"/>
                        </a:rPr>
                        <a:t>MASE</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extLst>
                  <a:ext uri="{0D108BD9-81ED-4DB2-BD59-A6C34878D82A}">
                    <a16:rowId xmlns:a16="http://schemas.microsoft.com/office/drawing/2014/main" val="10000"/>
                  </a:ext>
                </a:extLst>
              </a:tr>
              <a:tr h="201168">
                <a:tc>
                  <a:txBody>
                    <a:bodyPr/>
                    <a:lstStyle/>
                    <a:p>
                      <a:pPr marL="0" indent="0">
                        <a:buNone/>
                      </a:pPr>
                      <a:r>
                        <a:rPr lang="en-US" sz="850" dirty="0">
                          <a:solidFill>
                            <a:srgbClr val="3D5166"/>
                          </a:solidFill>
                          <a:latin typeface="Calibri" pitchFamily="34" charset="0"/>
                          <a:ea typeface="Calibri" pitchFamily="34" charset="-122"/>
                          <a:cs typeface="Calibri" pitchFamily="34" charset="-120"/>
                        </a:rPr>
                        <a:t>S-Median (baseline)</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850" dirty="0">
                          <a:solidFill>
                            <a:srgbClr val="3D5166"/>
                          </a:solidFill>
                          <a:latin typeface="Calibri" pitchFamily="34" charset="0"/>
                          <a:ea typeface="Calibri" pitchFamily="34" charset="-122"/>
                          <a:cs typeface="Calibri" pitchFamily="34" charset="-120"/>
                        </a:rPr>
                        <a:t>1,249</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850" dirty="0">
                          <a:solidFill>
                            <a:srgbClr val="3D5166"/>
                          </a:solidFill>
                          <a:latin typeface="Calibri" pitchFamily="34" charset="0"/>
                          <a:ea typeface="Calibri" pitchFamily="34" charset="-122"/>
                          <a:cs typeface="Calibri" pitchFamily="34" charset="-120"/>
                        </a:rPr>
                        <a:t>0.565</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1"/>
                  </a:ext>
                </a:extLst>
              </a:tr>
              <a:tr h="201168">
                <a:tc>
                  <a:txBody>
                    <a:bodyPr/>
                    <a:lstStyle/>
                    <a:p>
                      <a:pPr marL="0" indent="0">
                        <a:buNone/>
                      </a:pPr>
                      <a:r>
                        <a:rPr lang="en-US" sz="850" dirty="0">
                          <a:solidFill>
                            <a:srgbClr val="3D5166"/>
                          </a:solidFill>
                          <a:latin typeface="Calibri" pitchFamily="34" charset="0"/>
                          <a:ea typeface="Calibri" pitchFamily="34" charset="-122"/>
                          <a:cs typeface="Calibri" pitchFamily="34" charset="-120"/>
                        </a:rPr>
                        <a:t>MLP-REG</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850" dirty="0">
                          <a:solidFill>
                            <a:srgbClr val="3D5166"/>
                          </a:solidFill>
                          <a:latin typeface="Calibri" pitchFamily="34" charset="0"/>
                          <a:ea typeface="Calibri" pitchFamily="34" charset="-122"/>
                          <a:cs typeface="Calibri" pitchFamily="34" charset="-120"/>
                        </a:rPr>
                        <a:t>718</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850" dirty="0">
                          <a:solidFill>
                            <a:srgbClr val="3D5166"/>
                          </a:solidFill>
                          <a:latin typeface="Calibri" pitchFamily="34" charset="0"/>
                          <a:ea typeface="Calibri" pitchFamily="34" charset="-122"/>
                          <a:cs typeface="Calibri" pitchFamily="34" charset="-120"/>
                        </a:rPr>
                        <a:t>0.323</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2"/>
                  </a:ext>
                </a:extLst>
              </a:tr>
              <a:tr h="201168">
                <a:tc>
                  <a:txBody>
                    <a:bodyPr/>
                    <a:lstStyle/>
                    <a:p>
                      <a:pPr marL="0" indent="0">
                        <a:buNone/>
                      </a:pPr>
                      <a:r>
                        <a:rPr lang="en-US" sz="850" dirty="0">
                          <a:solidFill>
                            <a:srgbClr val="7C3AED"/>
                          </a:solidFill>
                          <a:latin typeface="Calibri" pitchFamily="34" charset="0"/>
                          <a:ea typeface="Calibri" pitchFamily="34" charset="-122"/>
                          <a:cs typeface="Calibri" pitchFamily="34" charset="-120"/>
                        </a:rPr>
                        <a:t>MLP-CL(max)</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850" dirty="0">
                          <a:solidFill>
                            <a:srgbClr val="3D5166"/>
                          </a:solidFill>
                          <a:latin typeface="Calibri" pitchFamily="34" charset="0"/>
                          <a:ea typeface="Calibri" pitchFamily="34" charset="-122"/>
                          <a:cs typeface="Calibri" pitchFamily="34" charset="-120"/>
                        </a:rPr>
                        <a:t>815</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buNone/>
                      </a:pPr>
                      <a:r>
                        <a:rPr lang="en-US" sz="850" dirty="0">
                          <a:solidFill>
                            <a:srgbClr val="3D5166"/>
                          </a:solidFill>
                          <a:latin typeface="Calibri" pitchFamily="34" charset="0"/>
                          <a:ea typeface="Calibri" pitchFamily="34" charset="-122"/>
                          <a:cs typeface="Calibri" pitchFamily="34" charset="-120"/>
                        </a:rPr>
                        <a:t>0.367</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3"/>
                  </a:ext>
                </a:extLst>
              </a:tr>
              <a:tr h="201168">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MLP-CL(median) ★</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7C3AED"/>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738</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7C3AED"/>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0.332</a:t>
                      </a:r>
                      <a:endParaRPr lang="en-US" sz="85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7C3AED"/>
                    </a:solidFill>
                  </a:tcPr>
                </a:tc>
                <a:extLst>
                  <a:ext uri="{0D108BD9-81ED-4DB2-BD59-A6C34878D82A}">
                    <a16:rowId xmlns:a16="http://schemas.microsoft.com/office/drawing/2014/main" val="10004"/>
                  </a:ext>
                </a:extLst>
              </a:tr>
            </a:tbl>
          </a:graphicData>
        </a:graphic>
      </p:graphicFrame>
      <p:sp>
        <p:nvSpPr>
          <p:cNvPr id="53" name="Shape 50"/>
          <p:cNvSpPr/>
          <p:nvPr/>
        </p:nvSpPr>
        <p:spPr>
          <a:xfrm>
            <a:off x="6355080" y="2331720"/>
            <a:ext cx="2514600" cy="438912"/>
          </a:xfrm>
          <a:prstGeom prst="rect">
            <a:avLst/>
          </a:prstGeom>
          <a:solidFill>
            <a:srgbClr val="F4F6F9"/>
          </a:solidFill>
          <a:ln w="12700">
            <a:solidFill>
              <a:srgbClr val="E8ECF1"/>
            </a:solidFill>
            <a:prstDash val="solid"/>
          </a:ln>
        </p:spPr>
      </p:sp>
      <p:sp>
        <p:nvSpPr>
          <p:cNvPr id="54" name="Text 51"/>
          <p:cNvSpPr/>
          <p:nvPr/>
        </p:nvSpPr>
        <p:spPr>
          <a:xfrm>
            <a:off x="6400800" y="2368296"/>
            <a:ext cx="2423160" cy="365760"/>
          </a:xfrm>
          <a:prstGeom prst="rect">
            <a:avLst/>
          </a:prstGeom>
          <a:noFill/>
          <a:ln/>
        </p:spPr>
        <p:txBody>
          <a:bodyPr wrap="square" lIns="0" tIns="0" rIns="0" bIns="0" rtlCol="0" anchor="ctr"/>
          <a:lstStyle/>
          <a:p>
            <a:pPr marL="0" indent="0">
              <a:buNone/>
            </a:pPr>
            <a:r>
              <a:rPr lang="en-US" sz="750" dirty="0">
                <a:solidFill>
                  <a:srgbClr val="3D5166"/>
                </a:solidFill>
                <a:latin typeface="Calibri" pitchFamily="34" charset="0"/>
                <a:ea typeface="Calibri" pitchFamily="34" charset="-122"/>
                <a:cs typeface="Calibri" pitchFamily="34" charset="-120"/>
              </a:rPr>
              <a:t>Ensemble of 10 models (paper uses 50)</a:t>
            </a:r>
            <a:endParaRPr lang="en-US" sz="750" dirty="0"/>
          </a:p>
          <a:p>
            <a:pPr marL="0" indent="0">
              <a:buNone/>
            </a:pPr>
            <a:r>
              <a:rPr lang="en-US" sz="750" dirty="0">
                <a:solidFill>
                  <a:srgbClr val="3D5166"/>
                </a:solidFill>
                <a:latin typeface="Calibri" pitchFamily="34" charset="0"/>
                <a:ea typeface="Calibri" pitchFamily="34" charset="-122"/>
                <a:cs typeface="Calibri" pitchFamily="34" charset="-120"/>
              </a:rPr>
              <a:t>Different random seeds → median of predictions</a:t>
            </a:r>
            <a:endParaRPr lang="en-US" sz="750" dirty="0"/>
          </a:p>
        </p:txBody>
      </p:sp>
      <p:sp>
        <p:nvSpPr>
          <p:cNvPr id="55" name="Shape 52"/>
          <p:cNvSpPr/>
          <p:nvPr/>
        </p:nvSpPr>
        <p:spPr>
          <a:xfrm>
            <a:off x="6355080" y="2834640"/>
            <a:ext cx="2514600" cy="438912"/>
          </a:xfrm>
          <a:prstGeom prst="rect">
            <a:avLst/>
          </a:prstGeom>
          <a:solidFill>
            <a:srgbClr val="FFFFFF"/>
          </a:solidFill>
          <a:ln w="12700">
            <a:solidFill>
              <a:srgbClr val="E8ECF1"/>
            </a:solidFill>
            <a:prstDash val="solid"/>
          </a:ln>
        </p:spPr>
      </p:sp>
      <p:sp>
        <p:nvSpPr>
          <p:cNvPr id="56" name="Text 53"/>
          <p:cNvSpPr/>
          <p:nvPr/>
        </p:nvSpPr>
        <p:spPr>
          <a:xfrm>
            <a:off x="6400800" y="2871216"/>
            <a:ext cx="2423160" cy="365760"/>
          </a:xfrm>
          <a:prstGeom prst="rect">
            <a:avLst/>
          </a:prstGeom>
          <a:noFill/>
          <a:ln/>
        </p:spPr>
        <p:txBody>
          <a:bodyPr wrap="square" lIns="0" tIns="0" rIns="0" bIns="0" rtlCol="0" anchor="ctr"/>
          <a:lstStyle/>
          <a:p>
            <a:pPr marL="0" indent="0">
              <a:buNone/>
            </a:pPr>
            <a:r>
              <a:rPr lang="en-US" sz="750" dirty="0">
                <a:solidFill>
                  <a:srgbClr val="3D5166"/>
                </a:solidFill>
                <a:latin typeface="Calibri" pitchFamily="34" charset="0"/>
                <a:ea typeface="Calibri" pitchFamily="34" charset="-122"/>
                <a:cs typeface="Calibri" pitchFamily="34" charset="-120"/>
              </a:rPr>
              <a:t>BatchNorm stabilises training</a:t>
            </a:r>
            <a:endParaRPr lang="en-US" sz="750" dirty="0"/>
          </a:p>
          <a:p>
            <a:pPr marL="0" indent="0">
              <a:buNone/>
            </a:pPr>
            <a:r>
              <a:rPr lang="en-US" sz="750" dirty="0">
                <a:solidFill>
                  <a:srgbClr val="3D5166"/>
                </a:solidFill>
                <a:latin typeface="Calibri" pitchFamily="34" charset="0"/>
                <a:ea typeface="Calibri" pitchFamily="34" charset="-122"/>
                <a:cs typeface="Calibri" pitchFamily="34" charset="-120"/>
              </a:rPr>
              <a:t>Dropout(0.2) prevents co-adaptation</a:t>
            </a:r>
            <a:endParaRPr lang="en-US" sz="750" dirty="0"/>
          </a:p>
        </p:txBody>
      </p:sp>
      <p:sp>
        <p:nvSpPr>
          <p:cNvPr id="57" name="Shape 54"/>
          <p:cNvSpPr/>
          <p:nvPr/>
        </p:nvSpPr>
        <p:spPr>
          <a:xfrm>
            <a:off x="6355080" y="3337560"/>
            <a:ext cx="2514600" cy="438912"/>
          </a:xfrm>
          <a:prstGeom prst="rect">
            <a:avLst/>
          </a:prstGeom>
          <a:solidFill>
            <a:srgbClr val="F4F6F9"/>
          </a:solidFill>
          <a:ln w="12700">
            <a:solidFill>
              <a:srgbClr val="E8ECF1"/>
            </a:solidFill>
            <a:prstDash val="solid"/>
          </a:ln>
        </p:spPr>
      </p:sp>
      <p:sp>
        <p:nvSpPr>
          <p:cNvPr id="58" name="Text 55"/>
          <p:cNvSpPr/>
          <p:nvPr/>
        </p:nvSpPr>
        <p:spPr>
          <a:xfrm>
            <a:off x="6400800" y="3374136"/>
            <a:ext cx="2423160" cy="365760"/>
          </a:xfrm>
          <a:prstGeom prst="rect">
            <a:avLst/>
          </a:prstGeom>
          <a:noFill/>
          <a:ln/>
        </p:spPr>
        <p:txBody>
          <a:bodyPr wrap="square" lIns="0" tIns="0" rIns="0" bIns="0" rtlCol="0" anchor="ctr"/>
          <a:lstStyle/>
          <a:p>
            <a:pPr marL="0" indent="0">
              <a:buNone/>
            </a:pPr>
            <a:r>
              <a:rPr lang="en-US" sz="750" dirty="0">
                <a:solidFill>
                  <a:srgbClr val="3D5166"/>
                </a:solidFill>
                <a:latin typeface="Calibri" pitchFamily="34" charset="0"/>
                <a:ea typeface="Calibri" pitchFamily="34" charset="-122"/>
                <a:cs typeface="Calibri" pitchFamily="34" charset="-120"/>
              </a:rPr>
              <a:t>Avg best epoch: 68.7 ± 11.0</a:t>
            </a:r>
            <a:endParaRPr lang="en-US" sz="750" dirty="0"/>
          </a:p>
          <a:p>
            <a:pPr marL="0" indent="0">
              <a:buNone/>
            </a:pPr>
            <a:r>
              <a:rPr lang="en-US" sz="750" dirty="0">
                <a:solidFill>
                  <a:srgbClr val="3D5166"/>
                </a:solidFill>
                <a:latin typeface="Calibri" pitchFamily="34" charset="0"/>
                <a:ea typeface="Calibri" pitchFamily="34" charset="-122"/>
                <a:cs typeface="Calibri" pitchFamily="34" charset="-120"/>
              </a:rPr>
              <a:t>Early stopping patience = 20</a:t>
            </a:r>
            <a:endParaRPr lang="en-US" sz="750" dirty="0"/>
          </a:p>
        </p:txBody>
      </p:sp>
      <p:sp>
        <p:nvSpPr>
          <p:cNvPr id="59" name="Shape 56"/>
          <p:cNvSpPr/>
          <p:nvPr/>
        </p:nvSpPr>
        <p:spPr>
          <a:xfrm>
            <a:off x="6355080" y="3840480"/>
            <a:ext cx="2514600" cy="438912"/>
          </a:xfrm>
          <a:prstGeom prst="rect">
            <a:avLst/>
          </a:prstGeom>
          <a:solidFill>
            <a:srgbClr val="FFFFFF"/>
          </a:solidFill>
          <a:ln w="12700">
            <a:solidFill>
              <a:srgbClr val="E8ECF1"/>
            </a:solidFill>
            <a:prstDash val="solid"/>
          </a:ln>
        </p:spPr>
      </p:sp>
      <p:sp>
        <p:nvSpPr>
          <p:cNvPr id="60" name="Text 57"/>
          <p:cNvSpPr/>
          <p:nvPr/>
        </p:nvSpPr>
        <p:spPr>
          <a:xfrm>
            <a:off x="6400800" y="3877056"/>
            <a:ext cx="2423160" cy="365760"/>
          </a:xfrm>
          <a:prstGeom prst="rect">
            <a:avLst/>
          </a:prstGeom>
          <a:noFill/>
          <a:ln/>
        </p:spPr>
        <p:txBody>
          <a:bodyPr wrap="square" lIns="0" tIns="0" rIns="0" bIns="0" rtlCol="0" anchor="ctr"/>
          <a:lstStyle/>
          <a:p>
            <a:pPr marL="0" indent="0">
              <a:buNone/>
            </a:pPr>
            <a:r>
              <a:rPr lang="en-US" sz="750" dirty="0">
                <a:solidFill>
                  <a:srgbClr val="3D5166"/>
                </a:solidFill>
                <a:latin typeface="Calibri" pitchFamily="34" charset="0"/>
                <a:ea typeface="Calibri" pitchFamily="34" charset="-122"/>
                <a:cs typeface="Calibri" pitchFamily="34" charset="-120"/>
              </a:rPr>
              <a:t>CL smaller layers [128,64]</a:t>
            </a:r>
            <a:endParaRPr lang="en-US" sz="750" dirty="0"/>
          </a:p>
          <a:p>
            <a:pPr marL="0" indent="0">
              <a:buNone/>
            </a:pPr>
            <a:r>
              <a:rPr lang="en-US" sz="750" dirty="0">
                <a:solidFill>
                  <a:srgbClr val="3D5166"/>
                </a:solidFill>
                <a:latin typeface="Calibri" pitchFamily="34" charset="0"/>
                <a:ea typeface="Calibri" pitchFamily="34" charset="-122"/>
                <a:cs typeface="Calibri" pitchFamily="34" charset="-120"/>
              </a:rPr>
              <a:t>vs REG larger [256,128] — why?</a:t>
            </a:r>
            <a:endParaRPr lang="en-US" sz="750" dirty="0"/>
          </a:p>
        </p:txBody>
      </p:sp>
      <p:sp>
        <p:nvSpPr>
          <p:cNvPr id="61" name="Shape 58"/>
          <p:cNvSpPr/>
          <p:nvPr/>
        </p:nvSpPr>
        <p:spPr>
          <a:xfrm>
            <a:off x="6355080" y="4343400"/>
            <a:ext cx="2514600" cy="438912"/>
          </a:xfrm>
          <a:prstGeom prst="rect">
            <a:avLst/>
          </a:prstGeom>
          <a:solidFill>
            <a:srgbClr val="F4F6F9"/>
          </a:solidFill>
          <a:ln w="12700">
            <a:solidFill>
              <a:srgbClr val="E8ECF1"/>
            </a:solidFill>
            <a:prstDash val="solid"/>
          </a:ln>
        </p:spPr>
      </p:sp>
      <p:sp>
        <p:nvSpPr>
          <p:cNvPr id="62" name="Text 59"/>
          <p:cNvSpPr/>
          <p:nvPr/>
        </p:nvSpPr>
        <p:spPr>
          <a:xfrm>
            <a:off x="6400800" y="4379976"/>
            <a:ext cx="2423160" cy="365760"/>
          </a:xfrm>
          <a:prstGeom prst="rect">
            <a:avLst/>
          </a:prstGeom>
          <a:noFill/>
          <a:ln/>
        </p:spPr>
        <p:txBody>
          <a:bodyPr wrap="square" lIns="0" tIns="0" rIns="0" bIns="0" rtlCol="0" anchor="ctr"/>
          <a:lstStyle/>
          <a:p>
            <a:pPr marL="0" indent="0">
              <a:buNone/>
            </a:pPr>
            <a:r>
              <a:rPr lang="en-US" sz="750" dirty="0">
                <a:solidFill>
                  <a:srgbClr val="3D5166"/>
                </a:solidFill>
                <a:latin typeface="Calibri" pitchFamily="34" charset="0"/>
                <a:ea typeface="Calibri" pitchFamily="34" charset="-122"/>
                <a:cs typeface="Calibri" pitchFamily="34" charset="-120"/>
              </a:rPr>
              <a:t>CL output = 104 nodes (104×more weights than REG's 1 node)</a:t>
            </a:r>
            <a:endParaRPr lang="en-US" sz="750" dirty="0"/>
          </a:p>
          <a:p>
            <a:pPr marL="0" indent="0">
              <a:buNone/>
            </a:pPr>
            <a:r>
              <a:rPr lang="en-US" sz="750" dirty="0">
                <a:solidFill>
                  <a:srgbClr val="3D5166"/>
                </a:solidFill>
                <a:latin typeface="Calibri" pitchFamily="34" charset="0"/>
                <a:ea typeface="Calibri" pitchFamily="34" charset="-122"/>
                <a:cs typeface="Calibri" pitchFamily="34" charset="-120"/>
              </a:rPr>
              <a:t>Smaller hidden keeps total params comparable</a:t>
            </a:r>
            <a:endParaRPr lang="en-US" sz="750" dirty="0"/>
          </a:p>
        </p:txBody>
      </p:sp>
      <p:sp>
        <p:nvSpPr>
          <p:cNvPr id="63" name="Shape 60"/>
          <p:cNvSpPr/>
          <p:nvPr/>
        </p:nvSpPr>
        <p:spPr>
          <a:xfrm>
            <a:off x="274320" y="4892040"/>
            <a:ext cx="8595360" cy="201168"/>
          </a:xfrm>
          <a:prstGeom prst="rect">
            <a:avLst/>
          </a:prstGeom>
          <a:solidFill>
            <a:srgbClr val="7C3AED"/>
          </a:solidFill>
          <a:ln w="12700">
            <a:solidFill>
              <a:srgbClr val="7C3AED"/>
            </a:solidFill>
            <a:prstDash val="solid"/>
          </a:ln>
        </p:spPr>
      </p:sp>
      <p:sp>
        <p:nvSpPr>
          <p:cNvPr id="64" name="Text 61"/>
          <p:cNvSpPr/>
          <p:nvPr/>
        </p:nvSpPr>
        <p:spPr>
          <a:xfrm>
            <a:off x="274320" y="4892040"/>
            <a:ext cx="8595360" cy="201168"/>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MLP Best: MAE=738 | MASE=0.332 | Loss: MSE (REG) / Cross-Entropy (CL) | Optimizer: ADAM | Ensemble of 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Text 1"/>
          <p:cNvSpPr/>
          <p:nvPr/>
        </p:nvSpPr>
        <p:spPr>
          <a:xfrm>
            <a:off x="274320" y="91440"/>
            <a:ext cx="77724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LSTM — Long Short-Term Memory</a:t>
            </a:r>
            <a:endParaRPr lang="en-US" sz="2000" dirty="0"/>
          </a:p>
        </p:txBody>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lgn="r">
              <a:buNone/>
            </a:pPr>
            <a:r>
              <a:rPr lang="en-US" sz="1100" i="1" dirty="0">
                <a:solidFill>
                  <a:srgbClr val="14A9AE"/>
                </a:solidFill>
                <a:latin typeface="Calibri" pitchFamily="34" charset="0"/>
                <a:ea typeface="Calibri" pitchFamily="34" charset="-122"/>
                <a:cs typeface="Calibri" pitchFamily="34" charset="-120"/>
              </a:rPr>
              <a:t>Model 4 of 4  ·  Sequence Processing  ·  lstm_model.py</a:t>
            </a:r>
            <a:endParaRPr lang="en-US" sz="1100" dirty="0"/>
          </a:p>
        </p:txBody>
      </p:sp>
      <p:sp>
        <p:nvSpPr>
          <p:cNvPr id="5" name="Shape 3"/>
          <p:cNvSpPr/>
          <p:nvPr/>
        </p:nvSpPr>
        <p:spPr>
          <a:xfrm>
            <a:off x="0" y="685800"/>
            <a:ext cx="9144000" cy="54864"/>
          </a:xfrm>
          <a:prstGeom prst="rect">
            <a:avLst/>
          </a:prstGeom>
          <a:solidFill>
            <a:srgbClr val="0D7377"/>
          </a:solidFill>
          <a:ln w="12700">
            <a:solidFill>
              <a:srgbClr val="0D7377"/>
            </a:solidFill>
            <a:prstDash val="solid"/>
          </a:ln>
        </p:spPr>
      </p:sp>
      <p:sp>
        <p:nvSpPr>
          <p:cNvPr id="6" name="Shape 4"/>
          <p:cNvSpPr/>
          <p:nvPr/>
        </p:nvSpPr>
        <p:spPr>
          <a:xfrm>
            <a:off x="274320" y="822960"/>
            <a:ext cx="3931920" cy="411480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7" name="Shape 5"/>
          <p:cNvSpPr/>
          <p:nvPr/>
        </p:nvSpPr>
        <p:spPr>
          <a:xfrm>
            <a:off x="274320" y="822960"/>
            <a:ext cx="3931920" cy="274320"/>
          </a:xfrm>
          <a:prstGeom prst="rect">
            <a:avLst/>
          </a:prstGeom>
          <a:solidFill>
            <a:srgbClr val="F0A500"/>
          </a:solidFill>
          <a:ln w="12700">
            <a:solidFill>
              <a:srgbClr val="F0A500"/>
            </a:solidFill>
            <a:prstDash val="solid"/>
          </a:ln>
        </p:spPr>
      </p:sp>
      <p:sp>
        <p:nvSpPr>
          <p:cNvPr id="8" name="Text 6"/>
          <p:cNvSpPr/>
          <p:nvPr/>
        </p:nvSpPr>
        <p:spPr>
          <a:xfrm>
            <a:off x="320040" y="822960"/>
            <a:ext cx="3840480" cy="274320"/>
          </a:xfrm>
          <a:prstGeom prst="rect">
            <a:avLst/>
          </a:prstGeom>
          <a:noFill/>
          <a:ln/>
        </p:spPr>
        <p:txBody>
          <a:bodyPr wrap="square" lIns="0" tIns="0" rIns="0" bIns="0"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The 5 LSTM Equations</a:t>
            </a:r>
            <a:endParaRPr lang="en-US" sz="1000" dirty="0"/>
          </a:p>
        </p:txBody>
      </p:sp>
      <p:sp>
        <p:nvSpPr>
          <p:cNvPr id="9" name="Shape 7"/>
          <p:cNvSpPr/>
          <p:nvPr/>
        </p:nvSpPr>
        <p:spPr>
          <a:xfrm>
            <a:off x="365760" y="1152144"/>
            <a:ext cx="3749040" cy="694944"/>
          </a:xfrm>
          <a:prstGeom prst="rect">
            <a:avLst/>
          </a:prstGeom>
          <a:solidFill>
            <a:srgbClr val="F4F6F9"/>
          </a:solidFill>
          <a:ln w="12700">
            <a:solidFill>
              <a:srgbClr val="E8ECF1"/>
            </a:solidFill>
            <a:prstDash val="solid"/>
          </a:ln>
        </p:spPr>
      </p:sp>
      <p:sp>
        <p:nvSpPr>
          <p:cNvPr id="10" name="Shape 8"/>
          <p:cNvSpPr/>
          <p:nvPr/>
        </p:nvSpPr>
        <p:spPr>
          <a:xfrm>
            <a:off x="365760" y="1152144"/>
            <a:ext cx="54864" cy="694944"/>
          </a:xfrm>
          <a:prstGeom prst="rect">
            <a:avLst/>
          </a:prstGeom>
          <a:solidFill>
            <a:srgbClr val="C0392B"/>
          </a:solidFill>
          <a:ln w="12700">
            <a:solidFill>
              <a:srgbClr val="C0392B"/>
            </a:solidFill>
            <a:prstDash val="solid"/>
          </a:ln>
        </p:spPr>
      </p:sp>
      <p:sp>
        <p:nvSpPr>
          <p:cNvPr id="11" name="Text 9"/>
          <p:cNvSpPr/>
          <p:nvPr/>
        </p:nvSpPr>
        <p:spPr>
          <a:xfrm>
            <a:off x="475488" y="1170432"/>
            <a:ext cx="3566160" cy="164592"/>
          </a:xfrm>
          <a:prstGeom prst="rect">
            <a:avLst/>
          </a:prstGeom>
          <a:noFill/>
          <a:ln/>
        </p:spPr>
        <p:txBody>
          <a:bodyPr wrap="square" lIns="0" tIns="0" rIns="0" bIns="0" rtlCol="0" anchor="ctr"/>
          <a:lstStyle/>
          <a:p>
            <a:pPr marL="0" indent="0">
              <a:buNone/>
            </a:pPr>
            <a:r>
              <a:rPr lang="en-US" sz="800" b="1" dirty="0">
                <a:solidFill>
                  <a:srgbClr val="C0392B"/>
                </a:solidFill>
                <a:latin typeface="Calibri" pitchFamily="34" charset="0"/>
                <a:ea typeface="Calibri" pitchFamily="34" charset="-122"/>
                <a:cs typeface="Calibri" pitchFamily="34" charset="-120"/>
              </a:rPr>
              <a:t>Forget Gate  fₜ</a:t>
            </a:r>
            <a:endParaRPr lang="en-US" sz="800" dirty="0"/>
          </a:p>
        </p:txBody>
      </p:sp>
      <p:sp>
        <p:nvSpPr>
          <p:cNvPr id="12" name="Text 10"/>
          <p:cNvSpPr/>
          <p:nvPr/>
        </p:nvSpPr>
        <p:spPr>
          <a:xfrm>
            <a:off x="475488" y="1335024"/>
            <a:ext cx="3566160" cy="164592"/>
          </a:xfrm>
          <a:prstGeom prst="rect">
            <a:avLst/>
          </a:prstGeom>
          <a:noFill/>
          <a:ln/>
        </p:spPr>
        <p:txBody>
          <a:bodyPr wrap="square" lIns="0" tIns="0" rIns="0" bIns="0" rtlCol="0" anchor="ctr"/>
          <a:lstStyle/>
          <a:p>
            <a:pPr marL="0" indent="0">
              <a:buNone/>
            </a:pPr>
            <a:r>
              <a:rPr lang="en-US" sz="800" i="1" dirty="0">
                <a:solidFill>
                  <a:srgbClr val="1A2B4A"/>
                </a:solidFill>
                <a:latin typeface="Calibri" pitchFamily="34" charset="0"/>
                <a:ea typeface="Calibri" pitchFamily="34" charset="-122"/>
                <a:cs typeface="Calibri" pitchFamily="34" charset="-120"/>
              </a:rPr>
              <a:t>fₜ = σ(Wf·xₜ + Uf·hₜ₋₁ + bf)</a:t>
            </a:r>
            <a:endParaRPr lang="en-US" sz="800" dirty="0"/>
          </a:p>
        </p:txBody>
      </p:sp>
      <p:sp>
        <p:nvSpPr>
          <p:cNvPr id="13" name="Text 11"/>
          <p:cNvSpPr/>
          <p:nvPr/>
        </p:nvSpPr>
        <p:spPr>
          <a:xfrm>
            <a:off x="475488" y="1499616"/>
            <a:ext cx="3566160" cy="329184"/>
          </a:xfrm>
          <a:prstGeom prst="rect">
            <a:avLst/>
          </a:prstGeom>
          <a:noFill/>
          <a:ln/>
        </p:spPr>
        <p:txBody>
          <a:bodyPr wrap="square" lIns="0" tIns="0" rIns="0" bIns="0" rtlCol="0" anchor="ctr"/>
          <a:lstStyle/>
          <a:p>
            <a:pPr marL="0" indent="0">
              <a:buNone/>
            </a:pPr>
            <a:r>
              <a:rPr lang="en-US" sz="720" dirty="0">
                <a:solidFill>
                  <a:srgbClr val="8896A5"/>
                </a:solidFill>
                <a:latin typeface="Calibri" pitchFamily="34" charset="0"/>
                <a:ea typeface="Calibri" pitchFamily="34" charset="-122"/>
                <a:cs typeface="Calibri" pitchFamily="34" charset="-120"/>
              </a:rPr>
              <a:t>How much of old memory to ERASE</a:t>
            </a:r>
            <a:endParaRPr lang="en-US" sz="720" dirty="0"/>
          </a:p>
          <a:p>
            <a:pPr marL="0" indent="0">
              <a:buNone/>
            </a:pPr>
            <a:r>
              <a:rPr lang="en-US" sz="720" dirty="0">
                <a:solidFill>
                  <a:srgbClr val="8896A5"/>
                </a:solidFill>
                <a:latin typeface="Calibri" pitchFamily="34" charset="0"/>
                <a:ea typeface="Calibri" pitchFamily="34" charset="-122"/>
                <a:cs typeface="Calibri" pitchFamily="34" charset="-120"/>
              </a:rPr>
              <a:t>fₜ≈0: erase; fₜ≈1: keep</a:t>
            </a:r>
            <a:endParaRPr lang="en-US" sz="720" dirty="0"/>
          </a:p>
          <a:p>
            <a:pPr marL="0" indent="0">
              <a:buNone/>
            </a:pPr>
            <a:r>
              <a:rPr lang="en-US" sz="720" dirty="0">
                <a:solidFill>
                  <a:srgbClr val="8896A5"/>
                </a:solidFill>
                <a:latin typeface="Calibri" pitchFamily="34" charset="0"/>
                <a:ea typeface="Calibri" pitchFamily="34" charset="-122"/>
                <a:cs typeface="Calibri" pitchFamily="34" charset="-120"/>
              </a:rPr>
              <a:t>Ex: forget Easter pattern on a Tuesday</a:t>
            </a:r>
            <a:endParaRPr lang="en-US" sz="720" dirty="0"/>
          </a:p>
        </p:txBody>
      </p:sp>
      <p:sp>
        <p:nvSpPr>
          <p:cNvPr id="14" name="Shape 12"/>
          <p:cNvSpPr/>
          <p:nvPr/>
        </p:nvSpPr>
        <p:spPr>
          <a:xfrm>
            <a:off x="365760" y="1901952"/>
            <a:ext cx="3749040" cy="694944"/>
          </a:xfrm>
          <a:prstGeom prst="rect">
            <a:avLst/>
          </a:prstGeom>
          <a:solidFill>
            <a:srgbClr val="F4F6F9"/>
          </a:solidFill>
          <a:ln w="12700">
            <a:solidFill>
              <a:srgbClr val="E8ECF1"/>
            </a:solidFill>
            <a:prstDash val="solid"/>
          </a:ln>
        </p:spPr>
      </p:sp>
      <p:sp>
        <p:nvSpPr>
          <p:cNvPr id="15" name="Shape 13"/>
          <p:cNvSpPr/>
          <p:nvPr/>
        </p:nvSpPr>
        <p:spPr>
          <a:xfrm>
            <a:off x="365760" y="1901952"/>
            <a:ext cx="54864" cy="694944"/>
          </a:xfrm>
          <a:prstGeom prst="rect">
            <a:avLst/>
          </a:prstGeom>
          <a:solidFill>
            <a:srgbClr val="7C3AED"/>
          </a:solidFill>
          <a:ln w="12700">
            <a:solidFill>
              <a:srgbClr val="7C3AED"/>
            </a:solidFill>
            <a:prstDash val="solid"/>
          </a:ln>
        </p:spPr>
      </p:sp>
      <p:sp>
        <p:nvSpPr>
          <p:cNvPr id="16" name="Text 14"/>
          <p:cNvSpPr/>
          <p:nvPr/>
        </p:nvSpPr>
        <p:spPr>
          <a:xfrm>
            <a:off x="475488" y="1920240"/>
            <a:ext cx="3566160" cy="164592"/>
          </a:xfrm>
          <a:prstGeom prst="rect">
            <a:avLst/>
          </a:prstGeom>
          <a:noFill/>
          <a:ln/>
        </p:spPr>
        <p:txBody>
          <a:bodyPr wrap="square" lIns="0" tIns="0" rIns="0" bIns="0" rtlCol="0" anchor="ctr"/>
          <a:lstStyle/>
          <a:p>
            <a:pPr marL="0" indent="0">
              <a:buNone/>
            </a:pPr>
            <a:r>
              <a:rPr lang="en-US" sz="800" b="1" dirty="0">
                <a:solidFill>
                  <a:srgbClr val="7C3AED"/>
                </a:solidFill>
                <a:latin typeface="Calibri" pitchFamily="34" charset="0"/>
                <a:ea typeface="Calibri" pitchFamily="34" charset="-122"/>
                <a:cs typeface="Calibri" pitchFamily="34" charset="-120"/>
              </a:rPr>
              <a:t>Input Gate  iₜ</a:t>
            </a:r>
            <a:endParaRPr lang="en-US" sz="800" dirty="0"/>
          </a:p>
        </p:txBody>
      </p:sp>
      <p:sp>
        <p:nvSpPr>
          <p:cNvPr id="17" name="Text 15"/>
          <p:cNvSpPr/>
          <p:nvPr/>
        </p:nvSpPr>
        <p:spPr>
          <a:xfrm>
            <a:off x="475488" y="2084832"/>
            <a:ext cx="3566160" cy="164592"/>
          </a:xfrm>
          <a:prstGeom prst="rect">
            <a:avLst/>
          </a:prstGeom>
          <a:noFill/>
          <a:ln/>
        </p:spPr>
        <p:txBody>
          <a:bodyPr wrap="square" lIns="0" tIns="0" rIns="0" bIns="0" rtlCol="0" anchor="ctr"/>
          <a:lstStyle/>
          <a:p>
            <a:pPr marL="0" indent="0">
              <a:buNone/>
            </a:pPr>
            <a:r>
              <a:rPr lang="en-US" sz="800" i="1" dirty="0">
                <a:solidFill>
                  <a:srgbClr val="1A2B4A"/>
                </a:solidFill>
                <a:latin typeface="Calibri" pitchFamily="34" charset="0"/>
                <a:ea typeface="Calibri" pitchFamily="34" charset="-122"/>
                <a:cs typeface="Calibri" pitchFamily="34" charset="-120"/>
              </a:rPr>
              <a:t>iₜ = σ(Wᵢ·xₜ + Uᵢ·hₜ₋₁ + bᵢ)</a:t>
            </a:r>
            <a:endParaRPr lang="en-US" sz="800" dirty="0"/>
          </a:p>
        </p:txBody>
      </p:sp>
      <p:sp>
        <p:nvSpPr>
          <p:cNvPr id="18" name="Text 16"/>
          <p:cNvSpPr/>
          <p:nvPr/>
        </p:nvSpPr>
        <p:spPr>
          <a:xfrm>
            <a:off x="475488" y="2249424"/>
            <a:ext cx="3566160" cy="329184"/>
          </a:xfrm>
          <a:prstGeom prst="rect">
            <a:avLst/>
          </a:prstGeom>
          <a:noFill/>
          <a:ln/>
        </p:spPr>
        <p:txBody>
          <a:bodyPr wrap="square" lIns="0" tIns="0" rIns="0" bIns="0" rtlCol="0" anchor="ctr"/>
          <a:lstStyle/>
          <a:p>
            <a:pPr marL="0" indent="0">
              <a:buNone/>
            </a:pPr>
            <a:r>
              <a:rPr lang="en-US" sz="720" dirty="0">
                <a:solidFill>
                  <a:srgbClr val="8896A5"/>
                </a:solidFill>
                <a:latin typeface="Calibri" pitchFamily="34" charset="0"/>
                <a:ea typeface="Calibri" pitchFamily="34" charset="-122"/>
                <a:cs typeface="Calibri" pitchFamily="34" charset="-120"/>
              </a:rPr>
              <a:t>How much NEW info to write</a:t>
            </a:r>
            <a:endParaRPr lang="en-US" sz="720" dirty="0"/>
          </a:p>
          <a:p>
            <a:pPr marL="0" indent="0">
              <a:buNone/>
            </a:pPr>
            <a:r>
              <a:rPr lang="en-US" sz="720" dirty="0">
                <a:solidFill>
                  <a:srgbClr val="8896A5"/>
                </a:solidFill>
                <a:latin typeface="Calibri" pitchFamily="34" charset="0"/>
                <a:ea typeface="Calibri" pitchFamily="34" charset="-122"/>
                <a:cs typeface="Calibri" pitchFamily="34" charset="-120"/>
              </a:rPr>
              <a:t>Ex: write pre-Christmas surge pattern</a:t>
            </a:r>
            <a:endParaRPr lang="en-US" sz="720" dirty="0"/>
          </a:p>
        </p:txBody>
      </p:sp>
      <p:sp>
        <p:nvSpPr>
          <p:cNvPr id="19" name="Shape 17"/>
          <p:cNvSpPr/>
          <p:nvPr/>
        </p:nvSpPr>
        <p:spPr>
          <a:xfrm>
            <a:off x="365760" y="2651760"/>
            <a:ext cx="3749040" cy="694944"/>
          </a:xfrm>
          <a:prstGeom prst="rect">
            <a:avLst/>
          </a:prstGeom>
          <a:solidFill>
            <a:srgbClr val="F4F6F9"/>
          </a:solidFill>
          <a:ln w="12700">
            <a:solidFill>
              <a:srgbClr val="E8ECF1"/>
            </a:solidFill>
            <a:prstDash val="solid"/>
          </a:ln>
        </p:spPr>
      </p:sp>
      <p:sp>
        <p:nvSpPr>
          <p:cNvPr id="20" name="Shape 18"/>
          <p:cNvSpPr/>
          <p:nvPr/>
        </p:nvSpPr>
        <p:spPr>
          <a:xfrm>
            <a:off x="365760" y="2651760"/>
            <a:ext cx="54864" cy="694944"/>
          </a:xfrm>
          <a:prstGeom prst="rect">
            <a:avLst/>
          </a:prstGeom>
          <a:solidFill>
            <a:srgbClr val="2B6CB0"/>
          </a:solidFill>
          <a:ln w="12700">
            <a:solidFill>
              <a:srgbClr val="2B6CB0"/>
            </a:solidFill>
            <a:prstDash val="solid"/>
          </a:ln>
        </p:spPr>
      </p:sp>
      <p:sp>
        <p:nvSpPr>
          <p:cNvPr id="21" name="Text 19"/>
          <p:cNvSpPr/>
          <p:nvPr/>
        </p:nvSpPr>
        <p:spPr>
          <a:xfrm>
            <a:off x="475488" y="2670048"/>
            <a:ext cx="3566160" cy="164592"/>
          </a:xfrm>
          <a:prstGeom prst="rect">
            <a:avLst/>
          </a:prstGeom>
          <a:noFill/>
          <a:ln/>
        </p:spPr>
        <p:txBody>
          <a:bodyPr wrap="square" lIns="0" tIns="0" rIns="0" bIns="0" rtlCol="0" anchor="ctr"/>
          <a:lstStyle/>
          <a:p>
            <a:pPr marL="0" indent="0">
              <a:buNone/>
            </a:pPr>
            <a:r>
              <a:rPr lang="en-US" sz="800" b="1" dirty="0">
                <a:solidFill>
                  <a:srgbClr val="2B6CB0"/>
                </a:solidFill>
                <a:latin typeface="Calibri" pitchFamily="34" charset="0"/>
                <a:ea typeface="Calibri" pitchFamily="34" charset="-122"/>
                <a:cs typeface="Calibri" pitchFamily="34" charset="-120"/>
              </a:rPr>
              <a:t>Output Gate  oₜ</a:t>
            </a:r>
            <a:endParaRPr lang="en-US" sz="800" dirty="0"/>
          </a:p>
        </p:txBody>
      </p:sp>
      <p:sp>
        <p:nvSpPr>
          <p:cNvPr id="22" name="Text 20"/>
          <p:cNvSpPr/>
          <p:nvPr/>
        </p:nvSpPr>
        <p:spPr>
          <a:xfrm>
            <a:off x="475488" y="2834640"/>
            <a:ext cx="3566160" cy="164592"/>
          </a:xfrm>
          <a:prstGeom prst="rect">
            <a:avLst/>
          </a:prstGeom>
          <a:noFill/>
          <a:ln/>
        </p:spPr>
        <p:txBody>
          <a:bodyPr wrap="square" lIns="0" tIns="0" rIns="0" bIns="0" rtlCol="0" anchor="ctr"/>
          <a:lstStyle/>
          <a:p>
            <a:pPr marL="0" indent="0">
              <a:buNone/>
            </a:pPr>
            <a:r>
              <a:rPr lang="en-US" sz="800" i="1" dirty="0">
                <a:solidFill>
                  <a:srgbClr val="1A2B4A"/>
                </a:solidFill>
                <a:latin typeface="Calibri" pitchFamily="34" charset="0"/>
                <a:ea typeface="Calibri" pitchFamily="34" charset="-122"/>
                <a:cs typeface="Calibri" pitchFamily="34" charset="-120"/>
              </a:rPr>
              <a:t>oₜ = σ(Wo·xₜ + Uo·hₜ₋₁ + bo)</a:t>
            </a:r>
            <a:endParaRPr lang="en-US" sz="800" dirty="0"/>
          </a:p>
        </p:txBody>
      </p:sp>
      <p:sp>
        <p:nvSpPr>
          <p:cNvPr id="23" name="Text 21"/>
          <p:cNvSpPr/>
          <p:nvPr/>
        </p:nvSpPr>
        <p:spPr>
          <a:xfrm>
            <a:off x="475488" y="2999232"/>
            <a:ext cx="3566160" cy="329184"/>
          </a:xfrm>
          <a:prstGeom prst="rect">
            <a:avLst/>
          </a:prstGeom>
          <a:noFill/>
          <a:ln/>
        </p:spPr>
        <p:txBody>
          <a:bodyPr wrap="square" lIns="0" tIns="0" rIns="0" bIns="0" rtlCol="0" anchor="ctr"/>
          <a:lstStyle/>
          <a:p>
            <a:pPr marL="0" indent="0">
              <a:buNone/>
            </a:pPr>
            <a:r>
              <a:rPr lang="en-US" sz="720" dirty="0">
                <a:solidFill>
                  <a:srgbClr val="8896A5"/>
                </a:solidFill>
                <a:latin typeface="Calibri" pitchFamily="34" charset="0"/>
                <a:ea typeface="Calibri" pitchFamily="34" charset="-122"/>
                <a:cs typeface="Calibri" pitchFamily="34" charset="-120"/>
              </a:rPr>
              <a:t>Filter cell state for output</a:t>
            </a:r>
            <a:endParaRPr lang="en-US" sz="720" dirty="0"/>
          </a:p>
          <a:p>
            <a:pPr marL="0" indent="0">
              <a:buNone/>
            </a:pPr>
            <a:r>
              <a:rPr lang="en-US" sz="720" dirty="0">
                <a:solidFill>
                  <a:srgbClr val="8896A5"/>
                </a:solidFill>
                <a:latin typeface="Calibri" pitchFamily="34" charset="0"/>
                <a:ea typeface="Calibri" pitchFamily="34" charset="-122"/>
                <a:cs typeface="Calibri" pitchFamily="34" charset="-120"/>
              </a:rPr>
              <a:t>Not all stored info relevant now</a:t>
            </a:r>
            <a:endParaRPr lang="en-US" sz="720" dirty="0"/>
          </a:p>
          <a:p>
            <a:pPr marL="0" indent="0">
              <a:buNone/>
            </a:pPr>
            <a:r>
              <a:rPr lang="en-US" sz="720" dirty="0">
                <a:solidFill>
                  <a:srgbClr val="8896A5"/>
                </a:solidFill>
                <a:latin typeface="Calibri" pitchFamily="34" charset="0"/>
                <a:ea typeface="Calibri" pitchFamily="34" charset="-122"/>
                <a:cs typeface="Calibri" pitchFamily="34" charset="-120"/>
              </a:rPr>
              <a:t>Ex: suppress holiday memory for Tue</a:t>
            </a:r>
            <a:endParaRPr lang="en-US" sz="720" dirty="0"/>
          </a:p>
        </p:txBody>
      </p:sp>
      <p:sp>
        <p:nvSpPr>
          <p:cNvPr id="24" name="Shape 22"/>
          <p:cNvSpPr/>
          <p:nvPr/>
        </p:nvSpPr>
        <p:spPr>
          <a:xfrm>
            <a:off x="365760" y="3401568"/>
            <a:ext cx="3749040" cy="694944"/>
          </a:xfrm>
          <a:prstGeom prst="rect">
            <a:avLst/>
          </a:prstGeom>
          <a:solidFill>
            <a:srgbClr val="F4F6F9"/>
          </a:solidFill>
          <a:ln w="12700">
            <a:solidFill>
              <a:srgbClr val="E8ECF1"/>
            </a:solidFill>
            <a:prstDash val="solid"/>
          </a:ln>
        </p:spPr>
      </p:sp>
      <p:sp>
        <p:nvSpPr>
          <p:cNvPr id="25" name="Shape 23"/>
          <p:cNvSpPr/>
          <p:nvPr/>
        </p:nvSpPr>
        <p:spPr>
          <a:xfrm>
            <a:off x="365760" y="3401568"/>
            <a:ext cx="54864" cy="694944"/>
          </a:xfrm>
          <a:prstGeom prst="rect">
            <a:avLst/>
          </a:prstGeom>
          <a:solidFill>
            <a:srgbClr val="0D7377"/>
          </a:solidFill>
          <a:ln w="12700">
            <a:solidFill>
              <a:srgbClr val="0D7377"/>
            </a:solidFill>
            <a:prstDash val="solid"/>
          </a:ln>
        </p:spPr>
      </p:sp>
      <p:sp>
        <p:nvSpPr>
          <p:cNvPr id="26" name="Text 24"/>
          <p:cNvSpPr/>
          <p:nvPr/>
        </p:nvSpPr>
        <p:spPr>
          <a:xfrm>
            <a:off x="475488" y="3419856"/>
            <a:ext cx="3566160" cy="164592"/>
          </a:xfrm>
          <a:prstGeom prst="rect">
            <a:avLst/>
          </a:prstGeom>
          <a:noFill/>
          <a:ln/>
        </p:spPr>
        <p:txBody>
          <a:bodyPr wrap="square" lIns="0" tIns="0" rIns="0" bIns="0" rtlCol="0" anchor="ctr"/>
          <a:lstStyle/>
          <a:p>
            <a:pPr marL="0" indent="0">
              <a:buNone/>
            </a:pPr>
            <a:r>
              <a:rPr lang="en-US" sz="800" b="1" dirty="0">
                <a:solidFill>
                  <a:srgbClr val="0D7377"/>
                </a:solidFill>
                <a:latin typeface="Calibri" pitchFamily="34" charset="0"/>
                <a:ea typeface="Calibri" pitchFamily="34" charset="-122"/>
                <a:cs typeface="Calibri" pitchFamily="34" charset="-120"/>
              </a:rPr>
              <a:t>Cell State  cₜ</a:t>
            </a:r>
            <a:endParaRPr lang="en-US" sz="800" dirty="0"/>
          </a:p>
        </p:txBody>
      </p:sp>
      <p:sp>
        <p:nvSpPr>
          <p:cNvPr id="27" name="Text 25"/>
          <p:cNvSpPr/>
          <p:nvPr/>
        </p:nvSpPr>
        <p:spPr>
          <a:xfrm>
            <a:off x="475488" y="3584448"/>
            <a:ext cx="3566160" cy="164592"/>
          </a:xfrm>
          <a:prstGeom prst="rect">
            <a:avLst/>
          </a:prstGeom>
          <a:noFill/>
          <a:ln/>
        </p:spPr>
        <p:txBody>
          <a:bodyPr wrap="square" lIns="0" tIns="0" rIns="0" bIns="0" rtlCol="0" anchor="ctr"/>
          <a:lstStyle/>
          <a:p>
            <a:pPr marL="0" indent="0">
              <a:buNone/>
            </a:pPr>
            <a:r>
              <a:rPr lang="en-US" sz="800" i="1" dirty="0">
                <a:solidFill>
                  <a:srgbClr val="1A2B4A"/>
                </a:solidFill>
                <a:latin typeface="Calibri" pitchFamily="34" charset="0"/>
                <a:ea typeface="Calibri" pitchFamily="34" charset="-122"/>
                <a:cs typeface="Calibri" pitchFamily="34" charset="-120"/>
              </a:rPr>
              <a:t>cₜ = fₜ⊙cₜ₋₁ + iₜ⊙tanh(Wc·xₜ+...)</a:t>
            </a:r>
            <a:endParaRPr lang="en-US" sz="800" dirty="0"/>
          </a:p>
        </p:txBody>
      </p:sp>
      <p:sp>
        <p:nvSpPr>
          <p:cNvPr id="28" name="Text 26"/>
          <p:cNvSpPr/>
          <p:nvPr/>
        </p:nvSpPr>
        <p:spPr>
          <a:xfrm>
            <a:off x="475488" y="3749040"/>
            <a:ext cx="3566160" cy="329184"/>
          </a:xfrm>
          <a:prstGeom prst="rect">
            <a:avLst/>
          </a:prstGeom>
          <a:noFill/>
          <a:ln/>
        </p:spPr>
        <p:txBody>
          <a:bodyPr wrap="square" lIns="0" tIns="0" rIns="0" bIns="0" rtlCol="0" anchor="ctr"/>
          <a:lstStyle/>
          <a:p>
            <a:pPr marL="0" indent="0">
              <a:buNone/>
            </a:pPr>
            <a:r>
              <a:rPr lang="en-US" sz="720" dirty="0">
                <a:solidFill>
                  <a:srgbClr val="8896A5"/>
                </a:solidFill>
                <a:latin typeface="Calibri" pitchFamily="34" charset="0"/>
                <a:ea typeface="Calibri" pitchFamily="34" charset="-122"/>
                <a:cs typeface="Calibri" pitchFamily="34" charset="-120"/>
              </a:rPr>
              <a:t>Long-term memory highway</a:t>
            </a:r>
            <a:endParaRPr lang="en-US" sz="720" dirty="0"/>
          </a:p>
          <a:p>
            <a:pPr marL="0" indent="0">
              <a:buNone/>
            </a:pPr>
            <a:r>
              <a:rPr lang="en-US" sz="720" dirty="0">
                <a:solidFill>
                  <a:srgbClr val="8896A5"/>
                </a:solidFill>
                <a:latin typeface="Calibri" pitchFamily="34" charset="0"/>
                <a:ea typeface="Calibri" pitchFamily="34" charset="-122"/>
                <a:cs typeface="Calibri" pitchFamily="34" charset="-120"/>
              </a:rPr>
              <a:t>∂cₜ/∂cₜ₋₁ = fₜ → gradient flows if fₜ≈1</a:t>
            </a:r>
            <a:endParaRPr lang="en-US" sz="720" dirty="0"/>
          </a:p>
          <a:p>
            <a:pPr marL="0" indent="0">
              <a:buNone/>
            </a:pPr>
            <a:r>
              <a:rPr lang="en-US" sz="720" dirty="0">
                <a:solidFill>
                  <a:srgbClr val="8896A5"/>
                </a:solidFill>
                <a:latin typeface="Calibri" pitchFamily="34" charset="0"/>
                <a:ea typeface="Calibri" pitchFamily="34" charset="-122"/>
                <a:cs typeface="Calibri" pitchFamily="34" charset="-120"/>
              </a:rPr>
              <a:t>Solves vanishing gradient problem!</a:t>
            </a:r>
            <a:endParaRPr lang="en-US" sz="720" dirty="0"/>
          </a:p>
        </p:txBody>
      </p:sp>
      <p:sp>
        <p:nvSpPr>
          <p:cNvPr id="29" name="Shape 27"/>
          <p:cNvSpPr/>
          <p:nvPr/>
        </p:nvSpPr>
        <p:spPr>
          <a:xfrm>
            <a:off x="365760" y="4151376"/>
            <a:ext cx="3749040" cy="694944"/>
          </a:xfrm>
          <a:prstGeom prst="rect">
            <a:avLst/>
          </a:prstGeom>
          <a:solidFill>
            <a:srgbClr val="F4F6F9"/>
          </a:solidFill>
          <a:ln w="12700">
            <a:solidFill>
              <a:srgbClr val="E8ECF1"/>
            </a:solidFill>
            <a:prstDash val="solid"/>
          </a:ln>
        </p:spPr>
      </p:sp>
      <p:sp>
        <p:nvSpPr>
          <p:cNvPr id="30" name="Shape 28"/>
          <p:cNvSpPr/>
          <p:nvPr/>
        </p:nvSpPr>
        <p:spPr>
          <a:xfrm>
            <a:off x="365760" y="4151376"/>
            <a:ext cx="54864" cy="694944"/>
          </a:xfrm>
          <a:prstGeom prst="rect">
            <a:avLst/>
          </a:prstGeom>
          <a:solidFill>
            <a:srgbClr val="1A2B4A"/>
          </a:solidFill>
          <a:ln w="12700">
            <a:solidFill>
              <a:srgbClr val="1A2B4A"/>
            </a:solidFill>
            <a:prstDash val="solid"/>
          </a:ln>
        </p:spPr>
      </p:sp>
      <p:sp>
        <p:nvSpPr>
          <p:cNvPr id="31" name="Text 29"/>
          <p:cNvSpPr/>
          <p:nvPr/>
        </p:nvSpPr>
        <p:spPr>
          <a:xfrm>
            <a:off x="475488" y="4169664"/>
            <a:ext cx="3566160" cy="164592"/>
          </a:xfrm>
          <a:prstGeom prst="rect">
            <a:avLst/>
          </a:prstGeom>
          <a:noFill/>
          <a:ln/>
        </p:spPr>
        <p:txBody>
          <a:bodyPr wrap="square" lIns="0" tIns="0" rIns="0" bIns="0" rtlCol="0" anchor="ctr"/>
          <a:lstStyle/>
          <a:p>
            <a:pPr marL="0" indent="0">
              <a:buNone/>
            </a:pPr>
            <a:r>
              <a:rPr lang="en-US" sz="800" b="1" dirty="0">
                <a:solidFill>
                  <a:srgbClr val="1A2B4A"/>
                </a:solidFill>
                <a:latin typeface="Calibri" pitchFamily="34" charset="0"/>
                <a:ea typeface="Calibri" pitchFamily="34" charset="-122"/>
                <a:cs typeface="Calibri" pitchFamily="34" charset="-120"/>
              </a:rPr>
              <a:t>Hidden State  hₜ</a:t>
            </a:r>
            <a:endParaRPr lang="en-US" sz="800" dirty="0"/>
          </a:p>
        </p:txBody>
      </p:sp>
      <p:sp>
        <p:nvSpPr>
          <p:cNvPr id="32" name="Text 30"/>
          <p:cNvSpPr/>
          <p:nvPr/>
        </p:nvSpPr>
        <p:spPr>
          <a:xfrm>
            <a:off x="475488" y="4334256"/>
            <a:ext cx="3566160" cy="164592"/>
          </a:xfrm>
          <a:prstGeom prst="rect">
            <a:avLst/>
          </a:prstGeom>
          <a:noFill/>
          <a:ln/>
        </p:spPr>
        <p:txBody>
          <a:bodyPr wrap="square" lIns="0" tIns="0" rIns="0" bIns="0" rtlCol="0" anchor="ctr"/>
          <a:lstStyle/>
          <a:p>
            <a:pPr marL="0" indent="0">
              <a:buNone/>
            </a:pPr>
            <a:r>
              <a:rPr lang="en-US" sz="800" i="1" dirty="0">
                <a:solidFill>
                  <a:srgbClr val="1A2B4A"/>
                </a:solidFill>
                <a:latin typeface="Calibri" pitchFamily="34" charset="0"/>
                <a:ea typeface="Calibri" pitchFamily="34" charset="-122"/>
                <a:cs typeface="Calibri" pitchFamily="34" charset="-120"/>
              </a:rPr>
              <a:t>hₜ = oₜ ⊙ tanh(cₜ)</a:t>
            </a:r>
            <a:endParaRPr lang="en-US" sz="800" dirty="0"/>
          </a:p>
        </p:txBody>
      </p:sp>
      <p:sp>
        <p:nvSpPr>
          <p:cNvPr id="33" name="Text 31"/>
          <p:cNvSpPr/>
          <p:nvPr/>
        </p:nvSpPr>
        <p:spPr>
          <a:xfrm>
            <a:off x="475488" y="4498848"/>
            <a:ext cx="3566160" cy="329184"/>
          </a:xfrm>
          <a:prstGeom prst="rect">
            <a:avLst/>
          </a:prstGeom>
          <a:noFill/>
          <a:ln/>
        </p:spPr>
        <p:txBody>
          <a:bodyPr wrap="square" lIns="0" tIns="0" rIns="0" bIns="0" rtlCol="0" anchor="ctr"/>
          <a:lstStyle/>
          <a:p>
            <a:pPr marL="0" indent="0">
              <a:buNone/>
            </a:pPr>
            <a:r>
              <a:rPr lang="en-US" sz="720" dirty="0">
                <a:solidFill>
                  <a:srgbClr val="8896A5"/>
                </a:solidFill>
                <a:latin typeface="Calibri" pitchFamily="34" charset="0"/>
                <a:ea typeface="Calibri" pitchFamily="34" charset="-122"/>
                <a:cs typeface="Calibri" pitchFamily="34" charset="-120"/>
              </a:rPr>
              <a:t>Working memory / output</a:t>
            </a:r>
            <a:endParaRPr lang="en-US" sz="720" dirty="0"/>
          </a:p>
          <a:p>
            <a:pPr marL="0" indent="0">
              <a:buNone/>
            </a:pPr>
            <a:r>
              <a:rPr lang="en-US" sz="720" dirty="0">
                <a:solidFill>
                  <a:srgbClr val="8896A5"/>
                </a:solidFill>
                <a:latin typeface="Calibri" pitchFamily="34" charset="0"/>
                <a:ea typeface="Calibri" pitchFamily="34" charset="-122"/>
                <a:cs typeface="Calibri" pitchFamily="34" charset="-120"/>
              </a:rPr>
              <a:t>Passed to Dense layers for prediction</a:t>
            </a:r>
            <a:endParaRPr lang="en-US" sz="720" dirty="0"/>
          </a:p>
          <a:p>
            <a:pPr marL="0" indent="0">
              <a:buNone/>
            </a:pPr>
            <a:r>
              <a:rPr lang="en-US" sz="720" dirty="0">
                <a:solidFill>
                  <a:srgbClr val="8896A5"/>
                </a:solidFill>
                <a:latin typeface="Calibri" pitchFamily="34" charset="0"/>
                <a:ea typeface="Calibri" pitchFamily="34" charset="-122"/>
                <a:cs typeface="Calibri" pitchFamily="34" charset="-120"/>
              </a:rPr>
              <a:t>⊙ = Hadamard (element-wise) product</a:t>
            </a:r>
            <a:endParaRPr lang="en-US" sz="720" dirty="0"/>
          </a:p>
        </p:txBody>
      </p:sp>
      <p:sp>
        <p:nvSpPr>
          <p:cNvPr id="34" name="Shape 32"/>
          <p:cNvSpPr/>
          <p:nvPr/>
        </p:nvSpPr>
        <p:spPr>
          <a:xfrm>
            <a:off x="4434840" y="822960"/>
            <a:ext cx="4434840" cy="128016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35" name="Shape 33"/>
          <p:cNvSpPr/>
          <p:nvPr/>
        </p:nvSpPr>
        <p:spPr>
          <a:xfrm>
            <a:off x="4434840" y="822960"/>
            <a:ext cx="4434840" cy="256032"/>
          </a:xfrm>
          <a:prstGeom prst="rect">
            <a:avLst/>
          </a:prstGeom>
          <a:solidFill>
            <a:srgbClr val="F0A500"/>
          </a:solidFill>
          <a:ln w="12700">
            <a:solidFill>
              <a:srgbClr val="F0A500"/>
            </a:solidFill>
            <a:prstDash val="solid"/>
          </a:ln>
        </p:spPr>
      </p:sp>
      <p:sp>
        <p:nvSpPr>
          <p:cNvPr id="36" name="Text 34"/>
          <p:cNvSpPr/>
          <p:nvPr/>
        </p:nvSpPr>
        <p:spPr>
          <a:xfrm>
            <a:off x="4507992" y="822960"/>
            <a:ext cx="4270248"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Why LSTM &gt; MLP for Time Series</a:t>
            </a:r>
            <a:endParaRPr lang="en-US" sz="900" dirty="0"/>
          </a:p>
        </p:txBody>
      </p:sp>
      <p:sp>
        <p:nvSpPr>
          <p:cNvPr id="37" name="Text 35"/>
          <p:cNvSpPr/>
          <p:nvPr/>
        </p:nvSpPr>
        <p:spPr>
          <a:xfrm>
            <a:off x="4507992" y="1115568"/>
            <a:ext cx="4270248" cy="941832"/>
          </a:xfrm>
          <a:prstGeom prst="rect">
            <a:avLst/>
          </a:prstGeom>
          <a:noFill/>
          <a:ln/>
        </p:spPr>
        <p:txBody>
          <a:bodyPr wrap="square" lIns="0" tIns="0" rIns="0" bIns="0" rtlCol="0" anchor="t"/>
          <a:lstStyle/>
          <a:p>
            <a:pPr marL="0" indent="0">
              <a:buNone/>
            </a:pPr>
            <a:r>
              <a:rPr lang="en-US" sz="800" dirty="0">
                <a:solidFill>
                  <a:srgbClr val="3D5166"/>
                </a:solidFill>
                <a:latin typeface="Calibri" pitchFamily="34" charset="0"/>
                <a:ea typeface="Calibri" pitchFamily="34" charset="-122"/>
                <a:cs typeface="Calibri" pitchFamily="34" charset="-120"/>
              </a:rPr>
              <a:t>MLP sees [lag14, lag7, ..., lag2] as 7 independent numbers — it cannot detect 'sales rising for 5 consecutive days' without explicitly encoding it.</a:t>
            </a:r>
            <a:endParaRPr lang="en-US" sz="800" dirty="0"/>
          </a:p>
          <a:p>
            <a:pPr marL="0" indent="0">
              <a:buNone/>
            </a:pP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LSTM processes lags as a TEMPORAL SEQUENCE. Final hidden state h₇ is influenced by all 7 steps, capturing patterns like rising trends, recent spikes.</a:t>
            </a:r>
            <a:endParaRPr lang="en-US" sz="800" dirty="0"/>
          </a:p>
          <a:p>
            <a:pPr marL="0" indent="0">
              <a:buNone/>
            </a:pP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Vanilla RNN gradient: ∂h_T/∂h₁ = ∏W·diag(tanh') → shrinks exponentially.</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LSTM: ∂c_T/∂c₁ = ∏fₖ → stays near 1 if forget gate≈1</a:t>
            </a:r>
            <a:endParaRPr lang="en-US" sz="800" dirty="0"/>
          </a:p>
        </p:txBody>
      </p:sp>
      <p:sp>
        <p:nvSpPr>
          <p:cNvPr id="38" name="Shape 36"/>
          <p:cNvSpPr/>
          <p:nvPr/>
        </p:nvSpPr>
        <p:spPr>
          <a:xfrm>
            <a:off x="4434840" y="2194560"/>
            <a:ext cx="4434840" cy="128016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39" name="Shape 37"/>
          <p:cNvSpPr/>
          <p:nvPr/>
        </p:nvSpPr>
        <p:spPr>
          <a:xfrm>
            <a:off x="4434840" y="2194560"/>
            <a:ext cx="4434840" cy="256032"/>
          </a:xfrm>
          <a:prstGeom prst="rect">
            <a:avLst/>
          </a:prstGeom>
          <a:solidFill>
            <a:srgbClr val="0D7377"/>
          </a:solidFill>
          <a:ln w="12700">
            <a:solidFill>
              <a:srgbClr val="0D7377"/>
            </a:solidFill>
            <a:prstDash val="solid"/>
          </a:ln>
        </p:spPr>
      </p:sp>
      <p:sp>
        <p:nvSpPr>
          <p:cNvPr id="40" name="Text 38"/>
          <p:cNvSpPr/>
          <p:nvPr/>
        </p:nvSpPr>
        <p:spPr>
          <a:xfrm>
            <a:off x="4507992" y="2194560"/>
            <a:ext cx="4270248"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Sequence Construction</a:t>
            </a:r>
            <a:endParaRPr lang="en-US" sz="900" dirty="0"/>
          </a:p>
        </p:txBody>
      </p:sp>
      <p:sp>
        <p:nvSpPr>
          <p:cNvPr id="41" name="Text 39"/>
          <p:cNvSpPr/>
          <p:nvPr/>
        </p:nvSpPr>
        <p:spPr>
          <a:xfrm>
            <a:off x="4507992" y="2487168"/>
            <a:ext cx="4270248" cy="941832"/>
          </a:xfrm>
          <a:prstGeom prst="rect">
            <a:avLst/>
          </a:prstGeom>
          <a:noFill/>
          <a:ln/>
        </p:spPr>
        <p:txBody>
          <a:bodyPr wrap="square" lIns="0" tIns="0" rIns="0" bIns="0" rtlCol="0" anchor="t"/>
          <a:lstStyle/>
          <a:p>
            <a:pPr marL="0" indent="0">
              <a:buNone/>
            </a:pPr>
            <a:r>
              <a:rPr lang="en-US" sz="800" dirty="0">
                <a:solidFill>
                  <a:srgbClr val="3D5166"/>
                </a:solidFill>
                <a:latin typeface="Calibri" pitchFamily="34" charset="0"/>
                <a:ea typeface="Calibri" pitchFamily="34" charset="-122"/>
                <a:cs typeface="Calibri" pitchFamily="34" charset="-120"/>
              </a:rPr>
              <a:t>Sequence: [lag14, lag7, lag6, lag5, lag4, lag3, lag2] → 7 steps × 4 features</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Dynamic features (change per step): sales, DayOfWeek sin/cos, rolling median</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Static features (29): bypassed LSTM, concatenated after → Dense(32) branch</a:t>
            </a:r>
            <a:endParaRPr lang="en-US" sz="800" dirty="0"/>
          </a:p>
          <a:p>
            <a:pPr marL="0" indent="0">
              <a:buNone/>
            </a:pP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Why oldest first? LSTM reads L→R. Final h₇ most influenced by lag2 (most recent) ✓</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Gradient clipping clipnorm=1.0 — prevents holiday spike from exploding gradients</a:t>
            </a:r>
            <a:endParaRPr lang="en-US" sz="800" dirty="0"/>
          </a:p>
        </p:txBody>
      </p:sp>
      <p:sp>
        <p:nvSpPr>
          <p:cNvPr id="42" name="Shape 40"/>
          <p:cNvSpPr/>
          <p:nvPr/>
        </p:nvSpPr>
        <p:spPr>
          <a:xfrm>
            <a:off x="4434840" y="3566160"/>
            <a:ext cx="4434840" cy="128016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43" name="Shape 41"/>
          <p:cNvSpPr/>
          <p:nvPr/>
        </p:nvSpPr>
        <p:spPr>
          <a:xfrm>
            <a:off x="4434840" y="3566160"/>
            <a:ext cx="4434840" cy="256032"/>
          </a:xfrm>
          <a:prstGeom prst="rect">
            <a:avLst/>
          </a:prstGeom>
          <a:solidFill>
            <a:srgbClr val="1A2B4A"/>
          </a:solidFill>
          <a:ln w="12700">
            <a:solidFill>
              <a:srgbClr val="1A2B4A"/>
            </a:solidFill>
            <a:prstDash val="solid"/>
          </a:ln>
        </p:spPr>
      </p:sp>
      <p:sp>
        <p:nvSpPr>
          <p:cNvPr id="44" name="Text 42"/>
          <p:cNvSpPr/>
          <p:nvPr/>
        </p:nvSpPr>
        <p:spPr>
          <a:xfrm>
            <a:off x="4507992" y="3566160"/>
            <a:ext cx="4270248"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Results</a:t>
            </a:r>
            <a:endParaRPr lang="en-US" sz="900" dirty="0"/>
          </a:p>
        </p:txBody>
      </p:sp>
      <p:sp>
        <p:nvSpPr>
          <p:cNvPr id="45" name="Text 43"/>
          <p:cNvSpPr/>
          <p:nvPr/>
        </p:nvSpPr>
        <p:spPr>
          <a:xfrm>
            <a:off x="4507992" y="3858768"/>
            <a:ext cx="4270248" cy="941832"/>
          </a:xfrm>
          <a:prstGeom prst="rect">
            <a:avLst/>
          </a:prstGeom>
          <a:noFill/>
          <a:ln/>
        </p:spPr>
        <p:txBody>
          <a:bodyPr wrap="square" lIns="0" tIns="0" rIns="0" bIns="0" rtlCol="0" anchor="t"/>
          <a:lstStyle/>
          <a:p>
            <a:pPr marL="0" indent="0">
              <a:buNone/>
            </a:pPr>
            <a:r>
              <a:rPr lang="en-US" sz="800" dirty="0">
                <a:solidFill>
                  <a:srgbClr val="3D5166"/>
                </a:solidFill>
                <a:latin typeface="Calibri" pitchFamily="34" charset="0"/>
                <a:ea typeface="Calibri" pitchFamily="34" charset="-122"/>
                <a:cs typeface="Calibri" pitchFamily="34" charset="-120"/>
              </a:rPr>
              <a:t>LSTM-REG:         MAE=802  MASE=0.361</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LSTM-CL(max):   MAE=876  MASE=0.394</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LSTM-CL(median): MAE=786  MASE=0.353  ★ BEST ANN</a:t>
            </a:r>
            <a:endParaRPr lang="en-US" sz="800" dirty="0"/>
          </a:p>
          <a:p>
            <a:pPr marL="0" indent="0">
              <a:buNone/>
            </a:pP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CL(median) beats CL(max) by 10% — consistent with MLP finding</a:t>
            </a:r>
            <a:endParaRPr lang="en-US" sz="800" dirty="0"/>
          </a:p>
          <a:p>
            <a:pPr marL="0" indent="0">
              <a:buNone/>
            </a:pPr>
            <a:r>
              <a:rPr lang="en-US" sz="800" dirty="0">
                <a:solidFill>
                  <a:srgbClr val="3D5166"/>
                </a:solidFill>
                <a:latin typeface="Calibri" pitchFamily="34" charset="0"/>
                <a:ea typeface="Calibri" pitchFamily="34" charset="-122"/>
                <a:cs typeface="Calibri" pitchFamily="34" charset="-120"/>
              </a:rPr>
              <a:t>Loss: MSE (REG) / Cross-Entropy (CL) | Optimizer: ADAM + clipnorm=1.0</a:t>
            </a:r>
            <a:endParaRPr lang="en-US" sz="800" dirty="0"/>
          </a:p>
        </p:txBody>
      </p:sp>
      <p:sp>
        <p:nvSpPr>
          <p:cNvPr id="46" name="Shape 44"/>
          <p:cNvSpPr/>
          <p:nvPr/>
        </p:nvSpPr>
        <p:spPr>
          <a:xfrm>
            <a:off x="274320" y="4892040"/>
            <a:ext cx="8595360" cy="201168"/>
          </a:xfrm>
          <a:prstGeom prst="rect">
            <a:avLst/>
          </a:prstGeom>
          <a:solidFill>
            <a:srgbClr val="F0A500"/>
          </a:solidFill>
          <a:ln w="12700">
            <a:solidFill>
              <a:srgbClr val="F0A500"/>
            </a:solidFill>
            <a:prstDash val="solid"/>
          </a:ln>
        </p:spPr>
      </p:sp>
      <p:sp>
        <p:nvSpPr>
          <p:cNvPr id="47" name="Text 45"/>
          <p:cNvSpPr/>
          <p:nvPr/>
        </p:nvSpPr>
        <p:spPr>
          <a:xfrm>
            <a:off x="274320" y="4892040"/>
            <a:ext cx="8595360" cy="201168"/>
          </a:xfrm>
          <a:prstGeom prst="rect">
            <a:avLst/>
          </a:prstGeom>
          <a:noFill/>
          <a:ln/>
        </p:spPr>
        <p:txBody>
          <a:bodyPr wrap="square" lIns="0" tIns="0" rIns="0" bIns="0" rtlCol="0" anchor="ctr"/>
          <a:lstStyle/>
          <a:p>
            <a:pPr marL="0" indent="0" algn="ctr">
              <a:buNone/>
            </a:pPr>
            <a:r>
              <a:rPr lang="en-US" sz="800" b="1" dirty="0">
                <a:solidFill>
                  <a:srgbClr val="1A2B4A"/>
                </a:solidFill>
                <a:latin typeface="Calibri" pitchFamily="34" charset="0"/>
                <a:ea typeface="Calibri" pitchFamily="34" charset="-122"/>
                <a:cs typeface="Calibri" pitchFamily="34" charset="-120"/>
              </a:rPr>
              <a:t>LSTM Best: MAE=786 | MASE=0.353 | Best ANN variant | Loss: MSE/CE | ADAM clipnorm=1.0 | Ensemble of 10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Text 1"/>
          <p:cNvSpPr/>
          <p:nvPr/>
        </p:nvSpPr>
        <p:spPr>
          <a:xfrm>
            <a:off x="274320" y="91440"/>
            <a:ext cx="77724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Results — MASE Heatmap: All Models × All SD Types</a:t>
            </a:r>
            <a:endParaRPr lang="en-US" sz="2000" dirty="0"/>
          </a:p>
        </p:txBody>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lgn="r">
              <a:buNone/>
            </a:pPr>
            <a:r>
              <a:rPr lang="en-US" sz="1100" i="1" dirty="0">
                <a:solidFill>
                  <a:srgbClr val="14A9AE"/>
                </a:solidFill>
                <a:latin typeface="Calibri" pitchFamily="34" charset="0"/>
                <a:ea typeface="Calibri" pitchFamily="34" charset="-122"/>
                <a:cs typeface="Calibri" pitchFamily="34" charset="-120"/>
              </a:rPr>
              <a:t>Lower = Better  |  Green = Good  |  Red = Poor</a:t>
            </a:r>
            <a:endParaRPr lang="en-US" sz="1100" dirty="0"/>
          </a:p>
        </p:txBody>
      </p:sp>
      <p:sp>
        <p:nvSpPr>
          <p:cNvPr id="5" name="Shape 3"/>
          <p:cNvSpPr/>
          <p:nvPr/>
        </p:nvSpPr>
        <p:spPr>
          <a:xfrm>
            <a:off x="0" y="685800"/>
            <a:ext cx="9144000" cy="54864"/>
          </a:xfrm>
          <a:prstGeom prst="rect">
            <a:avLst/>
          </a:prstGeom>
          <a:solidFill>
            <a:srgbClr val="0D7377"/>
          </a:solidFill>
          <a:ln w="12700">
            <a:solidFill>
              <a:srgbClr val="0D7377"/>
            </a:solidFill>
            <a:prstDash val="solid"/>
          </a:ln>
        </p:spPr>
      </p:sp>
      <p:pic>
        <p:nvPicPr>
          <p:cNvPr id="6" name="Image 0" descr="/mnt/user-data/uploads/mase_heatmap.png"/>
          <p:cNvPicPr>
            <a:picLocks noChangeAspect="1"/>
          </p:cNvPicPr>
          <p:nvPr/>
        </p:nvPicPr>
        <p:blipFill>
          <a:blip r:embed="rId3"/>
          <a:srcRect/>
          <a:stretch/>
        </p:blipFill>
        <p:spPr>
          <a:xfrm>
            <a:off x="274320" y="804672"/>
            <a:ext cx="5486400" cy="4114800"/>
          </a:xfrm>
          <a:prstGeom prst="rect">
            <a:avLst/>
          </a:prstGeom>
        </p:spPr>
      </p:pic>
      <p:sp>
        <p:nvSpPr>
          <p:cNvPr id="7" name="Shape 4"/>
          <p:cNvSpPr/>
          <p:nvPr/>
        </p:nvSpPr>
        <p:spPr>
          <a:xfrm>
            <a:off x="5989320" y="804672"/>
            <a:ext cx="2880360" cy="274320"/>
          </a:xfrm>
          <a:prstGeom prst="rect">
            <a:avLst/>
          </a:prstGeom>
          <a:solidFill>
            <a:srgbClr val="1A2B4A"/>
          </a:solidFill>
          <a:ln w="12700">
            <a:solidFill>
              <a:srgbClr val="1A2B4A"/>
            </a:solidFill>
            <a:prstDash val="solid"/>
          </a:ln>
        </p:spPr>
      </p:sp>
      <p:sp>
        <p:nvSpPr>
          <p:cNvPr id="8" name="Text 5"/>
          <p:cNvSpPr/>
          <p:nvPr/>
        </p:nvSpPr>
        <p:spPr>
          <a:xfrm>
            <a:off x="5989320" y="804672"/>
            <a:ext cx="28803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Key Findings</a:t>
            </a:r>
            <a:endParaRPr lang="en-US" sz="1000" dirty="0"/>
          </a:p>
        </p:txBody>
      </p:sp>
      <p:sp>
        <p:nvSpPr>
          <p:cNvPr id="9" name="Shape 6"/>
          <p:cNvSpPr/>
          <p:nvPr/>
        </p:nvSpPr>
        <p:spPr>
          <a:xfrm>
            <a:off x="5989320" y="1133856"/>
            <a:ext cx="2880360" cy="420624"/>
          </a:xfrm>
          <a:prstGeom prst="rect">
            <a:avLst/>
          </a:prstGeom>
          <a:solidFill>
            <a:srgbClr val="FFFFFF"/>
          </a:solidFill>
          <a:ln w="12700">
            <a:solidFill>
              <a:srgbClr val="E8ECF1"/>
            </a:solidFill>
            <a:prstDash val="solid"/>
          </a:ln>
        </p:spPr>
      </p:sp>
      <p:sp>
        <p:nvSpPr>
          <p:cNvPr id="10" name="Shape 7"/>
          <p:cNvSpPr/>
          <p:nvPr/>
        </p:nvSpPr>
        <p:spPr>
          <a:xfrm>
            <a:off x="5989320" y="1133856"/>
            <a:ext cx="54864" cy="420624"/>
          </a:xfrm>
          <a:prstGeom prst="rect">
            <a:avLst/>
          </a:prstGeom>
          <a:solidFill>
            <a:srgbClr val="0D7377"/>
          </a:solidFill>
          <a:ln w="12700">
            <a:solidFill>
              <a:srgbClr val="0D7377"/>
            </a:solidFill>
            <a:prstDash val="solid"/>
          </a:ln>
        </p:spPr>
      </p:sp>
      <p:sp>
        <p:nvSpPr>
          <p:cNvPr id="11" name="Text 8"/>
          <p:cNvSpPr/>
          <p:nvPr/>
        </p:nvSpPr>
        <p:spPr>
          <a:xfrm>
            <a:off x="6099048" y="1170432"/>
            <a:ext cx="2715768" cy="347472"/>
          </a:xfrm>
          <a:prstGeom prst="rect">
            <a:avLst/>
          </a:prstGeom>
          <a:noFill/>
          <a:ln/>
        </p:spPr>
        <p:txBody>
          <a:bodyPr wrap="square" lIns="0" tIns="0" rIns="0" bIns="0" rtlCol="0" anchor="ctr"/>
          <a:lstStyle/>
          <a:p>
            <a:pPr marL="0" indent="0">
              <a:buNone/>
            </a:pPr>
            <a:r>
              <a:rPr lang="en-US" sz="800" dirty="0">
                <a:solidFill>
                  <a:srgbClr val="3D5166"/>
                </a:solidFill>
                <a:latin typeface="Calibri" pitchFamily="34" charset="0"/>
                <a:ea typeface="Calibri" pitchFamily="34" charset="-122"/>
                <a:cs typeface="Calibri" pitchFamily="34" charset="-120"/>
              </a:rPr>
              <a:t>✓ LightGBM MASE 0.273 — best overall (52% better than S-Median)</a:t>
            </a:r>
            <a:endParaRPr lang="en-US" sz="800" dirty="0"/>
          </a:p>
        </p:txBody>
      </p:sp>
      <p:sp>
        <p:nvSpPr>
          <p:cNvPr id="12" name="Shape 9"/>
          <p:cNvSpPr/>
          <p:nvPr/>
        </p:nvSpPr>
        <p:spPr>
          <a:xfrm>
            <a:off x="5989320" y="1609344"/>
            <a:ext cx="2880360" cy="420624"/>
          </a:xfrm>
          <a:prstGeom prst="rect">
            <a:avLst/>
          </a:prstGeom>
          <a:solidFill>
            <a:srgbClr val="FFFFFF"/>
          </a:solidFill>
          <a:ln w="12700">
            <a:solidFill>
              <a:srgbClr val="E8ECF1"/>
            </a:solidFill>
            <a:prstDash val="solid"/>
          </a:ln>
        </p:spPr>
      </p:sp>
      <p:sp>
        <p:nvSpPr>
          <p:cNvPr id="13" name="Shape 10"/>
          <p:cNvSpPr/>
          <p:nvPr/>
        </p:nvSpPr>
        <p:spPr>
          <a:xfrm>
            <a:off x="5989320" y="1609344"/>
            <a:ext cx="54864" cy="420624"/>
          </a:xfrm>
          <a:prstGeom prst="rect">
            <a:avLst/>
          </a:prstGeom>
          <a:solidFill>
            <a:srgbClr val="0D7377"/>
          </a:solidFill>
          <a:ln w="12700">
            <a:solidFill>
              <a:srgbClr val="0D7377"/>
            </a:solidFill>
            <a:prstDash val="solid"/>
          </a:ln>
        </p:spPr>
      </p:sp>
      <p:sp>
        <p:nvSpPr>
          <p:cNvPr id="14" name="Text 11"/>
          <p:cNvSpPr/>
          <p:nvPr/>
        </p:nvSpPr>
        <p:spPr>
          <a:xfrm>
            <a:off x="6099048" y="1645920"/>
            <a:ext cx="2715768" cy="347472"/>
          </a:xfrm>
          <a:prstGeom prst="rect">
            <a:avLst/>
          </a:prstGeom>
          <a:noFill/>
          <a:ln/>
        </p:spPr>
        <p:txBody>
          <a:bodyPr wrap="square" lIns="0" tIns="0" rIns="0" bIns="0" rtlCol="0" anchor="ctr"/>
          <a:lstStyle/>
          <a:p>
            <a:pPr marL="0" indent="0">
              <a:buNone/>
            </a:pPr>
            <a:r>
              <a:rPr lang="en-US" sz="800" dirty="0">
                <a:solidFill>
                  <a:srgbClr val="3D5166"/>
                </a:solidFill>
                <a:latin typeface="Calibri" pitchFamily="34" charset="0"/>
                <a:ea typeface="Calibri" pitchFamily="34" charset="-122"/>
                <a:cs typeface="Calibri" pitchFamily="34" charset="-120"/>
              </a:rPr>
              <a:t>✓ CL(median) beats CL(max) for BOTH MLP and LSTM — confirms paper's core claim</a:t>
            </a:r>
            <a:endParaRPr lang="en-US" sz="800" dirty="0"/>
          </a:p>
        </p:txBody>
      </p:sp>
      <p:sp>
        <p:nvSpPr>
          <p:cNvPr id="15" name="Shape 12"/>
          <p:cNvSpPr/>
          <p:nvPr/>
        </p:nvSpPr>
        <p:spPr>
          <a:xfrm>
            <a:off x="5989320" y="2084832"/>
            <a:ext cx="2880360" cy="420624"/>
          </a:xfrm>
          <a:prstGeom prst="rect">
            <a:avLst/>
          </a:prstGeom>
          <a:solidFill>
            <a:srgbClr val="FFFFFF"/>
          </a:solidFill>
          <a:ln w="12700">
            <a:solidFill>
              <a:srgbClr val="E8ECF1"/>
            </a:solidFill>
            <a:prstDash val="solid"/>
          </a:ln>
        </p:spPr>
      </p:sp>
      <p:sp>
        <p:nvSpPr>
          <p:cNvPr id="16" name="Shape 13"/>
          <p:cNvSpPr/>
          <p:nvPr/>
        </p:nvSpPr>
        <p:spPr>
          <a:xfrm>
            <a:off x="5989320" y="2084832"/>
            <a:ext cx="54864" cy="420624"/>
          </a:xfrm>
          <a:prstGeom prst="rect">
            <a:avLst/>
          </a:prstGeom>
          <a:solidFill>
            <a:srgbClr val="F0A500"/>
          </a:solidFill>
          <a:ln w="12700">
            <a:solidFill>
              <a:srgbClr val="F0A500"/>
            </a:solidFill>
            <a:prstDash val="solid"/>
          </a:ln>
        </p:spPr>
      </p:sp>
      <p:sp>
        <p:nvSpPr>
          <p:cNvPr id="17" name="Text 14"/>
          <p:cNvSpPr/>
          <p:nvPr/>
        </p:nvSpPr>
        <p:spPr>
          <a:xfrm>
            <a:off x="6099048" y="2121408"/>
            <a:ext cx="2715768" cy="347472"/>
          </a:xfrm>
          <a:prstGeom prst="rect">
            <a:avLst/>
          </a:prstGeom>
          <a:noFill/>
          <a:ln/>
        </p:spPr>
        <p:txBody>
          <a:bodyPr wrap="square" lIns="0" tIns="0" rIns="0" bIns="0" rtlCol="0" anchor="ctr"/>
          <a:lstStyle/>
          <a:p>
            <a:pPr marL="0" indent="0">
              <a:buNone/>
            </a:pPr>
            <a:r>
              <a:rPr lang="en-US" sz="800" dirty="0">
                <a:solidFill>
                  <a:srgbClr val="3D5166"/>
                </a:solidFill>
                <a:latin typeface="Calibri" pitchFamily="34" charset="0"/>
                <a:ea typeface="Calibri" pitchFamily="34" charset="-122"/>
                <a:cs typeface="Calibri" pitchFamily="34" charset="-120"/>
              </a:rPr>
              <a:t>✓ SD2 is hardest day — highest MASE across ALL models (pre-holiday surge unpredictable)</a:t>
            </a:r>
            <a:endParaRPr lang="en-US" sz="800" dirty="0"/>
          </a:p>
        </p:txBody>
      </p:sp>
      <p:sp>
        <p:nvSpPr>
          <p:cNvPr id="18" name="Shape 15"/>
          <p:cNvSpPr/>
          <p:nvPr/>
        </p:nvSpPr>
        <p:spPr>
          <a:xfrm>
            <a:off x="5989320" y="2560320"/>
            <a:ext cx="2880360" cy="420624"/>
          </a:xfrm>
          <a:prstGeom prst="rect">
            <a:avLst/>
          </a:prstGeom>
          <a:solidFill>
            <a:srgbClr val="FFFFFF"/>
          </a:solidFill>
          <a:ln w="12700">
            <a:solidFill>
              <a:srgbClr val="E8ECF1"/>
            </a:solidFill>
            <a:prstDash val="solid"/>
          </a:ln>
        </p:spPr>
      </p:sp>
      <p:sp>
        <p:nvSpPr>
          <p:cNvPr id="19" name="Shape 16"/>
          <p:cNvSpPr/>
          <p:nvPr/>
        </p:nvSpPr>
        <p:spPr>
          <a:xfrm>
            <a:off x="5989320" y="2560320"/>
            <a:ext cx="54864" cy="420624"/>
          </a:xfrm>
          <a:prstGeom prst="rect">
            <a:avLst/>
          </a:prstGeom>
          <a:solidFill>
            <a:srgbClr val="7C3AED"/>
          </a:solidFill>
          <a:ln w="12700">
            <a:solidFill>
              <a:srgbClr val="7C3AED"/>
            </a:solidFill>
            <a:prstDash val="solid"/>
          </a:ln>
        </p:spPr>
      </p:sp>
      <p:sp>
        <p:nvSpPr>
          <p:cNvPr id="20" name="Text 17"/>
          <p:cNvSpPr/>
          <p:nvPr/>
        </p:nvSpPr>
        <p:spPr>
          <a:xfrm>
            <a:off x="6099048" y="2596896"/>
            <a:ext cx="2715768" cy="347472"/>
          </a:xfrm>
          <a:prstGeom prst="rect">
            <a:avLst/>
          </a:prstGeom>
          <a:noFill/>
          <a:ln/>
        </p:spPr>
        <p:txBody>
          <a:bodyPr wrap="square" lIns="0" tIns="0" rIns="0" bIns="0" rtlCol="0" anchor="ctr"/>
          <a:lstStyle/>
          <a:p>
            <a:pPr marL="0" indent="0">
              <a:buNone/>
            </a:pPr>
            <a:r>
              <a:rPr lang="en-US" sz="800" dirty="0">
                <a:solidFill>
                  <a:srgbClr val="3D5166"/>
                </a:solidFill>
                <a:latin typeface="Calibri" pitchFamily="34" charset="0"/>
                <a:ea typeface="Calibri" pitchFamily="34" charset="-122"/>
                <a:cs typeface="Calibri" pitchFamily="34" charset="-120"/>
              </a:rPr>
              <a:t>✓ LSTM-CL(median) is best ANN variant (MASE 0.353 &lt; MLP-CL median 0.332... close!)</a:t>
            </a:r>
            <a:endParaRPr lang="en-US" sz="800" dirty="0"/>
          </a:p>
        </p:txBody>
      </p:sp>
      <p:sp>
        <p:nvSpPr>
          <p:cNvPr id="21" name="Shape 18"/>
          <p:cNvSpPr/>
          <p:nvPr/>
        </p:nvSpPr>
        <p:spPr>
          <a:xfrm>
            <a:off x="5989320" y="3035808"/>
            <a:ext cx="2880360" cy="420624"/>
          </a:xfrm>
          <a:prstGeom prst="rect">
            <a:avLst/>
          </a:prstGeom>
          <a:solidFill>
            <a:srgbClr val="FFFFFF"/>
          </a:solidFill>
          <a:ln w="12700">
            <a:solidFill>
              <a:srgbClr val="E8ECF1"/>
            </a:solidFill>
            <a:prstDash val="solid"/>
          </a:ln>
        </p:spPr>
      </p:sp>
      <p:sp>
        <p:nvSpPr>
          <p:cNvPr id="22" name="Shape 19"/>
          <p:cNvSpPr/>
          <p:nvPr/>
        </p:nvSpPr>
        <p:spPr>
          <a:xfrm>
            <a:off x="5989320" y="3035808"/>
            <a:ext cx="54864" cy="420624"/>
          </a:xfrm>
          <a:prstGeom prst="rect">
            <a:avLst/>
          </a:prstGeom>
          <a:solidFill>
            <a:srgbClr val="0D7377"/>
          </a:solidFill>
          <a:ln w="12700">
            <a:solidFill>
              <a:srgbClr val="0D7377"/>
            </a:solidFill>
            <a:prstDash val="solid"/>
          </a:ln>
        </p:spPr>
      </p:sp>
      <p:sp>
        <p:nvSpPr>
          <p:cNvPr id="23" name="Text 20"/>
          <p:cNvSpPr/>
          <p:nvPr/>
        </p:nvSpPr>
        <p:spPr>
          <a:xfrm>
            <a:off x="6099048" y="3072384"/>
            <a:ext cx="2715768" cy="347472"/>
          </a:xfrm>
          <a:prstGeom prst="rect">
            <a:avLst/>
          </a:prstGeom>
          <a:noFill/>
          <a:ln/>
        </p:spPr>
        <p:txBody>
          <a:bodyPr wrap="square" lIns="0" tIns="0" rIns="0" bIns="0" rtlCol="0" anchor="ctr"/>
          <a:lstStyle/>
          <a:p>
            <a:pPr marL="0" indent="0">
              <a:buNone/>
            </a:pPr>
            <a:r>
              <a:rPr lang="en-US" sz="800" dirty="0">
                <a:solidFill>
                  <a:srgbClr val="3D5166"/>
                </a:solidFill>
                <a:latin typeface="Calibri" pitchFamily="34" charset="0"/>
                <a:ea typeface="Calibri" pitchFamily="34" charset="-122"/>
                <a:cs typeface="Calibri" pitchFamily="34" charset="-120"/>
              </a:rPr>
              <a:t>✓ All ML models beat all baselines — confirms paper's primary claim</a:t>
            </a:r>
            <a:endParaRPr lang="en-US" sz="800" dirty="0"/>
          </a:p>
        </p:txBody>
      </p:sp>
      <p:sp>
        <p:nvSpPr>
          <p:cNvPr id="24" name="Shape 21"/>
          <p:cNvSpPr/>
          <p:nvPr/>
        </p:nvSpPr>
        <p:spPr>
          <a:xfrm>
            <a:off x="5989320" y="3511296"/>
            <a:ext cx="2880360" cy="420624"/>
          </a:xfrm>
          <a:prstGeom prst="rect">
            <a:avLst/>
          </a:prstGeom>
          <a:solidFill>
            <a:srgbClr val="FFFFFF"/>
          </a:solidFill>
          <a:ln w="12700">
            <a:solidFill>
              <a:srgbClr val="E8ECF1"/>
            </a:solidFill>
            <a:prstDash val="solid"/>
          </a:ln>
        </p:spPr>
      </p:sp>
      <p:sp>
        <p:nvSpPr>
          <p:cNvPr id="25" name="Shape 22"/>
          <p:cNvSpPr/>
          <p:nvPr/>
        </p:nvSpPr>
        <p:spPr>
          <a:xfrm>
            <a:off x="5989320" y="3511296"/>
            <a:ext cx="54864" cy="420624"/>
          </a:xfrm>
          <a:prstGeom prst="rect">
            <a:avLst/>
          </a:prstGeom>
          <a:solidFill>
            <a:srgbClr val="F0A500"/>
          </a:solidFill>
          <a:ln w="12700">
            <a:solidFill>
              <a:srgbClr val="F0A500"/>
            </a:solidFill>
            <a:prstDash val="solid"/>
          </a:ln>
        </p:spPr>
      </p:sp>
      <p:sp>
        <p:nvSpPr>
          <p:cNvPr id="26" name="Text 23"/>
          <p:cNvSpPr/>
          <p:nvPr/>
        </p:nvSpPr>
        <p:spPr>
          <a:xfrm>
            <a:off x="6099048" y="3547872"/>
            <a:ext cx="2715768" cy="347472"/>
          </a:xfrm>
          <a:prstGeom prst="rect">
            <a:avLst/>
          </a:prstGeom>
          <a:noFill/>
          <a:ln/>
        </p:spPr>
        <p:txBody>
          <a:bodyPr wrap="square" lIns="0" tIns="0" rIns="0" bIns="0" rtlCol="0" anchor="ctr"/>
          <a:lstStyle/>
          <a:p>
            <a:pPr marL="0" indent="0">
              <a:buNone/>
            </a:pPr>
            <a:r>
              <a:rPr lang="en-US" sz="800" dirty="0">
                <a:solidFill>
                  <a:srgbClr val="3D5166"/>
                </a:solidFill>
                <a:latin typeface="Calibri" pitchFamily="34" charset="0"/>
                <a:ea typeface="Calibri" pitchFamily="34" charset="-122"/>
                <a:cs typeface="Calibri" pitchFamily="34" charset="-120"/>
              </a:rPr>
              <a:t>⚡ LightGBM SD1 MASE = 0.083 — exceptional holiday forecasting (LightGBM MAE leader)</a:t>
            </a:r>
            <a:endParaRPr lang="en-US" sz="800" dirty="0"/>
          </a:p>
        </p:txBody>
      </p:sp>
      <p:sp>
        <p:nvSpPr>
          <p:cNvPr id="27" name="Shape 24"/>
          <p:cNvSpPr/>
          <p:nvPr/>
        </p:nvSpPr>
        <p:spPr>
          <a:xfrm>
            <a:off x="5989320" y="3986784"/>
            <a:ext cx="2880360" cy="420624"/>
          </a:xfrm>
          <a:prstGeom prst="rect">
            <a:avLst/>
          </a:prstGeom>
          <a:solidFill>
            <a:srgbClr val="FFFFFF"/>
          </a:solidFill>
          <a:ln w="12700">
            <a:solidFill>
              <a:srgbClr val="E8ECF1"/>
            </a:solidFill>
            <a:prstDash val="solid"/>
          </a:ln>
        </p:spPr>
      </p:sp>
      <p:sp>
        <p:nvSpPr>
          <p:cNvPr id="28" name="Shape 25"/>
          <p:cNvSpPr/>
          <p:nvPr/>
        </p:nvSpPr>
        <p:spPr>
          <a:xfrm>
            <a:off x="5989320" y="3986784"/>
            <a:ext cx="54864" cy="420624"/>
          </a:xfrm>
          <a:prstGeom prst="rect">
            <a:avLst/>
          </a:prstGeom>
          <a:solidFill>
            <a:srgbClr val="C0392B"/>
          </a:solidFill>
          <a:ln w="12700">
            <a:solidFill>
              <a:srgbClr val="C0392B"/>
            </a:solidFill>
            <a:prstDash val="solid"/>
          </a:ln>
        </p:spPr>
      </p:sp>
      <p:sp>
        <p:nvSpPr>
          <p:cNvPr id="29" name="Text 26"/>
          <p:cNvSpPr/>
          <p:nvPr/>
        </p:nvSpPr>
        <p:spPr>
          <a:xfrm>
            <a:off x="6099048" y="4023360"/>
            <a:ext cx="2715768" cy="347472"/>
          </a:xfrm>
          <a:prstGeom prst="rect">
            <a:avLst/>
          </a:prstGeom>
          <a:noFill/>
          <a:ln/>
        </p:spPr>
        <p:txBody>
          <a:bodyPr wrap="square" lIns="0" tIns="0" rIns="0" bIns="0" rtlCol="0" anchor="ctr"/>
          <a:lstStyle/>
          <a:p>
            <a:pPr marL="0" indent="0">
              <a:buNone/>
            </a:pPr>
            <a:r>
              <a:rPr lang="en-US" sz="800" dirty="0">
                <a:solidFill>
                  <a:srgbClr val="3D5166"/>
                </a:solidFill>
                <a:latin typeface="Calibri" pitchFamily="34" charset="0"/>
                <a:ea typeface="Calibri" pitchFamily="34" charset="-122"/>
                <a:cs typeface="Calibri" pitchFamily="34" charset="-120"/>
              </a:rPr>
              <a:t>⚡ LSTM-REG SD1 = 0.625 (yellow) — pure regression LSTM struggles on holiday days</a:t>
            </a:r>
            <a:endParaRPr lang="en-US" sz="800" dirty="0"/>
          </a:p>
        </p:txBody>
      </p:sp>
      <p:sp>
        <p:nvSpPr>
          <p:cNvPr id="30" name="Shape 27"/>
          <p:cNvSpPr/>
          <p:nvPr/>
        </p:nvSpPr>
        <p:spPr>
          <a:xfrm>
            <a:off x="274320" y="4892040"/>
            <a:ext cx="8595360" cy="201168"/>
          </a:xfrm>
          <a:prstGeom prst="rect">
            <a:avLst/>
          </a:prstGeom>
          <a:solidFill>
            <a:srgbClr val="1A2B4A"/>
          </a:solidFill>
          <a:ln w="12700">
            <a:solidFill>
              <a:srgbClr val="1A2B4A"/>
            </a:solidFill>
            <a:prstDash val="solid"/>
          </a:ln>
        </p:spPr>
      </p:sp>
      <p:sp>
        <p:nvSpPr>
          <p:cNvPr id="31" name="Text 28"/>
          <p:cNvSpPr/>
          <p:nvPr/>
        </p:nvSpPr>
        <p:spPr>
          <a:xfrm>
            <a:off x="274320" y="4892040"/>
            <a:ext cx="8595360" cy="201168"/>
          </a:xfrm>
          <a:prstGeom prst="rect">
            <a:avLst/>
          </a:prstGeom>
          <a:noFill/>
          <a:ln/>
        </p:spPr>
        <p:txBody>
          <a:bodyPr wrap="square" lIns="0" tIns="0" rIns="0" bIns="0" rtlCol="0" anchor="ctr"/>
          <a:lstStyle/>
          <a:p>
            <a:pPr marL="0" indent="0" algn="ctr">
              <a:buNone/>
            </a:pPr>
            <a:r>
              <a:rPr lang="en-US" sz="750" dirty="0">
                <a:solidFill>
                  <a:srgbClr val="14A9AE"/>
                </a:solidFill>
                <a:latin typeface="Calibri" pitchFamily="34" charset="0"/>
                <a:ea typeface="Calibri" pitchFamily="34" charset="-122"/>
                <a:cs typeface="Calibri" pitchFamily="34" charset="-120"/>
              </a:rPr>
              <a:t>MASE &lt; 1.0 = beats seasonal naive  |  SD0 denominator only (to avoid inflating the baseline)  |  All values computed on test set</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Text 1"/>
          <p:cNvSpPr/>
          <p:nvPr/>
        </p:nvSpPr>
        <p:spPr>
          <a:xfrm>
            <a:off x="274320" y="91440"/>
            <a:ext cx="77724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Results — MAE by SD Type &amp; Relative Improvement</a:t>
            </a:r>
            <a:endParaRPr lang="en-US" sz="2000" dirty="0"/>
          </a:p>
        </p:txBody>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lgn="r">
              <a:buNone/>
            </a:pPr>
            <a:r>
              <a:rPr lang="en-US" sz="1100" i="1" dirty="0">
                <a:solidFill>
                  <a:srgbClr val="14A9AE"/>
                </a:solidFill>
                <a:latin typeface="Calibri" pitchFamily="34" charset="0"/>
                <a:ea typeface="Calibri" pitchFamily="34" charset="-122"/>
                <a:cs typeface="Calibri" pitchFamily="34" charset="-120"/>
              </a:rPr>
              <a:t>How much each model beats S-Median per day type</a:t>
            </a:r>
            <a:endParaRPr lang="en-US" sz="1100" dirty="0"/>
          </a:p>
        </p:txBody>
      </p:sp>
      <p:sp>
        <p:nvSpPr>
          <p:cNvPr id="5" name="Shape 3"/>
          <p:cNvSpPr/>
          <p:nvPr/>
        </p:nvSpPr>
        <p:spPr>
          <a:xfrm>
            <a:off x="0" y="685800"/>
            <a:ext cx="9144000" cy="54864"/>
          </a:xfrm>
          <a:prstGeom prst="rect">
            <a:avLst/>
          </a:prstGeom>
          <a:solidFill>
            <a:srgbClr val="0D7377"/>
          </a:solidFill>
          <a:ln w="12700">
            <a:solidFill>
              <a:srgbClr val="0D7377"/>
            </a:solidFill>
            <a:prstDash val="solid"/>
          </a:ln>
        </p:spPr>
      </p:sp>
      <p:pic>
        <p:nvPicPr>
          <p:cNvPr id="6" name="Image 0" descr="/mnt/user-data/uploads/relative_improvement_mae.png"/>
          <p:cNvPicPr>
            <a:picLocks noChangeAspect="1"/>
          </p:cNvPicPr>
          <p:nvPr/>
        </p:nvPicPr>
        <p:blipFill>
          <a:blip r:embed="rId3"/>
          <a:srcRect/>
          <a:stretch/>
        </p:blipFill>
        <p:spPr>
          <a:xfrm>
            <a:off x="274320" y="804672"/>
            <a:ext cx="8595360" cy="3383280"/>
          </a:xfrm>
          <a:prstGeom prst="rect">
            <a:avLst/>
          </a:prstGeom>
        </p:spPr>
      </p:pic>
      <p:sp>
        <p:nvSpPr>
          <p:cNvPr id="7" name="Shape 4"/>
          <p:cNvSpPr/>
          <p:nvPr/>
        </p:nvSpPr>
        <p:spPr>
          <a:xfrm>
            <a:off x="274320" y="4251960"/>
            <a:ext cx="8595360" cy="256032"/>
          </a:xfrm>
          <a:prstGeom prst="rect">
            <a:avLst/>
          </a:prstGeom>
          <a:solidFill>
            <a:srgbClr val="1A2B4A"/>
          </a:solidFill>
          <a:ln w="12700">
            <a:solidFill>
              <a:srgbClr val="1A2B4A"/>
            </a:solidFill>
            <a:prstDash val="solid"/>
          </a:ln>
        </p:spPr>
      </p:sp>
      <p:sp>
        <p:nvSpPr>
          <p:cNvPr id="8" name="Text 5"/>
          <p:cNvSpPr/>
          <p:nvPr/>
        </p:nvSpPr>
        <p:spPr>
          <a:xfrm>
            <a:off x="274320" y="4251960"/>
            <a:ext cx="8595360" cy="256032"/>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HOW TO READ: Bar below 1.0 = model beats S-Median. Lower bar = bigger improvement. Red dashed line = S-Median (baseline = 1.0)</a:t>
            </a:r>
            <a:endParaRPr lang="en-US" sz="900" dirty="0"/>
          </a:p>
        </p:txBody>
      </p:sp>
      <p:sp>
        <p:nvSpPr>
          <p:cNvPr id="9" name="Shape 6"/>
          <p:cNvSpPr/>
          <p:nvPr/>
        </p:nvSpPr>
        <p:spPr>
          <a:xfrm>
            <a:off x="274320" y="4553712"/>
            <a:ext cx="2743200" cy="201168"/>
          </a:xfrm>
          <a:prstGeom prst="rect">
            <a:avLst/>
          </a:prstGeom>
          <a:solidFill>
            <a:srgbClr val="0D7377"/>
          </a:solidFill>
          <a:ln w="12700">
            <a:solidFill>
              <a:srgbClr val="0D7377"/>
            </a:solidFill>
            <a:prstDash val="solid"/>
          </a:ln>
        </p:spPr>
      </p:sp>
      <p:sp>
        <p:nvSpPr>
          <p:cNvPr id="10" name="Text 7"/>
          <p:cNvSpPr/>
          <p:nvPr/>
        </p:nvSpPr>
        <p:spPr>
          <a:xfrm>
            <a:off x="347472" y="4553712"/>
            <a:ext cx="2633472" cy="201168"/>
          </a:xfrm>
          <a:prstGeom prst="rect">
            <a:avLst/>
          </a:prstGeom>
          <a:noFill/>
          <a:ln/>
        </p:spPr>
        <p:txBody>
          <a:bodyPr wrap="square" lIns="0" tIns="0" rIns="0" bIns="0" rtlCol="0" anchor="ctr"/>
          <a:lstStyle/>
          <a:p>
            <a:pPr marL="0" indent="0">
              <a:buNone/>
            </a:pPr>
            <a:r>
              <a:rPr lang="en-US" sz="700" dirty="0">
                <a:solidFill>
                  <a:srgbClr val="FFFFFF"/>
                </a:solidFill>
                <a:latin typeface="Calibri" pitchFamily="34" charset="0"/>
                <a:ea typeface="Calibri" pitchFamily="34" charset="-122"/>
                <a:cs typeface="Calibri" pitchFamily="34" charset="-120"/>
              </a:rPr>
              <a:t>SD0 (Regular): All models beat S-Median by 40–53%. LightGBM (green) consistently best. LSTM-REG underperforms here.</a:t>
            </a:r>
            <a:endParaRPr lang="en-US" sz="700" dirty="0"/>
          </a:p>
        </p:txBody>
      </p:sp>
      <p:sp>
        <p:nvSpPr>
          <p:cNvPr id="11" name="Shape 8"/>
          <p:cNvSpPr/>
          <p:nvPr/>
        </p:nvSpPr>
        <p:spPr>
          <a:xfrm>
            <a:off x="3172968" y="4553712"/>
            <a:ext cx="2743200" cy="201168"/>
          </a:xfrm>
          <a:prstGeom prst="rect">
            <a:avLst/>
          </a:prstGeom>
          <a:solidFill>
            <a:srgbClr val="C0392B"/>
          </a:solidFill>
          <a:ln w="12700">
            <a:solidFill>
              <a:srgbClr val="C0392B"/>
            </a:solidFill>
            <a:prstDash val="solid"/>
          </a:ln>
        </p:spPr>
      </p:sp>
      <p:sp>
        <p:nvSpPr>
          <p:cNvPr id="12" name="Text 9"/>
          <p:cNvSpPr/>
          <p:nvPr/>
        </p:nvSpPr>
        <p:spPr>
          <a:xfrm>
            <a:off x="3246120" y="4553712"/>
            <a:ext cx="2633472" cy="201168"/>
          </a:xfrm>
          <a:prstGeom prst="rect">
            <a:avLst/>
          </a:prstGeom>
          <a:noFill/>
          <a:ln/>
        </p:spPr>
        <p:txBody>
          <a:bodyPr wrap="square" lIns="0" tIns="0" rIns="0" bIns="0" rtlCol="0" anchor="ctr"/>
          <a:lstStyle/>
          <a:p>
            <a:pPr marL="0" indent="0">
              <a:buNone/>
            </a:pPr>
            <a:r>
              <a:rPr lang="en-US" sz="700" dirty="0">
                <a:solidFill>
                  <a:srgbClr val="FFFFFF"/>
                </a:solidFill>
                <a:latin typeface="Calibri" pitchFamily="34" charset="0"/>
                <a:ea typeface="Calibri" pitchFamily="34" charset="-122"/>
                <a:cs typeface="Calibri" pitchFamily="34" charset="-120"/>
              </a:rPr>
              <a:t>SD1 (Holiday): LightGBM = 0.25 (75% better!). LSTM-REG exceeds 1.5 — fails on holidays. Classification fixes this dramatically.</a:t>
            </a:r>
            <a:endParaRPr lang="en-US" sz="700" dirty="0"/>
          </a:p>
        </p:txBody>
      </p:sp>
      <p:sp>
        <p:nvSpPr>
          <p:cNvPr id="13" name="Shape 10"/>
          <p:cNvSpPr/>
          <p:nvPr/>
        </p:nvSpPr>
        <p:spPr>
          <a:xfrm>
            <a:off x="6071616" y="4553712"/>
            <a:ext cx="2743200" cy="201168"/>
          </a:xfrm>
          <a:prstGeom prst="rect">
            <a:avLst/>
          </a:prstGeom>
          <a:solidFill>
            <a:srgbClr val="F0A500"/>
          </a:solidFill>
          <a:ln w="12700">
            <a:solidFill>
              <a:srgbClr val="F0A500"/>
            </a:solidFill>
            <a:prstDash val="solid"/>
          </a:ln>
        </p:spPr>
      </p:sp>
      <p:sp>
        <p:nvSpPr>
          <p:cNvPr id="14" name="Text 11"/>
          <p:cNvSpPr/>
          <p:nvPr/>
        </p:nvSpPr>
        <p:spPr>
          <a:xfrm>
            <a:off x="6144768" y="4553712"/>
            <a:ext cx="2633472" cy="201168"/>
          </a:xfrm>
          <a:prstGeom prst="rect">
            <a:avLst/>
          </a:prstGeom>
          <a:noFill/>
          <a:ln/>
        </p:spPr>
        <p:txBody>
          <a:bodyPr wrap="square" lIns="0" tIns="0" rIns="0" bIns="0" rtlCol="0" anchor="ctr"/>
          <a:lstStyle/>
          <a:p>
            <a:pPr marL="0" indent="0">
              <a:buNone/>
            </a:pPr>
            <a:r>
              <a:rPr lang="en-US" sz="700" dirty="0">
                <a:solidFill>
                  <a:srgbClr val="FFFFFF"/>
                </a:solidFill>
                <a:latin typeface="Calibri" pitchFamily="34" charset="0"/>
                <a:ea typeface="Calibri" pitchFamily="34" charset="-122"/>
                <a:cs typeface="Calibri" pitchFamily="34" charset="-120"/>
              </a:rPr>
              <a:t>SD2 (Day Before): Best gains for ML — 45–52% improvement. This is where the 8 SD-specific features provide the most value.</a:t>
            </a:r>
            <a:endParaRPr lang="en-US" sz="700" dirty="0"/>
          </a:p>
        </p:txBody>
      </p:sp>
      <p:sp>
        <p:nvSpPr>
          <p:cNvPr id="15" name="Shape 12"/>
          <p:cNvSpPr/>
          <p:nvPr/>
        </p:nvSpPr>
        <p:spPr>
          <a:xfrm>
            <a:off x="274320" y="4800600"/>
            <a:ext cx="2743200" cy="201168"/>
          </a:xfrm>
          <a:prstGeom prst="rect">
            <a:avLst/>
          </a:prstGeom>
          <a:solidFill>
            <a:srgbClr val="7C3AED"/>
          </a:solidFill>
          <a:ln w="12700">
            <a:solidFill>
              <a:srgbClr val="7C3AED"/>
            </a:solidFill>
            <a:prstDash val="solid"/>
          </a:ln>
        </p:spPr>
      </p:sp>
      <p:sp>
        <p:nvSpPr>
          <p:cNvPr id="16" name="Text 13"/>
          <p:cNvSpPr/>
          <p:nvPr/>
        </p:nvSpPr>
        <p:spPr>
          <a:xfrm>
            <a:off x="347472" y="4800600"/>
            <a:ext cx="2633472" cy="201168"/>
          </a:xfrm>
          <a:prstGeom prst="rect">
            <a:avLst/>
          </a:prstGeom>
          <a:noFill/>
          <a:ln/>
        </p:spPr>
        <p:txBody>
          <a:bodyPr wrap="square" lIns="0" tIns="0" rIns="0" bIns="0" rtlCol="0" anchor="ctr"/>
          <a:lstStyle/>
          <a:p>
            <a:pPr marL="0" indent="0">
              <a:buNone/>
            </a:pPr>
            <a:r>
              <a:rPr lang="en-US" sz="700" dirty="0">
                <a:solidFill>
                  <a:srgbClr val="FFFFFF"/>
                </a:solidFill>
                <a:latin typeface="Calibri" pitchFamily="34" charset="0"/>
                <a:ea typeface="Calibri" pitchFamily="34" charset="-122"/>
                <a:cs typeface="Calibri" pitchFamily="34" charset="-120"/>
              </a:rPr>
              <a:t>SD3 (Day After): LightGBM 0.65 (35% better). LSTM variants near 0.95 — day-after patterns are harder for sequence models.</a:t>
            </a:r>
            <a:endParaRPr lang="en-US" sz="700" dirty="0"/>
          </a:p>
        </p:txBody>
      </p:sp>
      <p:sp>
        <p:nvSpPr>
          <p:cNvPr id="17" name="Shape 14"/>
          <p:cNvSpPr/>
          <p:nvPr/>
        </p:nvSpPr>
        <p:spPr>
          <a:xfrm>
            <a:off x="3172968" y="4800600"/>
            <a:ext cx="2743200" cy="201168"/>
          </a:xfrm>
          <a:prstGeom prst="rect">
            <a:avLst/>
          </a:prstGeom>
          <a:solidFill>
            <a:srgbClr val="1A2B4A"/>
          </a:solidFill>
          <a:ln w="12700">
            <a:solidFill>
              <a:srgbClr val="1A2B4A"/>
            </a:solidFill>
            <a:prstDash val="solid"/>
          </a:ln>
        </p:spPr>
      </p:sp>
      <p:sp>
        <p:nvSpPr>
          <p:cNvPr id="18" name="Text 15"/>
          <p:cNvSpPr/>
          <p:nvPr/>
        </p:nvSpPr>
        <p:spPr>
          <a:xfrm>
            <a:off x="3246120" y="4800600"/>
            <a:ext cx="2633472" cy="201168"/>
          </a:xfrm>
          <a:prstGeom prst="rect">
            <a:avLst/>
          </a:prstGeom>
          <a:noFill/>
          <a:ln/>
        </p:spPr>
        <p:txBody>
          <a:bodyPr wrap="square" lIns="0" tIns="0" rIns="0" bIns="0" rtlCol="0" anchor="ctr"/>
          <a:lstStyle/>
          <a:p>
            <a:pPr marL="0" indent="0">
              <a:buNone/>
            </a:pPr>
            <a:r>
              <a:rPr lang="en-US" sz="700" dirty="0">
                <a:solidFill>
                  <a:srgbClr val="FFFFFF"/>
                </a:solidFill>
                <a:latin typeface="Calibri" pitchFamily="34" charset="0"/>
                <a:ea typeface="Calibri" pitchFamily="34" charset="-122"/>
                <a:cs typeface="Calibri" pitchFamily="34" charset="-120"/>
              </a:rPr>
              <a:t>SD4 (Week After): Best models achieve 0.58–0.63. This validates that ML models avoid lag-7 contamination from holidays.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Text 1"/>
          <p:cNvSpPr/>
          <p:nvPr/>
        </p:nvSpPr>
        <p:spPr>
          <a:xfrm>
            <a:off x="274320" y="91440"/>
            <a:ext cx="77724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Complete Results Table — MAE &amp; MASE All Models</a:t>
            </a:r>
            <a:endParaRPr lang="en-US" sz="2000" dirty="0"/>
          </a:p>
        </p:txBody>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lgn="r">
              <a:buNone/>
            </a:pPr>
            <a:r>
              <a:rPr lang="en-US" sz="1100" i="1" dirty="0">
                <a:solidFill>
                  <a:srgbClr val="14A9AE"/>
                </a:solidFill>
                <a:latin typeface="Calibri" pitchFamily="34" charset="0"/>
                <a:ea typeface="Calibri" pitchFamily="34" charset="-122"/>
                <a:cs typeface="Calibri" pitchFamily="34" charset="-120"/>
              </a:rPr>
              <a:t>Numerical values from CSV results files</a:t>
            </a:r>
            <a:endParaRPr lang="en-US" sz="1100" dirty="0"/>
          </a:p>
        </p:txBody>
      </p:sp>
      <p:sp>
        <p:nvSpPr>
          <p:cNvPr id="5" name="Shape 3"/>
          <p:cNvSpPr/>
          <p:nvPr/>
        </p:nvSpPr>
        <p:spPr>
          <a:xfrm>
            <a:off x="0" y="685800"/>
            <a:ext cx="9144000" cy="54864"/>
          </a:xfrm>
          <a:prstGeom prst="rect">
            <a:avLst/>
          </a:prstGeom>
          <a:solidFill>
            <a:srgbClr val="0D7377"/>
          </a:solidFill>
          <a:ln w="12700">
            <a:solidFill>
              <a:srgbClr val="0D7377"/>
            </a:solidFill>
            <a:prstDash val="solid"/>
          </a:ln>
        </p:spPr>
      </p:sp>
      <p:sp>
        <p:nvSpPr>
          <p:cNvPr id="6" name="Shape 4"/>
          <p:cNvSpPr/>
          <p:nvPr/>
        </p:nvSpPr>
        <p:spPr>
          <a:xfrm>
            <a:off x="274320" y="804672"/>
            <a:ext cx="8595360" cy="228600"/>
          </a:xfrm>
          <a:prstGeom prst="rect">
            <a:avLst/>
          </a:prstGeom>
          <a:solidFill>
            <a:srgbClr val="1A2B4A"/>
          </a:solidFill>
          <a:ln w="12700">
            <a:solidFill>
              <a:srgbClr val="1A2B4A"/>
            </a:solidFill>
            <a:prstDash val="solid"/>
          </a:ln>
        </p:spPr>
      </p:sp>
      <p:sp>
        <p:nvSpPr>
          <p:cNvPr id="7" name="Text 5"/>
          <p:cNvSpPr/>
          <p:nvPr/>
        </p:nvSpPr>
        <p:spPr>
          <a:xfrm>
            <a:off x="274320" y="804672"/>
            <a:ext cx="859536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MAE (Mean Absolute Error) — Lower is Better</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74320" y="1051560"/>
          <a:ext cx="7863840" cy="1536192"/>
        </p:xfrm>
        <a:graphic>
          <a:graphicData uri="http://schemas.openxmlformats.org/drawingml/2006/table">
            <a:tbl>
              <a:tblPr/>
              <a:tblGrid>
                <a:gridCol w="5943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gridCol w="868680">
                  <a:extLst>
                    <a:ext uri="{9D8B030D-6E8A-4147-A177-3AD203B41FA5}">
                      <a16:colId xmlns:a16="http://schemas.microsoft.com/office/drawing/2014/main" val="20007"/>
                    </a:ext>
                  </a:extLst>
                </a:gridCol>
                <a:gridCol w="777240">
                  <a:extLst>
                    <a:ext uri="{9D8B030D-6E8A-4147-A177-3AD203B41FA5}">
                      <a16:colId xmlns:a16="http://schemas.microsoft.com/office/drawing/2014/main" val="20008"/>
                    </a:ext>
                  </a:extLst>
                </a:gridCol>
                <a:gridCol w="868680">
                  <a:extLst>
                    <a:ext uri="{9D8B030D-6E8A-4147-A177-3AD203B41FA5}">
                      <a16:colId xmlns:a16="http://schemas.microsoft.com/office/drawing/2014/main" val="20009"/>
                    </a:ext>
                  </a:extLst>
                </a:gridCol>
              </a:tblGrid>
              <a:tr h="219456">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SD Type</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S-Naive</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S-Naive-Std</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S-Median</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LIN-REG</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LightGBM ★</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D1FAE5"/>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MLP-REG</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MLP-CL(med)</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LSTM-REG</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LSTM-CL(med)</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extLst>
                  <a:ext uri="{0D108BD9-81ED-4DB2-BD59-A6C34878D82A}">
                    <a16:rowId xmlns:a16="http://schemas.microsoft.com/office/drawing/2014/main" val="10000"/>
                  </a:ext>
                </a:extLst>
              </a:tr>
              <a:tr h="219456">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SD0</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2,115</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1,380</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1,228</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682</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b="1" dirty="0">
                          <a:solidFill>
                            <a:srgbClr val="065F46"/>
                          </a:solidFill>
                          <a:latin typeface="Calibri" pitchFamily="34" charset="0"/>
                          <a:ea typeface="Calibri" pitchFamily="34" charset="-122"/>
                          <a:cs typeface="Calibri" pitchFamily="34" charset="-120"/>
                        </a:rPr>
                        <a:t>572</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692</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727</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757</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743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SD1</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1,538</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875</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721</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553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b="1" dirty="0">
                          <a:solidFill>
                            <a:srgbClr val="065F46"/>
                          </a:solidFill>
                          <a:latin typeface="Calibri" pitchFamily="34" charset="0"/>
                          <a:ea typeface="Calibri" pitchFamily="34" charset="-122"/>
                          <a:cs typeface="Calibri" pitchFamily="34" charset="-120"/>
                        </a:rPr>
                        <a:t>183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755</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607</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1,390</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743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SD2</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2,522</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2,065</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2,012</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1,200</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b="1" dirty="0">
                          <a:solidFill>
                            <a:srgbClr val="065F46"/>
                          </a:solidFill>
                          <a:latin typeface="Calibri" pitchFamily="34" charset="0"/>
                          <a:ea typeface="Calibri" pitchFamily="34" charset="-122"/>
                          <a:cs typeface="Calibri" pitchFamily="34" charset="-120"/>
                        </a:rPr>
                        <a:t>1,045</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1,001</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924</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1,074</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1,210</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SD3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1,727</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1,043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1,031</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1,009</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b="1" dirty="0">
                          <a:solidFill>
                            <a:srgbClr val="065F46"/>
                          </a:solidFill>
                          <a:latin typeface="Calibri" pitchFamily="34" charset="0"/>
                          <a:ea typeface="Calibri" pitchFamily="34" charset="-122"/>
                          <a:cs typeface="Calibri" pitchFamily="34" charset="-120"/>
                        </a:rPr>
                        <a:t>669</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935</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843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974</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993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4"/>
                  </a:ext>
                </a:extLst>
              </a:tr>
              <a:tr h="219456">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SD4</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1,823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1,767</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992</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781</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b="1" dirty="0">
                          <a:solidFill>
                            <a:srgbClr val="065F46"/>
                          </a:solidFill>
                          <a:latin typeface="Calibri" pitchFamily="34" charset="0"/>
                          <a:ea typeface="Calibri" pitchFamily="34" charset="-122"/>
                          <a:cs typeface="Calibri" pitchFamily="34" charset="-120"/>
                        </a:rPr>
                        <a:t>578</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604</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627</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945</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784</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5"/>
                  </a:ext>
                </a:extLst>
              </a:tr>
              <a:tr h="219456">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Overall</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2,100</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1,426</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1,249</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735</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b="1" dirty="0">
                          <a:solidFill>
                            <a:srgbClr val="065F46"/>
                          </a:solidFill>
                          <a:latin typeface="Calibri" pitchFamily="34" charset="0"/>
                          <a:ea typeface="Calibri" pitchFamily="34" charset="-122"/>
                          <a:cs typeface="Calibri" pitchFamily="34" charset="-120"/>
                        </a:rPr>
                        <a:t>605</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D1FAE5"/>
                    </a:solidFill>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718</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738</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802</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786</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9" name="Shape 6"/>
          <p:cNvSpPr/>
          <p:nvPr/>
        </p:nvSpPr>
        <p:spPr>
          <a:xfrm>
            <a:off x="274320" y="2651760"/>
            <a:ext cx="8595360" cy="228600"/>
          </a:xfrm>
          <a:prstGeom prst="rect">
            <a:avLst/>
          </a:prstGeom>
          <a:solidFill>
            <a:srgbClr val="0D7377"/>
          </a:solidFill>
          <a:ln w="12700">
            <a:solidFill>
              <a:srgbClr val="0D7377"/>
            </a:solidFill>
            <a:prstDash val="solid"/>
          </a:ln>
        </p:spPr>
      </p:sp>
      <p:sp>
        <p:nvSpPr>
          <p:cNvPr id="10" name="Text 7"/>
          <p:cNvSpPr/>
          <p:nvPr/>
        </p:nvSpPr>
        <p:spPr>
          <a:xfrm>
            <a:off x="274320" y="2651760"/>
            <a:ext cx="859536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MASE (Seasonal Mean Absolute Scaled Error) — Lower is Better  |  &lt; 1.0 = Beats Seasonal Naive</a:t>
            </a:r>
            <a:endParaRPr lang="en-US" sz="9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274320" y="2898648"/>
          <a:ext cx="7818120" cy="1536192"/>
        </p:xfrm>
        <a:graphic>
          <a:graphicData uri="http://schemas.openxmlformats.org/drawingml/2006/table">
            <a:tbl>
              <a:tblPr/>
              <a:tblGrid>
                <a:gridCol w="5943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868680">
                  <a:extLst>
                    <a:ext uri="{9D8B030D-6E8A-4147-A177-3AD203B41FA5}">
                      <a16:colId xmlns:a16="http://schemas.microsoft.com/office/drawing/2014/main" val="20008"/>
                    </a:ext>
                  </a:extLst>
                </a:gridCol>
                <a:gridCol w="822960">
                  <a:extLst>
                    <a:ext uri="{9D8B030D-6E8A-4147-A177-3AD203B41FA5}">
                      <a16:colId xmlns:a16="http://schemas.microsoft.com/office/drawing/2014/main" val="20009"/>
                    </a:ext>
                  </a:extLst>
                </a:gridCol>
              </a:tblGrid>
              <a:tr h="219456">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SD Type</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S-Naive</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S-Median</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LIN-REG</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LightGBM ★</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D1FAE5"/>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MLP-REG</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MLP-CL(max)</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MLP-CL(med)</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LSTM-CL(max)</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LSTM-CL(med)</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E8ECF1"/>
                    </a:solidFill>
                  </a:tcPr>
                </a:tc>
                <a:extLst>
                  <a:ext uri="{0D108BD9-81ED-4DB2-BD59-A6C34878D82A}">
                    <a16:rowId xmlns:a16="http://schemas.microsoft.com/office/drawing/2014/main" val="10000"/>
                  </a:ext>
                </a:extLst>
              </a:tr>
              <a:tr h="219456">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SD0</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0.956</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0.555</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0.308</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b="1" dirty="0">
                          <a:solidFill>
                            <a:srgbClr val="065F46"/>
                          </a:solidFill>
                          <a:latin typeface="Calibri" pitchFamily="34" charset="0"/>
                          <a:ea typeface="Calibri" pitchFamily="34" charset="-122"/>
                          <a:cs typeface="Calibri" pitchFamily="34" charset="-120"/>
                        </a:rPr>
                        <a:t>0.259</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0.311</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0.362</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0.327</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0.377</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0.334</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SD1</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0.695</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0.326</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0.250</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b="1" dirty="0">
                          <a:solidFill>
                            <a:srgbClr val="065F46"/>
                          </a:solidFill>
                          <a:latin typeface="Calibri" pitchFamily="34" charset="0"/>
                          <a:ea typeface="Calibri" pitchFamily="34" charset="-122"/>
                          <a:cs typeface="Calibri" pitchFamily="34" charset="-120"/>
                        </a:rPr>
                        <a:t>0.083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0.339</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0.337</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0.273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0.425</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0.334</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SD2</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b="1" dirty="0">
                          <a:solidFill>
                            <a:srgbClr val="C0392B"/>
                          </a:solidFill>
                          <a:latin typeface="Calibri" pitchFamily="34" charset="0"/>
                          <a:ea typeface="Calibri" pitchFamily="34" charset="-122"/>
                          <a:cs typeface="Calibri" pitchFamily="34" charset="-120"/>
                        </a:rPr>
                        <a:t>1.140</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0.910</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0.543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0.472</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0.450</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0.443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0.416</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0.549</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0.544</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SD3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0.781</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0.466</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0.456</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b="1" dirty="0">
                          <a:solidFill>
                            <a:srgbClr val="065F46"/>
                          </a:solidFill>
                          <a:latin typeface="Calibri" pitchFamily="34" charset="0"/>
                          <a:ea typeface="Calibri" pitchFamily="34" charset="-122"/>
                          <a:cs typeface="Calibri" pitchFamily="34" charset="-120"/>
                        </a:rPr>
                        <a:t>0.303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0.420</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0.424</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0.379</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0.514</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0.446</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4"/>
                  </a:ext>
                </a:extLst>
              </a:tr>
              <a:tr h="219456">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SD4</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0.824</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0.448</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0.353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0.261</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0.272</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0.314</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0.282</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0.363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0.353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5"/>
                  </a:ext>
                </a:extLst>
              </a:tr>
              <a:tr h="219456">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Overall</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0.949</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0.565</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0.332</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b="1" dirty="0">
                          <a:solidFill>
                            <a:srgbClr val="065F46"/>
                          </a:solidFill>
                          <a:latin typeface="Calibri" pitchFamily="34" charset="0"/>
                          <a:ea typeface="Calibri" pitchFamily="34" charset="-122"/>
                          <a:cs typeface="Calibri" pitchFamily="34" charset="-120"/>
                        </a:rPr>
                        <a:t>0.273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D1FAE5"/>
                    </a:solidFill>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0.323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0.367</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b="1" dirty="0">
                          <a:solidFill>
                            <a:srgbClr val="3D5166"/>
                          </a:solidFill>
                          <a:latin typeface="Calibri" pitchFamily="34" charset="0"/>
                          <a:ea typeface="Calibri" pitchFamily="34" charset="-122"/>
                          <a:cs typeface="Calibri" pitchFamily="34" charset="-120"/>
                        </a:rPr>
                        <a:t>0.332</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0.394</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tc>
                  <a:txBody>
                    <a:bodyPr/>
                    <a:lstStyle/>
                    <a:p>
                      <a:pPr marL="0" indent="0" algn="ctr">
                        <a:buNone/>
                      </a:pPr>
                      <a:r>
                        <a:rPr lang="en-US" sz="800" dirty="0">
                          <a:solidFill>
                            <a:srgbClr val="3D5166"/>
                          </a:solidFill>
                          <a:latin typeface="Calibri" pitchFamily="34" charset="0"/>
                          <a:ea typeface="Calibri" pitchFamily="34" charset="-122"/>
                          <a:cs typeface="Calibri" pitchFamily="34" charset="-120"/>
                        </a:rPr>
                        <a:t>0.353</a:t>
                      </a:r>
                      <a:endParaRPr lang="en-US" sz="8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2" name="Shape 8"/>
          <p:cNvSpPr/>
          <p:nvPr/>
        </p:nvSpPr>
        <p:spPr>
          <a:xfrm>
            <a:off x="274320" y="4462272"/>
            <a:ext cx="8595360" cy="502920"/>
          </a:xfrm>
          <a:prstGeom prst="rect">
            <a:avLst/>
          </a:prstGeom>
          <a:solidFill>
            <a:srgbClr val="FEF9EC"/>
          </a:solidFill>
          <a:ln w="12700">
            <a:solidFill>
              <a:srgbClr val="F0A500"/>
            </a:solidFill>
            <a:prstDash val="solid"/>
          </a:ln>
        </p:spPr>
      </p:sp>
      <p:sp>
        <p:nvSpPr>
          <p:cNvPr id="13" name="Text 9"/>
          <p:cNvSpPr/>
          <p:nvPr/>
        </p:nvSpPr>
        <p:spPr>
          <a:xfrm>
            <a:off x="365760" y="4480560"/>
            <a:ext cx="8412480" cy="457200"/>
          </a:xfrm>
          <a:prstGeom prst="rect">
            <a:avLst/>
          </a:prstGeom>
          <a:noFill/>
          <a:ln/>
        </p:spPr>
        <p:txBody>
          <a:bodyPr wrap="square" lIns="0" tIns="0" rIns="0" bIns="0" rtlCol="0" anchor="ctr"/>
          <a:lstStyle/>
          <a:p>
            <a:pPr marL="0" indent="0">
              <a:buNone/>
            </a:pPr>
            <a:r>
              <a:rPr lang="en-US" sz="800" dirty="0">
                <a:solidFill>
                  <a:srgbClr val="7A5500"/>
                </a:solidFill>
                <a:latin typeface="Calibri" pitchFamily="34" charset="0"/>
                <a:ea typeface="Calibri" pitchFamily="34" charset="-122"/>
                <a:cs typeface="Calibri" pitchFamily="34" charset="-120"/>
              </a:rPr>
              <a:t>★ MASE formula: (1/N)Σ|yₙ−ŷₙ| / [(1/|T_SD0|)Σ|yₜ−yₜ₋₇|]  ·  Denominator uses SD0 training rows ONLY  ·  SD2 row in red: S-Naive exceeds 1.0 (worse than seasonal naive!)</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B4A"/>
          </a:solidFill>
          <a:ln w="12700">
            <a:solidFill>
              <a:srgbClr val="1A2B4A"/>
            </a:solidFill>
            <a:prstDash val="solid"/>
          </a:ln>
        </p:spPr>
      </p:sp>
      <p:sp>
        <p:nvSpPr>
          <p:cNvPr id="3" name="Text 1"/>
          <p:cNvSpPr/>
          <p:nvPr/>
        </p:nvSpPr>
        <p:spPr>
          <a:xfrm>
            <a:off x="274320" y="91440"/>
            <a:ext cx="7772400" cy="50292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Paper vs Our Results — Claims Verified</a:t>
            </a:r>
            <a:endParaRPr lang="en-US" sz="2000" dirty="0"/>
          </a:p>
        </p:txBody>
      </p:sp>
      <p:sp>
        <p:nvSpPr>
          <p:cNvPr id="4" name="Text 2"/>
          <p:cNvSpPr/>
          <p:nvPr/>
        </p:nvSpPr>
        <p:spPr>
          <a:xfrm>
            <a:off x="274320" y="91440"/>
            <a:ext cx="8595360" cy="502920"/>
          </a:xfrm>
          <a:prstGeom prst="rect">
            <a:avLst/>
          </a:prstGeom>
          <a:noFill/>
          <a:ln/>
        </p:spPr>
        <p:txBody>
          <a:bodyPr wrap="square" lIns="0" tIns="0" rIns="0" bIns="0" rtlCol="0" anchor="ctr"/>
          <a:lstStyle/>
          <a:p>
            <a:pPr marL="0" indent="0" algn="r">
              <a:buNone/>
            </a:pPr>
            <a:r>
              <a:rPr lang="en-US" sz="1100" i="1" dirty="0">
                <a:solidFill>
                  <a:srgbClr val="14A9AE"/>
                </a:solidFill>
                <a:latin typeface="Calibri" pitchFamily="34" charset="0"/>
                <a:ea typeface="Calibri" pitchFamily="34" charset="-122"/>
                <a:cs typeface="Calibri" pitchFamily="34" charset="-120"/>
              </a:rPr>
              <a:t>What the paper found  ·  What we replicated  ·  What differs and why</a:t>
            </a:r>
            <a:endParaRPr lang="en-US" sz="1100" dirty="0"/>
          </a:p>
        </p:txBody>
      </p:sp>
      <p:sp>
        <p:nvSpPr>
          <p:cNvPr id="5" name="Shape 3"/>
          <p:cNvSpPr/>
          <p:nvPr/>
        </p:nvSpPr>
        <p:spPr>
          <a:xfrm>
            <a:off x="0" y="685800"/>
            <a:ext cx="9144000" cy="54864"/>
          </a:xfrm>
          <a:prstGeom prst="rect">
            <a:avLst/>
          </a:prstGeom>
          <a:solidFill>
            <a:srgbClr val="0D7377"/>
          </a:solidFill>
          <a:ln w="12700">
            <a:solidFill>
              <a:srgbClr val="0D7377"/>
            </a:solidFill>
            <a:prstDash val="solid"/>
          </a:ln>
        </p:spPr>
      </p:sp>
      <p:sp>
        <p:nvSpPr>
          <p:cNvPr id="6" name="Shape 4"/>
          <p:cNvSpPr/>
          <p:nvPr/>
        </p:nvSpPr>
        <p:spPr>
          <a:xfrm>
            <a:off x="274320" y="822960"/>
            <a:ext cx="4206240" cy="132588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7" name="Shape 5"/>
          <p:cNvSpPr/>
          <p:nvPr/>
        </p:nvSpPr>
        <p:spPr>
          <a:xfrm>
            <a:off x="3291840" y="886968"/>
            <a:ext cx="1115568" cy="237744"/>
          </a:xfrm>
          <a:prstGeom prst="rect">
            <a:avLst/>
          </a:prstGeom>
          <a:solidFill>
            <a:srgbClr val="0D7377"/>
          </a:solidFill>
          <a:ln w="12700">
            <a:solidFill>
              <a:srgbClr val="0D7377"/>
            </a:solidFill>
            <a:prstDash val="solid"/>
          </a:ln>
        </p:spPr>
      </p:sp>
      <p:sp>
        <p:nvSpPr>
          <p:cNvPr id="8" name="Text 6"/>
          <p:cNvSpPr/>
          <p:nvPr/>
        </p:nvSpPr>
        <p:spPr>
          <a:xfrm>
            <a:off x="3291840" y="886968"/>
            <a:ext cx="111556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CONFIRMED</a:t>
            </a:r>
            <a:endParaRPr lang="en-US" sz="800" dirty="0"/>
          </a:p>
        </p:txBody>
      </p:sp>
      <p:sp>
        <p:nvSpPr>
          <p:cNvPr id="9" name="Text 7"/>
          <p:cNvSpPr/>
          <p:nvPr/>
        </p:nvSpPr>
        <p:spPr>
          <a:xfrm>
            <a:off x="384048" y="886968"/>
            <a:ext cx="2852928" cy="237744"/>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Claim 1: ML beats established baselines</a:t>
            </a:r>
            <a:endParaRPr lang="en-US" sz="850" dirty="0"/>
          </a:p>
        </p:txBody>
      </p:sp>
      <p:sp>
        <p:nvSpPr>
          <p:cNvPr id="10" name="Text 8"/>
          <p:cNvSpPr/>
          <p:nvPr/>
        </p:nvSpPr>
        <p:spPr>
          <a:xfrm>
            <a:off x="384048" y="1170432"/>
            <a:ext cx="4005072" cy="347472"/>
          </a:xfrm>
          <a:prstGeom prst="rect">
            <a:avLst/>
          </a:prstGeom>
          <a:noFill/>
          <a:ln/>
        </p:spPr>
        <p:txBody>
          <a:bodyPr wrap="square" lIns="0" tIns="0" rIns="0" bIns="0" rtlCol="0" anchor="ctr"/>
          <a:lstStyle/>
          <a:p>
            <a:pPr marL="0" indent="0">
              <a:buNone/>
            </a:pPr>
            <a:r>
              <a:rPr lang="en-US" sz="800" i="1" dirty="0">
                <a:solidFill>
                  <a:srgbClr val="8896A5"/>
                </a:solidFill>
                <a:latin typeface="Calibri" pitchFamily="34" charset="0"/>
                <a:ea typeface="Calibri" pitchFamily="34" charset="-122"/>
                <a:cs typeface="Calibri" pitchFamily="34" charset="-120"/>
              </a:rPr>
              <a:t>Paper:  ANNs reduce error &gt;10–20% vs ETS with adjustments on special days</a:t>
            </a:r>
            <a:endParaRPr lang="en-US" sz="800" dirty="0"/>
          </a:p>
        </p:txBody>
      </p:sp>
      <p:sp>
        <p:nvSpPr>
          <p:cNvPr id="11" name="Text 9"/>
          <p:cNvSpPr/>
          <p:nvPr/>
        </p:nvSpPr>
        <p:spPr>
          <a:xfrm>
            <a:off x="384048" y="1517904"/>
            <a:ext cx="4005072" cy="347472"/>
          </a:xfrm>
          <a:prstGeom prst="rect">
            <a:avLst/>
          </a:prstGeom>
          <a:noFill/>
          <a:ln/>
        </p:spPr>
        <p:txBody>
          <a:bodyPr wrap="square" lIns="0" tIns="0" rIns="0" bIns="0" rtlCol="0" anchor="ctr"/>
          <a:lstStyle/>
          <a:p>
            <a:pPr marL="0" indent="0">
              <a:buNone/>
            </a:pPr>
            <a:r>
              <a:rPr lang="en-US" sz="800" b="1" dirty="0">
                <a:solidFill>
                  <a:srgbClr val="0D7377"/>
                </a:solidFill>
                <a:latin typeface="Calibri" pitchFamily="34" charset="0"/>
                <a:ea typeface="Calibri" pitchFamily="34" charset="-122"/>
                <a:cs typeface="Calibri" pitchFamily="34" charset="-120"/>
              </a:rPr>
              <a:t>Ours:   LightGBM -52%, LIN-REG -41%, MLP-CL(med) -41% vs S-Median</a:t>
            </a:r>
            <a:endParaRPr lang="en-US" sz="800" dirty="0"/>
          </a:p>
        </p:txBody>
      </p:sp>
      <p:sp>
        <p:nvSpPr>
          <p:cNvPr id="12" name="Shape 10"/>
          <p:cNvSpPr/>
          <p:nvPr/>
        </p:nvSpPr>
        <p:spPr>
          <a:xfrm>
            <a:off x="274320" y="822960"/>
            <a:ext cx="54864" cy="1325880"/>
          </a:xfrm>
          <a:prstGeom prst="rect">
            <a:avLst/>
          </a:prstGeom>
          <a:solidFill>
            <a:srgbClr val="0D7377"/>
          </a:solidFill>
          <a:ln w="12700">
            <a:solidFill>
              <a:srgbClr val="0D7377"/>
            </a:solidFill>
            <a:prstDash val="solid"/>
          </a:ln>
        </p:spPr>
      </p:sp>
      <p:sp>
        <p:nvSpPr>
          <p:cNvPr id="13" name="Shape 11"/>
          <p:cNvSpPr/>
          <p:nvPr/>
        </p:nvSpPr>
        <p:spPr>
          <a:xfrm>
            <a:off x="4709160" y="822960"/>
            <a:ext cx="4206240" cy="132588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14" name="Shape 12"/>
          <p:cNvSpPr/>
          <p:nvPr/>
        </p:nvSpPr>
        <p:spPr>
          <a:xfrm>
            <a:off x="7726680" y="886968"/>
            <a:ext cx="1115568" cy="237744"/>
          </a:xfrm>
          <a:prstGeom prst="rect">
            <a:avLst/>
          </a:prstGeom>
          <a:solidFill>
            <a:srgbClr val="0D7377"/>
          </a:solidFill>
          <a:ln w="12700">
            <a:solidFill>
              <a:srgbClr val="0D7377"/>
            </a:solidFill>
            <a:prstDash val="solid"/>
          </a:ln>
        </p:spPr>
      </p:sp>
      <p:sp>
        <p:nvSpPr>
          <p:cNvPr id="15" name="Text 13"/>
          <p:cNvSpPr/>
          <p:nvPr/>
        </p:nvSpPr>
        <p:spPr>
          <a:xfrm>
            <a:off x="7726680" y="886968"/>
            <a:ext cx="111556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CONFIRMED</a:t>
            </a:r>
            <a:endParaRPr lang="en-US" sz="800" dirty="0"/>
          </a:p>
        </p:txBody>
      </p:sp>
      <p:sp>
        <p:nvSpPr>
          <p:cNvPr id="16" name="Text 14"/>
          <p:cNvSpPr/>
          <p:nvPr/>
        </p:nvSpPr>
        <p:spPr>
          <a:xfrm>
            <a:off x="4818888" y="886968"/>
            <a:ext cx="2852928" cy="237744"/>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Claim 2: CL(median) beats CL(max)</a:t>
            </a:r>
            <a:endParaRPr lang="en-US" sz="850" dirty="0"/>
          </a:p>
        </p:txBody>
      </p:sp>
      <p:sp>
        <p:nvSpPr>
          <p:cNvPr id="17" name="Text 15"/>
          <p:cNvSpPr/>
          <p:nvPr/>
        </p:nvSpPr>
        <p:spPr>
          <a:xfrm>
            <a:off x="4818888" y="1170432"/>
            <a:ext cx="4005072" cy="347472"/>
          </a:xfrm>
          <a:prstGeom prst="rect">
            <a:avLst/>
          </a:prstGeom>
          <a:noFill/>
          <a:ln/>
        </p:spPr>
        <p:txBody>
          <a:bodyPr wrap="square" lIns="0" tIns="0" rIns="0" bIns="0" rtlCol="0" anchor="ctr"/>
          <a:lstStyle/>
          <a:p>
            <a:pPr marL="0" indent="0">
              <a:buNone/>
            </a:pPr>
            <a:r>
              <a:rPr lang="en-US" sz="800" i="1" dirty="0">
                <a:solidFill>
                  <a:srgbClr val="8896A5"/>
                </a:solidFill>
                <a:latin typeface="Calibri" pitchFamily="34" charset="0"/>
                <a:ea typeface="Calibri" pitchFamily="34" charset="-122"/>
                <a:cs typeface="Calibri" pitchFamily="34" charset="-120"/>
              </a:rPr>
              <a:t>Paper:  6–9% MASE reduction across both MLP and LSTM</a:t>
            </a:r>
            <a:endParaRPr lang="en-US" sz="800" dirty="0"/>
          </a:p>
        </p:txBody>
      </p:sp>
      <p:sp>
        <p:nvSpPr>
          <p:cNvPr id="18" name="Text 16"/>
          <p:cNvSpPr/>
          <p:nvPr/>
        </p:nvSpPr>
        <p:spPr>
          <a:xfrm>
            <a:off x="4818888" y="1517904"/>
            <a:ext cx="4005072" cy="347472"/>
          </a:xfrm>
          <a:prstGeom prst="rect">
            <a:avLst/>
          </a:prstGeom>
          <a:noFill/>
          <a:ln/>
        </p:spPr>
        <p:txBody>
          <a:bodyPr wrap="square" lIns="0" tIns="0" rIns="0" bIns="0" rtlCol="0" anchor="ctr"/>
          <a:lstStyle/>
          <a:p>
            <a:pPr marL="0" indent="0">
              <a:buNone/>
            </a:pPr>
            <a:r>
              <a:rPr lang="en-US" sz="800" b="1" dirty="0">
                <a:solidFill>
                  <a:srgbClr val="0D7377"/>
                </a:solidFill>
                <a:latin typeface="Calibri" pitchFamily="34" charset="0"/>
                <a:ea typeface="Calibri" pitchFamily="34" charset="-122"/>
                <a:cs typeface="Calibri" pitchFamily="34" charset="-120"/>
              </a:rPr>
              <a:t>Ours:   MLP: 0.332 vs 0.367 (10% gain) | LSTM: 0.353 vs 0.394 (10% gain)</a:t>
            </a:r>
            <a:endParaRPr lang="en-US" sz="800" dirty="0"/>
          </a:p>
        </p:txBody>
      </p:sp>
      <p:sp>
        <p:nvSpPr>
          <p:cNvPr id="19" name="Shape 17"/>
          <p:cNvSpPr/>
          <p:nvPr/>
        </p:nvSpPr>
        <p:spPr>
          <a:xfrm>
            <a:off x="4709160" y="822960"/>
            <a:ext cx="54864" cy="1325880"/>
          </a:xfrm>
          <a:prstGeom prst="rect">
            <a:avLst/>
          </a:prstGeom>
          <a:solidFill>
            <a:srgbClr val="0D7377"/>
          </a:solidFill>
          <a:ln w="12700">
            <a:solidFill>
              <a:srgbClr val="0D7377"/>
            </a:solidFill>
            <a:prstDash val="solid"/>
          </a:ln>
        </p:spPr>
      </p:sp>
      <p:sp>
        <p:nvSpPr>
          <p:cNvPr id="20" name="Shape 18"/>
          <p:cNvSpPr/>
          <p:nvPr/>
        </p:nvSpPr>
        <p:spPr>
          <a:xfrm>
            <a:off x="274320" y="2240280"/>
            <a:ext cx="4206240" cy="132588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21" name="Shape 19"/>
          <p:cNvSpPr/>
          <p:nvPr/>
        </p:nvSpPr>
        <p:spPr>
          <a:xfrm>
            <a:off x="3291840" y="2304288"/>
            <a:ext cx="1115568" cy="237744"/>
          </a:xfrm>
          <a:prstGeom prst="rect">
            <a:avLst/>
          </a:prstGeom>
          <a:solidFill>
            <a:srgbClr val="F0A500"/>
          </a:solidFill>
          <a:ln w="12700">
            <a:solidFill>
              <a:srgbClr val="F0A500"/>
            </a:solidFill>
            <a:prstDash val="solid"/>
          </a:ln>
        </p:spPr>
      </p:sp>
      <p:sp>
        <p:nvSpPr>
          <p:cNvPr id="22" name="Text 20"/>
          <p:cNvSpPr/>
          <p:nvPr/>
        </p:nvSpPr>
        <p:spPr>
          <a:xfrm>
            <a:off x="3291840" y="2304288"/>
            <a:ext cx="111556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PARTIAL</a:t>
            </a:r>
            <a:endParaRPr lang="en-US" sz="800" dirty="0"/>
          </a:p>
        </p:txBody>
      </p:sp>
      <p:sp>
        <p:nvSpPr>
          <p:cNvPr id="23" name="Text 21"/>
          <p:cNvSpPr/>
          <p:nvPr/>
        </p:nvSpPr>
        <p:spPr>
          <a:xfrm>
            <a:off x="384048" y="2304288"/>
            <a:ext cx="2852928" cy="237744"/>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Claim 3: LSTM beats MLP (best ANN)</a:t>
            </a:r>
            <a:endParaRPr lang="en-US" sz="850" dirty="0"/>
          </a:p>
        </p:txBody>
      </p:sp>
      <p:sp>
        <p:nvSpPr>
          <p:cNvPr id="24" name="Text 22"/>
          <p:cNvSpPr/>
          <p:nvPr/>
        </p:nvSpPr>
        <p:spPr>
          <a:xfrm>
            <a:off x="384048" y="2587752"/>
            <a:ext cx="4005072" cy="347472"/>
          </a:xfrm>
          <a:prstGeom prst="rect">
            <a:avLst/>
          </a:prstGeom>
          <a:noFill/>
          <a:ln/>
        </p:spPr>
        <p:txBody>
          <a:bodyPr wrap="square" lIns="0" tIns="0" rIns="0" bIns="0" rtlCol="0" anchor="ctr"/>
          <a:lstStyle/>
          <a:p>
            <a:pPr marL="0" indent="0">
              <a:buNone/>
            </a:pPr>
            <a:r>
              <a:rPr lang="en-US" sz="800" i="1" dirty="0">
                <a:solidFill>
                  <a:srgbClr val="8896A5"/>
                </a:solidFill>
                <a:latin typeface="Calibri" pitchFamily="34" charset="0"/>
                <a:ea typeface="Calibri" pitchFamily="34" charset="-122"/>
                <a:cs typeface="Calibri" pitchFamily="34" charset="-120"/>
              </a:rPr>
              <a:t>Paper:  LSTM-CL(median) outperforms all MLP variants on MASE</a:t>
            </a:r>
            <a:endParaRPr lang="en-US" sz="800" dirty="0"/>
          </a:p>
        </p:txBody>
      </p:sp>
      <p:sp>
        <p:nvSpPr>
          <p:cNvPr id="25" name="Text 23"/>
          <p:cNvSpPr/>
          <p:nvPr/>
        </p:nvSpPr>
        <p:spPr>
          <a:xfrm>
            <a:off x="384048" y="2935224"/>
            <a:ext cx="4005072" cy="347472"/>
          </a:xfrm>
          <a:prstGeom prst="rect">
            <a:avLst/>
          </a:prstGeom>
          <a:noFill/>
          <a:ln/>
        </p:spPr>
        <p:txBody>
          <a:bodyPr wrap="square" lIns="0" tIns="0" rIns="0" bIns="0" rtlCol="0" anchor="ctr"/>
          <a:lstStyle/>
          <a:p>
            <a:pPr marL="0" indent="0">
              <a:buNone/>
            </a:pPr>
            <a:r>
              <a:rPr lang="en-US" sz="800" b="1" dirty="0">
                <a:solidFill>
                  <a:srgbClr val="7A5500"/>
                </a:solidFill>
                <a:latin typeface="Calibri" pitchFamily="34" charset="0"/>
                <a:ea typeface="Calibri" pitchFamily="34" charset="-122"/>
                <a:cs typeface="Calibri" pitchFamily="34" charset="-120"/>
              </a:rPr>
              <a:t>Ours:   LSTM-CL(med) MASE 0.353 vs MLP-CL(med) 0.332 — MLP slightly wins overall</a:t>
            </a:r>
            <a:endParaRPr lang="en-US" sz="800" dirty="0"/>
          </a:p>
        </p:txBody>
      </p:sp>
      <p:sp>
        <p:nvSpPr>
          <p:cNvPr id="26" name="Shape 24"/>
          <p:cNvSpPr/>
          <p:nvPr/>
        </p:nvSpPr>
        <p:spPr>
          <a:xfrm>
            <a:off x="274320" y="2240280"/>
            <a:ext cx="54864" cy="1325880"/>
          </a:xfrm>
          <a:prstGeom prst="rect">
            <a:avLst/>
          </a:prstGeom>
          <a:solidFill>
            <a:srgbClr val="F0A500"/>
          </a:solidFill>
          <a:ln w="12700">
            <a:solidFill>
              <a:srgbClr val="F0A500"/>
            </a:solidFill>
            <a:prstDash val="solid"/>
          </a:ln>
        </p:spPr>
      </p:sp>
      <p:sp>
        <p:nvSpPr>
          <p:cNvPr id="27" name="Shape 25"/>
          <p:cNvSpPr/>
          <p:nvPr/>
        </p:nvSpPr>
        <p:spPr>
          <a:xfrm>
            <a:off x="4709160" y="2240280"/>
            <a:ext cx="4206240" cy="132588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28" name="Shape 26"/>
          <p:cNvSpPr/>
          <p:nvPr/>
        </p:nvSpPr>
        <p:spPr>
          <a:xfrm>
            <a:off x="7726680" y="2304288"/>
            <a:ext cx="1115568" cy="237744"/>
          </a:xfrm>
          <a:prstGeom prst="rect">
            <a:avLst/>
          </a:prstGeom>
          <a:solidFill>
            <a:srgbClr val="0D7377"/>
          </a:solidFill>
          <a:ln w="12700">
            <a:solidFill>
              <a:srgbClr val="0D7377"/>
            </a:solidFill>
            <a:prstDash val="solid"/>
          </a:ln>
        </p:spPr>
      </p:sp>
      <p:sp>
        <p:nvSpPr>
          <p:cNvPr id="29" name="Text 27"/>
          <p:cNvSpPr/>
          <p:nvPr/>
        </p:nvSpPr>
        <p:spPr>
          <a:xfrm>
            <a:off x="7726680" y="2304288"/>
            <a:ext cx="111556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CONFIRMED</a:t>
            </a:r>
            <a:endParaRPr lang="en-US" sz="800" dirty="0"/>
          </a:p>
        </p:txBody>
      </p:sp>
      <p:sp>
        <p:nvSpPr>
          <p:cNvPr id="30" name="Text 28"/>
          <p:cNvSpPr/>
          <p:nvPr/>
        </p:nvSpPr>
        <p:spPr>
          <a:xfrm>
            <a:off x="4818888" y="2304288"/>
            <a:ext cx="2852928" cy="237744"/>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Claim 4: SD2/SD3 hardest day types</a:t>
            </a:r>
            <a:endParaRPr lang="en-US" sz="850" dirty="0"/>
          </a:p>
        </p:txBody>
      </p:sp>
      <p:sp>
        <p:nvSpPr>
          <p:cNvPr id="31" name="Text 29"/>
          <p:cNvSpPr/>
          <p:nvPr/>
        </p:nvSpPr>
        <p:spPr>
          <a:xfrm>
            <a:off x="4818888" y="2587752"/>
            <a:ext cx="4005072" cy="347472"/>
          </a:xfrm>
          <a:prstGeom prst="rect">
            <a:avLst/>
          </a:prstGeom>
          <a:noFill/>
          <a:ln/>
        </p:spPr>
        <p:txBody>
          <a:bodyPr wrap="square" lIns="0" tIns="0" rIns="0" bIns="0" rtlCol="0" anchor="ctr"/>
          <a:lstStyle/>
          <a:p>
            <a:pPr marL="0" indent="0">
              <a:buNone/>
            </a:pPr>
            <a:r>
              <a:rPr lang="en-US" sz="800" i="1" dirty="0">
                <a:solidFill>
                  <a:srgbClr val="8896A5"/>
                </a:solidFill>
                <a:latin typeface="Calibri" pitchFamily="34" charset="0"/>
                <a:ea typeface="Calibri" pitchFamily="34" charset="-122"/>
                <a:cs typeface="Calibri" pitchFamily="34" charset="-120"/>
              </a:rPr>
              <a:t>Paper:  Neighboring days have &gt;30% higher error than regular days</a:t>
            </a:r>
            <a:endParaRPr lang="en-US" sz="800" dirty="0"/>
          </a:p>
        </p:txBody>
      </p:sp>
      <p:sp>
        <p:nvSpPr>
          <p:cNvPr id="32" name="Text 30"/>
          <p:cNvSpPr/>
          <p:nvPr/>
        </p:nvSpPr>
        <p:spPr>
          <a:xfrm>
            <a:off x="4818888" y="2935224"/>
            <a:ext cx="4005072" cy="347472"/>
          </a:xfrm>
          <a:prstGeom prst="rect">
            <a:avLst/>
          </a:prstGeom>
          <a:noFill/>
          <a:ln/>
        </p:spPr>
        <p:txBody>
          <a:bodyPr wrap="square" lIns="0" tIns="0" rIns="0" bIns="0" rtlCol="0" anchor="ctr"/>
          <a:lstStyle/>
          <a:p>
            <a:pPr marL="0" indent="0">
              <a:buNone/>
            </a:pPr>
            <a:r>
              <a:rPr lang="en-US" sz="800" b="1" dirty="0">
                <a:solidFill>
                  <a:srgbClr val="0D7377"/>
                </a:solidFill>
                <a:latin typeface="Calibri" pitchFamily="34" charset="0"/>
                <a:ea typeface="Calibri" pitchFamily="34" charset="-122"/>
                <a:cs typeface="Calibri" pitchFamily="34" charset="-120"/>
              </a:rPr>
              <a:t>Ours:   SD2 MAE 1,045 (LightGBM) vs SD0 MAE 572 — 83% harder. Confirmed.</a:t>
            </a:r>
            <a:endParaRPr lang="en-US" sz="800" dirty="0"/>
          </a:p>
        </p:txBody>
      </p:sp>
      <p:sp>
        <p:nvSpPr>
          <p:cNvPr id="33" name="Shape 31"/>
          <p:cNvSpPr/>
          <p:nvPr/>
        </p:nvSpPr>
        <p:spPr>
          <a:xfrm>
            <a:off x="4709160" y="2240280"/>
            <a:ext cx="54864" cy="1325880"/>
          </a:xfrm>
          <a:prstGeom prst="rect">
            <a:avLst/>
          </a:prstGeom>
          <a:solidFill>
            <a:srgbClr val="0D7377"/>
          </a:solidFill>
          <a:ln w="12700">
            <a:solidFill>
              <a:srgbClr val="0D7377"/>
            </a:solidFill>
            <a:prstDash val="solid"/>
          </a:ln>
        </p:spPr>
      </p:sp>
      <p:sp>
        <p:nvSpPr>
          <p:cNvPr id="34" name="Shape 32"/>
          <p:cNvSpPr/>
          <p:nvPr/>
        </p:nvSpPr>
        <p:spPr>
          <a:xfrm>
            <a:off x="274320" y="3657600"/>
            <a:ext cx="4206240" cy="132588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35" name="Shape 33"/>
          <p:cNvSpPr/>
          <p:nvPr/>
        </p:nvSpPr>
        <p:spPr>
          <a:xfrm>
            <a:off x="3291840" y="3721608"/>
            <a:ext cx="1115568" cy="237744"/>
          </a:xfrm>
          <a:prstGeom prst="rect">
            <a:avLst/>
          </a:prstGeom>
          <a:solidFill>
            <a:srgbClr val="0D7377"/>
          </a:solidFill>
          <a:ln w="12700">
            <a:solidFill>
              <a:srgbClr val="0D7377"/>
            </a:solidFill>
            <a:prstDash val="solid"/>
          </a:ln>
        </p:spPr>
      </p:sp>
      <p:sp>
        <p:nvSpPr>
          <p:cNvPr id="36" name="Text 34"/>
          <p:cNvSpPr/>
          <p:nvPr/>
        </p:nvSpPr>
        <p:spPr>
          <a:xfrm>
            <a:off x="3291840" y="3721608"/>
            <a:ext cx="111556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CONFIRMED</a:t>
            </a:r>
            <a:endParaRPr lang="en-US" sz="800" dirty="0"/>
          </a:p>
        </p:txBody>
      </p:sp>
      <p:sp>
        <p:nvSpPr>
          <p:cNvPr id="37" name="Text 35"/>
          <p:cNvSpPr/>
          <p:nvPr/>
        </p:nvSpPr>
        <p:spPr>
          <a:xfrm>
            <a:off x="384048" y="3721608"/>
            <a:ext cx="2852928" cy="237744"/>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Claim 5: LightGBM best on MAE</a:t>
            </a:r>
            <a:endParaRPr lang="en-US" sz="850" dirty="0"/>
          </a:p>
        </p:txBody>
      </p:sp>
      <p:sp>
        <p:nvSpPr>
          <p:cNvPr id="38" name="Text 36"/>
          <p:cNvSpPr/>
          <p:nvPr/>
        </p:nvSpPr>
        <p:spPr>
          <a:xfrm>
            <a:off x="384048" y="4005072"/>
            <a:ext cx="4005072" cy="347472"/>
          </a:xfrm>
          <a:prstGeom prst="rect">
            <a:avLst/>
          </a:prstGeom>
          <a:noFill/>
          <a:ln/>
        </p:spPr>
        <p:txBody>
          <a:bodyPr wrap="square" lIns="0" tIns="0" rIns="0" bIns="0" rtlCol="0" anchor="ctr"/>
          <a:lstStyle/>
          <a:p>
            <a:pPr marL="0" indent="0">
              <a:buNone/>
            </a:pPr>
            <a:r>
              <a:rPr lang="en-US" sz="800" i="1" dirty="0">
                <a:solidFill>
                  <a:srgbClr val="8896A5"/>
                </a:solidFill>
                <a:latin typeface="Calibri" pitchFamily="34" charset="0"/>
                <a:ea typeface="Calibri" pitchFamily="34" charset="-122"/>
                <a:cs typeface="Calibri" pitchFamily="34" charset="-120"/>
              </a:rPr>
              <a:t>Paper:  LGBM most accurate on MAE; ANNs slightly better on MASE</a:t>
            </a:r>
            <a:endParaRPr lang="en-US" sz="800" dirty="0"/>
          </a:p>
        </p:txBody>
      </p:sp>
      <p:sp>
        <p:nvSpPr>
          <p:cNvPr id="39" name="Text 37"/>
          <p:cNvSpPr/>
          <p:nvPr/>
        </p:nvSpPr>
        <p:spPr>
          <a:xfrm>
            <a:off x="384048" y="4352544"/>
            <a:ext cx="4005072" cy="347472"/>
          </a:xfrm>
          <a:prstGeom prst="rect">
            <a:avLst/>
          </a:prstGeom>
          <a:noFill/>
          <a:ln/>
        </p:spPr>
        <p:txBody>
          <a:bodyPr wrap="square" lIns="0" tIns="0" rIns="0" bIns="0" rtlCol="0" anchor="ctr"/>
          <a:lstStyle/>
          <a:p>
            <a:pPr marL="0" indent="0">
              <a:buNone/>
            </a:pPr>
            <a:r>
              <a:rPr lang="en-US" sz="800" b="1" dirty="0">
                <a:solidFill>
                  <a:srgbClr val="0D7377"/>
                </a:solidFill>
                <a:latin typeface="Calibri" pitchFamily="34" charset="0"/>
                <a:ea typeface="Calibri" pitchFamily="34" charset="-122"/>
                <a:cs typeface="Calibri" pitchFamily="34" charset="-120"/>
              </a:rPr>
              <a:t>Ours:   LightGBM MAE 605 (best). On MASE also 0.273 — beats ANNs here too.</a:t>
            </a:r>
            <a:endParaRPr lang="en-US" sz="800" dirty="0"/>
          </a:p>
        </p:txBody>
      </p:sp>
      <p:sp>
        <p:nvSpPr>
          <p:cNvPr id="40" name="Shape 38"/>
          <p:cNvSpPr/>
          <p:nvPr/>
        </p:nvSpPr>
        <p:spPr>
          <a:xfrm>
            <a:off x="274320" y="3657600"/>
            <a:ext cx="54864" cy="1325880"/>
          </a:xfrm>
          <a:prstGeom prst="rect">
            <a:avLst/>
          </a:prstGeom>
          <a:solidFill>
            <a:srgbClr val="0D7377"/>
          </a:solidFill>
          <a:ln w="12700">
            <a:solidFill>
              <a:srgbClr val="0D7377"/>
            </a:solidFill>
            <a:prstDash val="solid"/>
          </a:ln>
        </p:spPr>
      </p:sp>
      <p:sp>
        <p:nvSpPr>
          <p:cNvPr id="41" name="Shape 39"/>
          <p:cNvSpPr/>
          <p:nvPr/>
        </p:nvSpPr>
        <p:spPr>
          <a:xfrm>
            <a:off x="4709160" y="3657600"/>
            <a:ext cx="4206240" cy="1325880"/>
          </a:xfrm>
          <a:prstGeom prst="rect">
            <a:avLst/>
          </a:prstGeom>
          <a:solidFill>
            <a:srgbClr val="FFFFFF"/>
          </a:solidFill>
          <a:ln w="12700">
            <a:solidFill>
              <a:srgbClr val="E8ECF1"/>
            </a:solidFill>
            <a:prstDash val="solid"/>
          </a:ln>
          <a:effectLst>
            <a:outerShdw blurRad="76200" dist="25400" dir="8100000" algn="bl" rotWithShape="0">
              <a:srgbClr val="000000">
                <a:alpha val="12000"/>
              </a:srgbClr>
            </a:outerShdw>
          </a:effectLst>
        </p:spPr>
      </p:sp>
      <p:sp>
        <p:nvSpPr>
          <p:cNvPr id="42" name="Shape 40"/>
          <p:cNvSpPr/>
          <p:nvPr/>
        </p:nvSpPr>
        <p:spPr>
          <a:xfrm>
            <a:off x="7726680" y="3721608"/>
            <a:ext cx="1115568" cy="237744"/>
          </a:xfrm>
          <a:prstGeom prst="rect">
            <a:avLst/>
          </a:prstGeom>
          <a:solidFill>
            <a:srgbClr val="C0392B"/>
          </a:solidFill>
          <a:ln w="12700">
            <a:solidFill>
              <a:srgbClr val="C0392B"/>
            </a:solidFill>
            <a:prstDash val="solid"/>
          </a:ln>
        </p:spPr>
      </p:sp>
      <p:sp>
        <p:nvSpPr>
          <p:cNvPr id="43" name="Text 41"/>
          <p:cNvSpPr/>
          <p:nvPr/>
        </p:nvSpPr>
        <p:spPr>
          <a:xfrm>
            <a:off x="7726680" y="3721608"/>
            <a:ext cx="111556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DIFFERS</a:t>
            </a:r>
            <a:endParaRPr lang="en-US" sz="800" dirty="0"/>
          </a:p>
        </p:txBody>
      </p:sp>
      <p:sp>
        <p:nvSpPr>
          <p:cNvPr id="44" name="Text 42"/>
          <p:cNvSpPr/>
          <p:nvPr/>
        </p:nvSpPr>
        <p:spPr>
          <a:xfrm>
            <a:off x="4818888" y="3721608"/>
            <a:ext cx="2852928" cy="237744"/>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Claim 6: ANNs beat LGBM on MASE</a:t>
            </a:r>
            <a:endParaRPr lang="en-US" sz="850" dirty="0"/>
          </a:p>
        </p:txBody>
      </p:sp>
      <p:sp>
        <p:nvSpPr>
          <p:cNvPr id="45" name="Text 43"/>
          <p:cNvSpPr/>
          <p:nvPr/>
        </p:nvSpPr>
        <p:spPr>
          <a:xfrm>
            <a:off x="4818888" y="4005072"/>
            <a:ext cx="4005072" cy="347472"/>
          </a:xfrm>
          <a:prstGeom prst="rect">
            <a:avLst/>
          </a:prstGeom>
          <a:noFill/>
          <a:ln/>
        </p:spPr>
        <p:txBody>
          <a:bodyPr wrap="square" lIns="0" tIns="0" rIns="0" bIns="0" rtlCol="0" anchor="ctr"/>
          <a:lstStyle/>
          <a:p>
            <a:pPr marL="0" indent="0">
              <a:buNone/>
            </a:pPr>
            <a:r>
              <a:rPr lang="en-US" sz="800" i="1" dirty="0">
                <a:solidFill>
                  <a:srgbClr val="8896A5"/>
                </a:solidFill>
                <a:latin typeface="Calibri" pitchFamily="34" charset="0"/>
                <a:ea typeface="Calibri" pitchFamily="34" charset="-122"/>
                <a:cs typeface="Calibri" pitchFamily="34" charset="-120"/>
              </a:rPr>
              <a:t>Paper:  ANNs (LSTM-CL med) have lower MASE than LightGBM</a:t>
            </a:r>
            <a:endParaRPr lang="en-US" sz="800" dirty="0"/>
          </a:p>
        </p:txBody>
      </p:sp>
      <p:sp>
        <p:nvSpPr>
          <p:cNvPr id="46" name="Text 44"/>
          <p:cNvSpPr/>
          <p:nvPr/>
        </p:nvSpPr>
        <p:spPr>
          <a:xfrm>
            <a:off x="4818888" y="4352544"/>
            <a:ext cx="4005072" cy="347472"/>
          </a:xfrm>
          <a:prstGeom prst="rect">
            <a:avLst/>
          </a:prstGeom>
          <a:noFill/>
          <a:ln/>
        </p:spPr>
        <p:txBody>
          <a:bodyPr wrap="square" lIns="0" tIns="0" rIns="0" bIns="0" rtlCol="0" anchor="ctr"/>
          <a:lstStyle/>
          <a:p>
            <a:pPr marL="0" indent="0">
              <a:buNone/>
            </a:pPr>
            <a:r>
              <a:rPr lang="en-US" sz="800" b="1" dirty="0">
                <a:solidFill>
                  <a:srgbClr val="C0392B"/>
                </a:solidFill>
                <a:latin typeface="Calibri" pitchFamily="34" charset="0"/>
                <a:ea typeface="Calibri" pitchFamily="34" charset="-122"/>
                <a:cs typeface="Calibri" pitchFamily="34" charset="-120"/>
              </a:rPr>
              <a:t>Ours:   LightGBM MASE 0.273 &lt; all ANNs (0.332+). Opposite result.</a:t>
            </a:r>
            <a:endParaRPr lang="en-US" sz="800" dirty="0"/>
          </a:p>
        </p:txBody>
      </p:sp>
      <p:sp>
        <p:nvSpPr>
          <p:cNvPr id="47" name="Shape 45"/>
          <p:cNvSpPr/>
          <p:nvPr/>
        </p:nvSpPr>
        <p:spPr>
          <a:xfrm>
            <a:off x="4709160" y="3657600"/>
            <a:ext cx="54864" cy="1325880"/>
          </a:xfrm>
          <a:prstGeom prst="rect">
            <a:avLst/>
          </a:prstGeom>
          <a:solidFill>
            <a:srgbClr val="C0392B"/>
          </a:solidFill>
          <a:ln w="12700">
            <a:solidFill>
              <a:srgbClr val="C0392B"/>
            </a:solidFill>
            <a:prstDash val="solid"/>
          </a:ln>
        </p:spPr>
      </p:sp>
      <p:sp>
        <p:nvSpPr>
          <p:cNvPr id="48" name="Shape 46"/>
          <p:cNvSpPr/>
          <p:nvPr/>
        </p:nvSpPr>
        <p:spPr>
          <a:xfrm>
            <a:off x="274320" y="4800600"/>
            <a:ext cx="8595360" cy="292608"/>
          </a:xfrm>
          <a:prstGeom prst="rect">
            <a:avLst/>
          </a:prstGeom>
          <a:solidFill>
            <a:srgbClr val="FEF3F2"/>
          </a:solidFill>
          <a:ln w="12700">
            <a:solidFill>
              <a:srgbClr val="C0392B"/>
            </a:solidFill>
            <a:prstDash val="solid"/>
          </a:ln>
        </p:spPr>
      </p:sp>
      <p:sp>
        <p:nvSpPr>
          <p:cNvPr id="49" name="Text 47"/>
          <p:cNvSpPr/>
          <p:nvPr/>
        </p:nvSpPr>
        <p:spPr>
          <a:xfrm>
            <a:off x="365760" y="4818888"/>
            <a:ext cx="8412480" cy="256032"/>
          </a:xfrm>
          <a:prstGeom prst="rect">
            <a:avLst/>
          </a:prstGeom>
          <a:noFill/>
          <a:ln/>
        </p:spPr>
        <p:txBody>
          <a:bodyPr wrap="square" lIns="0" tIns="0" rIns="0" bIns="0" rtlCol="0" anchor="ctr"/>
          <a:lstStyle/>
          <a:p>
            <a:pPr marL="0" indent="0">
              <a:buNone/>
            </a:pPr>
            <a:r>
              <a:rPr lang="en-US" sz="780" dirty="0">
                <a:solidFill>
                  <a:srgbClr val="7B1D1D"/>
                </a:solidFill>
                <a:latin typeface="Calibri" pitchFamily="34" charset="0"/>
                <a:ea typeface="Calibri" pitchFamily="34" charset="-122"/>
                <a:cs typeface="Calibri" pitchFamily="34" charset="-120"/>
              </a:rPr>
              <a:t>Why Claim 6 differs: Paper's bakery has 141 stores with 3 years data. Rossmann has 1,115 stores with stronger heterogeneity. LightGBM's tree splits on Store_enc perfectly separate diverse stores. The LSTM's sequential advantage manifests more with longer per-store history — a dataset characteristic, not a model deficiency.</a:t>
            </a:r>
            <a:endParaRPr lang="en-US" sz="7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D7377"/>
          </a:solidFill>
          <a:ln w="12700">
            <a:solidFill>
              <a:srgbClr val="0D7377"/>
            </a:solidFill>
            <a:prstDash val="solid"/>
          </a:ln>
        </p:spPr>
      </p:sp>
      <p:sp>
        <p:nvSpPr>
          <p:cNvPr id="3" name="Shape 1"/>
          <p:cNvSpPr/>
          <p:nvPr/>
        </p:nvSpPr>
        <p:spPr>
          <a:xfrm>
            <a:off x="182880" y="0"/>
            <a:ext cx="45720" cy="5143500"/>
          </a:xfrm>
          <a:prstGeom prst="rect">
            <a:avLst/>
          </a:prstGeom>
          <a:solidFill>
            <a:srgbClr val="F0A500"/>
          </a:solidFill>
          <a:ln w="12700">
            <a:solidFill>
              <a:srgbClr val="F0A500"/>
            </a:solidFill>
            <a:prstDash val="solid"/>
          </a:ln>
        </p:spPr>
      </p:sp>
      <p:sp>
        <p:nvSpPr>
          <p:cNvPr id="4" name="Text 2"/>
          <p:cNvSpPr/>
          <p:nvPr/>
        </p:nvSpPr>
        <p:spPr>
          <a:xfrm>
            <a:off x="502920" y="502920"/>
            <a:ext cx="8321040" cy="82296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Thank You</a:t>
            </a:r>
            <a:endParaRPr lang="en-US" sz="4600" dirty="0"/>
          </a:p>
        </p:txBody>
      </p:sp>
      <p:sp>
        <p:nvSpPr>
          <p:cNvPr id="5" name="Shape 3"/>
          <p:cNvSpPr/>
          <p:nvPr/>
        </p:nvSpPr>
        <p:spPr>
          <a:xfrm>
            <a:off x="502920" y="1371600"/>
            <a:ext cx="5029200" cy="45720"/>
          </a:xfrm>
          <a:prstGeom prst="rect">
            <a:avLst/>
          </a:prstGeom>
          <a:solidFill>
            <a:srgbClr val="F0A500"/>
          </a:solidFill>
          <a:ln w="12700">
            <a:solidFill>
              <a:srgbClr val="F0A500"/>
            </a:solidFill>
            <a:prstDash val="solid"/>
          </a:ln>
        </p:spPr>
      </p:sp>
      <p:sp>
        <p:nvSpPr>
          <p:cNvPr id="6" name="Text 4"/>
          <p:cNvSpPr/>
          <p:nvPr/>
        </p:nvSpPr>
        <p:spPr>
          <a:xfrm>
            <a:off x="502920" y="1508760"/>
            <a:ext cx="8321040" cy="411480"/>
          </a:xfrm>
          <a:prstGeom prst="rect">
            <a:avLst/>
          </a:prstGeom>
          <a:noFill/>
          <a:ln/>
        </p:spPr>
        <p:txBody>
          <a:bodyPr wrap="square" lIns="0" tIns="0" rIns="0" bIns="0" rtlCol="0" anchor="ctr"/>
          <a:lstStyle/>
          <a:p>
            <a:pPr marL="0" indent="0">
              <a:buNone/>
            </a:pPr>
            <a:r>
              <a:rPr lang="en-US" sz="1800" i="1" dirty="0">
                <a:solidFill>
                  <a:srgbClr val="14A9AE"/>
                </a:solidFill>
                <a:latin typeface="Calibri" pitchFamily="34" charset="0"/>
                <a:ea typeface="Calibri" pitchFamily="34" charset="-122"/>
                <a:cs typeface="Calibri" pitchFamily="34" charset="-120"/>
              </a:rPr>
              <a:t>Questions &amp; Discussion</a:t>
            </a:r>
            <a:endParaRPr lang="en-US" sz="1800" dirty="0"/>
          </a:p>
        </p:txBody>
      </p:sp>
      <p:sp>
        <p:nvSpPr>
          <p:cNvPr id="7" name="Shape 5"/>
          <p:cNvSpPr/>
          <p:nvPr/>
        </p:nvSpPr>
        <p:spPr>
          <a:xfrm>
            <a:off x="502920" y="2103120"/>
            <a:ext cx="1920240" cy="960120"/>
          </a:xfrm>
          <a:prstGeom prst="rect">
            <a:avLst/>
          </a:prstGeom>
          <a:solidFill>
            <a:srgbClr val="0D7377"/>
          </a:solidFill>
          <a:ln w="12700">
            <a:solidFill>
              <a:srgbClr val="0D7377"/>
            </a:solidFill>
            <a:prstDash val="solid"/>
          </a:ln>
          <a:effectLst>
            <a:outerShdw blurRad="76200" dist="25400" dir="8100000" algn="bl" rotWithShape="0">
              <a:srgbClr val="000000">
                <a:alpha val="12000"/>
              </a:srgbClr>
            </a:outerShdw>
          </a:effectLst>
        </p:spPr>
      </p:sp>
      <p:sp>
        <p:nvSpPr>
          <p:cNvPr id="8" name="Text 6"/>
          <p:cNvSpPr/>
          <p:nvPr/>
        </p:nvSpPr>
        <p:spPr>
          <a:xfrm>
            <a:off x="502920" y="2148840"/>
            <a:ext cx="1920240" cy="528066"/>
          </a:xfrm>
          <a:prstGeom prst="rect">
            <a:avLst/>
          </a:prstGeom>
          <a:noFill/>
          <a:ln/>
        </p:spPr>
        <p:txBody>
          <a:bodyPr wrap="square" lIns="0" tIns="0" rIns="0" bIns="0" rtlCol="0" anchor="b"/>
          <a:lstStyle/>
          <a:p>
            <a:pPr marL="0" indent="0" algn="ctr">
              <a:buNone/>
            </a:pPr>
            <a:r>
              <a:rPr lang="en-US" sz="2600" b="1" dirty="0">
                <a:solidFill>
                  <a:srgbClr val="FFFFFF"/>
                </a:solidFill>
                <a:latin typeface="Calibri" pitchFamily="34" charset="0"/>
                <a:ea typeface="Calibri" pitchFamily="34" charset="-122"/>
                <a:cs typeface="Calibri" pitchFamily="34" charset="-120"/>
              </a:rPr>
              <a:t>11</a:t>
            </a:r>
            <a:endParaRPr lang="en-US" sz="2600" dirty="0"/>
          </a:p>
        </p:txBody>
      </p:sp>
      <p:sp>
        <p:nvSpPr>
          <p:cNvPr id="9" name="Text 7"/>
          <p:cNvSpPr/>
          <p:nvPr/>
        </p:nvSpPr>
        <p:spPr>
          <a:xfrm>
            <a:off x="502920" y="2631186"/>
            <a:ext cx="1920240" cy="384048"/>
          </a:xfrm>
          <a:prstGeom prst="rect">
            <a:avLst/>
          </a:prstGeom>
          <a:noFill/>
          <a:ln/>
        </p:spPr>
        <p:txBody>
          <a:bodyPr wrap="square" lIns="0" tIns="0" rIns="0" bIns="0" rtlCol="0" anchor="t"/>
          <a:lstStyle/>
          <a:p>
            <a:pPr marL="0" indent="0" algn="ctr">
              <a:buNone/>
            </a:pPr>
            <a:r>
              <a:rPr lang="en-US" sz="900" dirty="0">
                <a:solidFill>
                  <a:srgbClr val="14A9AE"/>
                </a:solidFill>
                <a:latin typeface="Calibri" pitchFamily="34" charset="0"/>
                <a:ea typeface="Calibri" pitchFamily="34" charset="-122"/>
                <a:cs typeface="Calibri" pitchFamily="34" charset="-120"/>
              </a:rPr>
              <a:t>Models evaluated</a:t>
            </a:r>
            <a:endParaRPr lang="en-US" sz="900" dirty="0"/>
          </a:p>
        </p:txBody>
      </p:sp>
      <p:sp>
        <p:nvSpPr>
          <p:cNvPr id="10" name="Shape 8"/>
          <p:cNvSpPr/>
          <p:nvPr/>
        </p:nvSpPr>
        <p:spPr>
          <a:xfrm>
            <a:off x="2624328" y="2103120"/>
            <a:ext cx="1920240" cy="960120"/>
          </a:xfrm>
          <a:prstGeom prst="rect">
            <a:avLst/>
          </a:prstGeom>
          <a:solidFill>
            <a:srgbClr val="0A5C72"/>
          </a:solidFill>
          <a:ln w="12700">
            <a:solidFill>
              <a:srgbClr val="0A5C72"/>
            </a:solidFill>
            <a:prstDash val="solid"/>
          </a:ln>
          <a:effectLst>
            <a:outerShdw blurRad="76200" dist="25400" dir="8100000" algn="bl" rotWithShape="0">
              <a:srgbClr val="000000">
                <a:alpha val="12000"/>
              </a:srgbClr>
            </a:outerShdw>
          </a:effectLst>
        </p:spPr>
      </p:sp>
      <p:sp>
        <p:nvSpPr>
          <p:cNvPr id="11" name="Text 9"/>
          <p:cNvSpPr/>
          <p:nvPr/>
        </p:nvSpPr>
        <p:spPr>
          <a:xfrm>
            <a:off x="2624328" y="2148840"/>
            <a:ext cx="1920240" cy="528066"/>
          </a:xfrm>
          <a:prstGeom prst="rect">
            <a:avLst/>
          </a:prstGeom>
          <a:noFill/>
          <a:ln/>
        </p:spPr>
        <p:txBody>
          <a:bodyPr wrap="square" lIns="0" tIns="0" rIns="0" bIns="0" rtlCol="0" anchor="b"/>
          <a:lstStyle/>
          <a:p>
            <a:pPr marL="0" indent="0" algn="ctr">
              <a:buNone/>
            </a:pPr>
            <a:r>
              <a:rPr lang="en-US" sz="2600" b="1" dirty="0">
                <a:solidFill>
                  <a:srgbClr val="FFFFFF"/>
                </a:solidFill>
                <a:latin typeface="Calibri" pitchFamily="34" charset="0"/>
                <a:ea typeface="Calibri" pitchFamily="34" charset="-122"/>
                <a:cs typeface="Calibri" pitchFamily="34" charset="-120"/>
              </a:rPr>
              <a:t>844K</a:t>
            </a:r>
            <a:endParaRPr lang="en-US" sz="2600" dirty="0"/>
          </a:p>
        </p:txBody>
      </p:sp>
      <p:sp>
        <p:nvSpPr>
          <p:cNvPr id="12" name="Text 10"/>
          <p:cNvSpPr/>
          <p:nvPr/>
        </p:nvSpPr>
        <p:spPr>
          <a:xfrm>
            <a:off x="2624328" y="2631186"/>
            <a:ext cx="1920240" cy="384048"/>
          </a:xfrm>
          <a:prstGeom prst="rect">
            <a:avLst/>
          </a:prstGeom>
          <a:noFill/>
          <a:ln/>
        </p:spPr>
        <p:txBody>
          <a:bodyPr wrap="square" lIns="0" tIns="0" rIns="0" bIns="0" rtlCol="0" anchor="t"/>
          <a:lstStyle/>
          <a:p>
            <a:pPr marL="0" indent="0" algn="ctr">
              <a:buNone/>
            </a:pPr>
            <a:r>
              <a:rPr lang="en-US" sz="900" dirty="0">
                <a:solidFill>
                  <a:srgbClr val="14A9AE"/>
                </a:solidFill>
                <a:latin typeface="Calibri" pitchFamily="34" charset="0"/>
                <a:ea typeface="Calibri" pitchFamily="34" charset="-122"/>
                <a:cs typeface="Calibri" pitchFamily="34" charset="-120"/>
              </a:rPr>
              <a:t>Training observations</a:t>
            </a:r>
            <a:endParaRPr lang="en-US" sz="900" dirty="0"/>
          </a:p>
        </p:txBody>
      </p:sp>
      <p:sp>
        <p:nvSpPr>
          <p:cNvPr id="13" name="Shape 11"/>
          <p:cNvSpPr/>
          <p:nvPr/>
        </p:nvSpPr>
        <p:spPr>
          <a:xfrm>
            <a:off x="4745736" y="2103120"/>
            <a:ext cx="1920240" cy="960120"/>
          </a:xfrm>
          <a:prstGeom prst="rect">
            <a:avLst/>
          </a:prstGeom>
          <a:solidFill>
            <a:srgbClr val="0D7377"/>
          </a:solidFill>
          <a:ln w="12700">
            <a:solidFill>
              <a:srgbClr val="0D7377"/>
            </a:solidFill>
            <a:prstDash val="solid"/>
          </a:ln>
          <a:effectLst>
            <a:outerShdw blurRad="76200" dist="25400" dir="8100000" algn="bl" rotWithShape="0">
              <a:srgbClr val="000000">
                <a:alpha val="12000"/>
              </a:srgbClr>
            </a:outerShdw>
          </a:effectLst>
        </p:spPr>
      </p:sp>
      <p:sp>
        <p:nvSpPr>
          <p:cNvPr id="14" name="Text 12"/>
          <p:cNvSpPr/>
          <p:nvPr/>
        </p:nvSpPr>
        <p:spPr>
          <a:xfrm>
            <a:off x="4745736" y="2148840"/>
            <a:ext cx="1920240" cy="528066"/>
          </a:xfrm>
          <a:prstGeom prst="rect">
            <a:avLst/>
          </a:prstGeom>
          <a:noFill/>
          <a:ln/>
        </p:spPr>
        <p:txBody>
          <a:bodyPr wrap="square" lIns="0" tIns="0" rIns="0" bIns="0" rtlCol="0" anchor="b"/>
          <a:lstStyle/>
          <a:p>
            <a:pPr marL="0" indent="0" algn="ctr">
              <a:buNone/>
            </a:pPr>
            <a:r>
              <a:rPr lang="en-US" sz="2600" b="1" dirty="0">
                <a:solidFill>
                  <a:srgbClr val="FFFFFF"/>
                </a:solidFill>
                <a:latin typeface="Calibri" pitchFamily="34" charset="0"/>
                <a:ea typeface="Calibri" pitchFamily="34" charset="-122"/>
                <a:cs typeface="Calibri" pitchFamily="34" charset="-120"/>
              </a:rPr>
              <a:t>42</a:t>
            </a:r>
            <a:endParaRPr lang="en-US" sz="2600" dirty="0"/>
          </a:p>
        </p:txBody>
      </p:sp>
      <p:sp>
        <p:nvSpPr>
          <p:cNvPr id="15" name="Text 13"/>
          <p:cNvSpPr/>
          <p:nvPr/>
        </p:nvSpPr>
        <p:spPr>
          <a:xfrm>
            <a:off x="4745736" y="2631186"/>
            <a:ext cx="1920240" cy="384048"/>
          </a:xfrm>
          <a:prstGeom prst="rect">
            <a:avLst/>
          </a:prstGeom>
          <a:noFill/>
          <a:ln/>
        </p:spPr>
        <p:txBody>
          <a:bodyPr wrap="square" lIns="0" tIns="0" rIns="0" bIns="0" rtlCol="0" anchor="t"/>
          <a:lstStyle/>
          <a:p>
            <a:pPr marL="0" indent="0" algn="ctr">
              <a:buNone/>
            </a:pPr>
            <a:r>
              <a:rPr lang="en-US" sz="900" dirty="0">
                <a:solidFill>
                  <a:srgbClr val="14A9AE"/>
                </a:solidFill>
                <a:latin typeface="Calibri" pitchFamily="34" charset="0"/>
                <a:ea typeface="Calibri" pitchFamily="34" charset="-122"/>
                <a:cs typeface="Calibri" pitchFamily="34" charset="-120"/>
              </a:rPr>
              <a:t>Engineered features</a:t>
            </a:r>
            <a:endParaRPr lang="en-US" sz="900" dirty="0"/>
          </a:p>
        </p:txBody>
      </p:sp>
      <p:sp>
        <p:nvSpPr>
          <p:cNvPr id="16" name="Shape 14"/>
          <p:cNvSpPr/>
          <p:nvPr/>
        </p:nvSpPr>
        <p:spPr>
          <a:xfrm>
            <a:off x="6867144" y="2103120"/>
            <a:ext cx="1920240" cy="960120"/>
          </a:xfrm>
          <a:prstGeom prst="rect">
            <a:avLst/>
          </a:prstGeom>
          <a:solidFill>
            <a:srgbClr val="0A5C72"/>
          </a:solidFill>
          <a:ln w="12700">
            <a:solidFill>
              <a:srgbClr val="0A5C72"/>
            </a:solidFill>
            <a:prstDash val="solid"/>
          </a:ln>
          <a:effectLst>
            <a:outerShdw blurRad="76200" dist="25400" dir="8100000" algn="bl" rotWithShape="0">
              <a:srgbClr val="000000">
                <a:alpha val="12000"/>
              </a:srgbClr>
            </a:outerShdw>
          </a:effectLst>
        </p:spPr>
      </p:sp>
      <p:sp>
        <p:nvSpPr>
          <p:cNvPr id="17" name="Text 15"/>
          <p:cNvSpPr/>
          <p:nvPr/>
        </p:nvSpPr>
        <p:spPr>
          <a:xfrm>
            <a:off x="6867144" y="2148840"/>
            <a:ext cx="1920240" cy="528066"/>
          </a:xfrm>
          <a:prstGeom prst="rect">
            <a:avLst/>
          </a:prstGeom>
          <a:noFill/>
          <a:ln/>
        </p:spPr>
        <p:txBody>
          <a:bodyPr wrap="square" lIns="0" tIns="0" rIns="0" bIns="0" rtlCol="0" anchor="b"/>
          <a:lstStyle/>
          <a:p>
            <a:pPr marL="0" indent="0" algn="ctr">
              <a:buNone/>
            </a:pPr>
            <a:r>
              <a:rPr lang="en-US" sz="2600" b="1" dirty="0">
                <a:solidFill>
                  <a:srgbClr val="FFFFFF"/>
                </a:solidFill>
                <a:latin typeface="Calibri" pitchFamily="34" charset="0"/>
                <a:ea typeface="Calibri" pitchFamily="34" charset="-122"/>
                <a:cs typeface="Calibri" pitchFamily="34" charset="-120"/>
              </a:rPr>
              <a:t>52%</a:t>
            </a:r>
            <a:endParaRPr lang="en-US" sz="2600" dirty="0"/>
          </a:p>
        </p:txBody>
      </p:sp>
      <p:sp>
        <p:nvSpPr>
          <p:cNvPr id="18" name="Text 16"/>
          <p:cNvSpPr/>
          <p:nvPr/>
        </p:nvSpPr>
        <p:spPr>
          <a:xfrm>
            <a:off x="6867144" y="2631186"/>
            <a:ext cx="1920240" cy="384048"/>
          </a:xfrm>
          <a:prstGeom prst="rect">
            <a:avLst/>
          </a:prstGeom>
          <a:noFill/>
          <a:ln/>
        </p:spPr>
        <p:txBody>
          <a:bodyPr wrap="square" lIns="0" tIns="0" rIns="0" bIns="0" rtlCol="0" anchor="t"/>
          <a:lstStyle/>
          <a:p>
            <a:pPr marL="0" indent="0" algn="ctr">
              <a:buNone/>
            </a:pPr>
            <a:r>
              <a:rPr lang="en-US" sz="900" dirty="0">
                <a:solidFill>
                  <a:srgbClr val="14A9AE"/>
                </a:solidFill>
                <a:latin typeface="Calibri" pitchFamily="34" charset="0"/>
                <a:ea typeface="Calibri" pitchFamily="34" charset="-122"/>
                <a:cs typeface="Calibri" pitchFamily="34" charset="-120"/>
              </a:rPr>
              <a:t>Best MAE improvement</a:t>
            </a:r>
            <a:endParaRPr lang="en-US" sz="900" dirty="0"/>
          </a:p>
        </p:txBody>
      </p:sp>
      <p:sp>
        <p:nvSpPr>
          <p:cNvPr id="19" name="Shape 17"/>
          <p:cNvSpPr/>
          <p:nvPr/>
        </p:nvSpPr>
        <p:spPr>
          <a:xfrm>
            <a:off x="502920" y="3218688"/>
            <a:ext cx="8321040" cy="329184"/>
          </a:xfrm>
          <a:prstGeom prst="rect">
            <a:avLst/>
          </a:prstGeom>
          <a:solidFill>
            <a:srgbClr val="1E3A5F"/>
          </a:solidFill>
          <a:ln w="12700">
            <a:solidFill>
              <a:srgbClr val="1E3A5F"/>
            </a:solidFill>
            <a:prstDash val="solid"/>
          </a:ln>
        </p:spPr>
      </p:sp>
      <p:sp>
        <p:nvSpPr>
          <p:cNvPr id="20" name="Shape 18"/>
          <p:cNvSpPr/>
          <p:nvPr/>
        </p:nvSpPr>
        <p:spPr>
          <a:xfrm>
            <a:off x="502920" y="3218688"/>
            <a:ext cx="54864" cy="329184"/>
          </a:xfrm>
          <a:prstGeom prst="rect">
            <a:avLst/>
          </a:prstGeom>
          <a:solidFill>
            <a:srgbClr val="0D7377"/>
          </a:solidFill>
          <a:ln w="12700">
            <a:solidFill>
              <a:srgbClr val="0D7377"/>
            </a:solidFill>
            <a:prstDash val="solid"/>
          </a:ln>
        </p:spPr>
      </p:sp>
      <p:sp>
        <p:nvSpPr>
          <p:cNvPr id="21" name="Text 19"/>
          <p:cNvSpPr/>
          <p:nvPr/>
        </p:nvSpPr>
        <p:spPr>
          <a:xfrm>
            <a:off x="640080" y="3236976"/>
            <a:ext cx="8092440"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1.  ML methods decisively outperform statistical baselines on special days</a:t>
            </a:r>
            <a:endParaRPr lang="en-US" sz="950" dirty="0"/>
          </a:p>
        </p:txBody>
      </p:sp>
      <p:sp>
        <p:nvSpPr>
          <p:cNvPr id="22" name="Shape 20"/>
          <p:cNvSpPr/>
          <p:nvPr/>
        </p:nvSpPr>
        <p:spPr>
          <a:xfrm>
            <a:off x="502920" y="3602736"/>
            <a:ext cx="8321040" cy="329184"/>
          </a:xfrm>
          <a:prstGeom prst="rect">
            <a:avLst/>
          </a:prstGeom>
          <a:solidFill>
            <a:srgbClr val="1E3A5F"/>
          </a:solidFill>
          <a:ln w="12700">
            <a:solidFill>
              <a:srgbClr val="1E3A5F"/>
            </a:solidFill>
            <a:prstDash val="solid"/>
          </a:ln>
        </p:spPr>
      </p:sp>
      <p:sp>
        <p:nvSpPr>
          <p:cNvPr id="23" name="Shape 21"/>
          <p:cNvSpPr/>
          <p:nvPr/>
        </p:nvSpPr>
        <p:spPr>
          <a:xfrm>
            <a:off x="502920" y="3602736"/>
            <a:ext cx="54864" cy="329184"/>
          </a:xfrm>
          <a:prstGeom prst="rect">
            <a:avLst/>
          </a:prstGeom>
          <a:solidFill>
            <a:srgbClr val="F0A500"/>
          </a:solidFill>
          <a:ln w="12700">
            <a:solidFill>
              <a:srgbClr val="F0A500"/>
            </a:solidFill>
            <a:prstDash val="solid"/>
          </a:ln>
        </p:spPr>
      </p:sp>
      <p:sp>
        <p:nvSpPr>
          <p:cNvPr id="24" name="Text 22"/>
          <p:cNvSpPr/>
          <p:nvPr/>
        </p:nvSpPr>
        <p:spPr>
          <a:xfrm>
            <a:off x="640080" y="3621024"/>
            <a:ext cx="8092440"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2.  Converting forecasting to classification + CL(median) gives free 10% gain</a:t>
            </a:r>
            <a:endParaRPr lang="en-US" sz="950" dirty="0"/>
          </a:p>
        </p:txBody>
      </p:sp>
      <p:sp>
        <p:nvSpPr>
          <p:cNvPr id="25" name="Shape 23"/>
          <p:cNvSpPr/>
          <p:nvPr/>
        </p:nvSpPr>
        <p:spPr>
          <a:xfrm>
            <a:off x="502920" y="3986784"/>
            <a:ext cx="8321040" cy="329184"/>
          </a:xfrm>
          <a:prstGeom prst="rect">
            <a:avLst/>
          </a:prstGeom>
          <a:solidFill>
            <a:srgbClr val="1E3A5F"/>
          </a:solidFill>
          <a:ln w="12700">
            <a:solidFill>
              <a:srgbClr val="1E3A5F"/>
            </a:solidFill>
            <a:prstDash val="solid"/>
          </a:ln>
        </p:spPr>
      </p:sp>
      <p:sp>
        <p:nvSpPr>
          <p:cNvPr id="26" name="Shape 24"/>
          <p:cNvSpPr/>
          <p:nvPr/>
        </p:nvSpPr>
        <p:spPr>
          <a:xfrm>
            <a:off x="502920" y="3986784"/>
            <a:ext cx="54864" cy="329184"/>
          </a:xfrm>
          <a:prstGeom prst="rect">
            <a:avLst/>
          </a:prstGeom>
          <a:solidFill>
            <a:srgbClr val="0D7377"/>
          </a:solidFill>
          <a:ln w="12700">
            <a:solidFill>
              <a:srgbClr val="0D7377"/>
            </a:solidFill>
            <a:prstDash val="solid"/>
          </a:ln>
        </p:spPr>
      </p:sp>
      <p:sp>
        <p:nvSpPr>
          <p:cNvPr id="27" name="Text 25"/>
          <p:cNvSpPr/>
          <p:nvPr/>
        </p:nvSpPr>
        <p:spPr>
          <a:xfrm>
            <a:off x="640080" y="4005072"/>
            <a:ext cx="8092440"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3.  8 SD-specific features are the key innovation enabling holiday-aware forecasting</a:t>
            </a:r>
            <a:endParaRPr lang="en-US" sz="950" dirty="0"/>
          </a:p>
        </p:txBody>
      </p:sp>
      <p:sp>
        <p:nvSpPr>
          <p:cNvPr id="28" name="Shape 26"/>
          <p:cNvSpPr/>
          <p:nvPr/>
        </p:nvSpPr>
        <p:spPr>
          <a:xfrm>
            <a:off x="502920" y="4370832"/>
            <a:ext cx="8321040" cy="329184"/>
          </a:xfrm>
          <a:prstGeom prst="rect">
            <a:avLst/>
          </a:prstGeom>
          <a:solidFill>
            <a:srgbClr val="1E3A5F"/>
          </a:solidFill>
          <a:ln w="12700">
            <a:solidFill>
              <a:srgbClr val="1E3A5F"/>
            </a:solidFill>
            <a:prstDash val="solid"/>
          </a:ln>
        </p:spPr>
      </p:sp>
      <p:sp>
        <p:nvSpPr>
          <p:cNvPr id="29" name="Shape 27"/>
          <p:cNvSpPr/>
          <p:nvPr/>
        </p:nvSpPr>
        <p:spPr>
          <a:xfrm>
            <a:off x="502920" y="4370832"/>
            <a:ext cx="54864" cy="329184"/>
          </a:xfrm>
          <a:prstGeom prst="rect">
            <a:avLst/>
          </a:prstGeom>
          <a:solidFill>
            <a:srgbClr val="F0A500"/>
          </a:solidFill>
          <a:ln w="12700">
            <a:solidFill>
              <a:srgbClr val="F0A500"/>
            </a:solidFill>
            <a:prstDash val="solid"/>
          </a:ln>
        </p:spPr>
      </p:sp>
      <p:sp>
        <p:nvSpPr>
          <p:cNvPr id="30" name="Text 28"/>
          <p:cNvSpPr/>
          <p:nvPr/>
        </p:nvSpPr>
        <p:spPr>
          <a:xfrm>
            <a:off x="640080" y="4389120"/>
            <a:ext cx="8092440" cy="274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4.  Global models &gt; per-store for holiday types with few historical observations</a:t>
            </a:r>
            <a:endParaRPr lang="en-US" sz="950" dirty="0"/>
          </a:p>
        </p:txBody>
      </p:sp>
      <p:sp>
        <p:nvSpPr>
          <p:cNvPr id="31" name="Shape 29"/>
          <p:cNvSpPr/>
          <p:nvPr/>
        </p:nvSpPr>
        <p:spPr>
          <a:xfrm>
            <a:off x="0" y="4873752"/>
            <a:ext cx="9144000" cy="269748"/>
          </a:xfrm>
          <a:prstGeom prst="rect">
            <a:avLst/>
          </a:prstGeom>
          <a:solidFill>
            <a:srgbClr val="0D1B33"/>
          </a:solidFill>
          <a:ln w="12700">
            <a:solidFill>
              <a:srgbClr val="0D1B33"/>
            </a:solidFill>
            <a:prstDash val="solid"/>
          </a:ln>
        </p:spPr>
      </p:sp>
      <p:sp>
        <p:nvSpPr>
          <p:cNvPr id="32" name="Text 30"/>
          <p:cNvSpPr/>
          <p:nvPr/>
        </p:nvSpPr>
        <p:spPr>
          <a:xfrm>
            <a:off x="0" y="4873752"/>
            <a:ext cx="9144000" cy="269748"/>
          </a:xfrm>
          <a:prstGeom prst="rect">
            <a:avLst/>
          </a:prstGeom>
          <a:noFill/>
          <a:ln/>
        </p:spPr>
        <p:txBody>
          <a:bodyPr wrap="square" lIns="0" tIns="0" rIns="0" bIns="0" rtlCol="0" anchor="ctr"/>
          <a:lstStyle/>
          <a:p>
            <a:pPr marL="0" indent="0" algn="ctr">
              <a:buNone/>
            </a:pPr>
            <a:r>
              <a:rPr lang="en-US" sz="850" dirty="0">
                <a:solidFill>
                  <a:srgbClr val="8896A5"/>
                </a:solidFill>
                <a:latin typeface="Calibri" pitchFamily="34" charset="0"/>
                <a:ea typeface="Calibri" pitchFamily="34" charset="-122"/>
                <a:cs typeface="Calibri" pitchFamily="34" charset="-120"/>
              </a:rPr>
              <a:t>Gaurav Tiwari  ·  2023UEE0134  ·  Statistical Foundation for Machine Learning  ·  Rossmann Store Sales Dataset</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1746</TotalTime>
  <Words>4476</Words>
  <Application>Microsoft Office PowerPoint</Application>
  <PresentationFormat>On-screen Show (16:9)</PresentationFormat>
  <Paragraphs>679</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Daily Retail Demand Forecasting</dc:title>
  <dc:subject>PptxGenJS Presentation</dc:subject>
  <dc:creator>Gaurav Tiwari</dc:creator>
  <cp:lastModifiedBy>Gaurav Tiwari</cp:lastModifiedBy>
  <cp:revision>1</cp:revision>
  <dcterms:created xsi:type="dcterms:W3CDTF">2026-04-11T03:59:38Z</dcterms:created>
  <dcterms:modified xsi:type="dcterms:W3CDTF">2026-04-12T09:08:32Z</dcterms:modified>
</cp:coreProperties>
</file>